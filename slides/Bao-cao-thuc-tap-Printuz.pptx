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27194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 kính chào quý thầy cô.</a:t>
            </a:r>
          </a:p>
          <a:p>
            <a:r>
              <a:t>Em là Trần Anh Khoa, mã số sinh viên 2001230402, lớp 14DHTH08, Khoa Công nghệ Thông tin.</a:t>
            </a:r>
          </a:p>
          <a:p>
            <a:r>
              <a:t>Em thực tập tại Công ty TNHH Công nghệ TGSOFT trong 12 tuần, từ ngày 06/07 đến ngày 27/09/2026.</a:t>
            </a:r>
          </a:p>
          <a:p>
            <a:r>
              <a:t>Giảng viên hướng dẫn của em là cô Nguyễn Thị Định. Người hướng dẫn trực tiếp tại công ty là anh Trần Thế Phú.</a:t>
            </a:r>
          </a:p>
          <a:p>
            <a:r>
              <a:t>Đề tài em thực hiện là xây dựng giao diện website giới thiệu dịch vụ cho Printuz LTD.</a:t>
            </a:r>
          </a:p>
          <a:p>
            <a:r>
              <a:t>Hình bên phải là trang giới thiệu của website em đã làm.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Bài trình bày của em gồm tám phần, đi theo bố cục của báo cáo.</a:t>
            </a:r>
          </a:p>
          <a:p>
            <a:r>
              <a:t>Đầu tiên em giới thiệu đơn vị thực tập là Công ty TGSOFT.</a:t>
            </a:r>
          </a:p>
          <a:p>
            <a:r>
              <a:t>Tiếp theo là mục tiêu, nội dung và ý nghĩa của công việc thực tập.</a:t>
            </a:r>
          </a:p>
          <a:p>
            <a:r>
              <a:t>Phần ba là vị trí công việc em đảm nhận, và phần bốn là kế hoạch thực tập trong 12 tuần.</a:t>
            </a:r>
          </a:p>
          <a:p>
            <a:r>
              <a:t>Sau đó em trình bày phần phân tích, công nghệ sử dụng và kết quả website.</a:t>
            </a:r>
          </a:p>
          <a:p>
            <a:r>
              <a:t>Cuối cùng là đánh giá, kiến nghị và kết luận.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Đơn vị em thực tập là Công ty TNHH Công nghệ TGSOFT, mã số thuế 0315310284.</a:t>
            </a:r>
          </a:p>
          <a:p>
            <a:r>
              <a:t>Người đại diện theo pháp luật là ông Trần Thế Văn. Công ty đặt tại tầng 14, tòa nhà HM Town, 412 Nguyễn Thị Minh Khai, phường Bàn Cờ, Thành phố Hồ Chí Minh.</a:t>
            </a:r>
          </a:p>
          <a:p>
            <a:r>
              <a:t>Người hướng dẫn trực tiếp của em tại công ty là anh Trần Thế Phú.</a:t>
            </a:r>
          </a:p>
          <a:p>
            <a:r>
              <a:t>Theo giới thiệu trên website của công ty, TGSOFT được thành lập năm 2014 bởi những người Việt Nam trẻ, có nhiệt huyết với công nghệ.</a:t>
            </a:r>
          </a:p>
          <a:p>
            <a:r>
              <a:t>Công ty phát triển dần các dịch vụ lập trình, xây dựng và quản trị website, phát triển ứng dụng, và các dịch vụ hỗ trợ kinh doanh trên Internet.</a:t>
            </a:r>
          </a:p>
          <a:p>
            <a:r>
              <a:t>Điểm em thấy rõ là công ty chú trọng cả quá trình làm một sản phẩm, từ phân tích yêu cầu đến bảo trì sau khi bàn giao.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TGSOFT hoạt động chủ yếu trong lĩnh vực công nghệ thông tin, với tám nhóm dịch vụ trên slide.</a:t>
            </a:r>
          </a:p>
          <a:p>
            <a:r>
              <a:t>Lĩnh vực gắn trực tiếp với công việc của em là lập trình website.</a:t>
            </a:r>
          </a:p>
          <a:p>
            <a:r>
              <a:t>Bên cạnh đó công ty còn làm ứng dụng Android, iOS, WebApp, gói Website 60s, quản trị website và fanpage, quảng cáo Google, SEO, quảng cáo Facebook, phát triển kênh, hosting và tên miền.</a:t>
            </a:r>
          </a:p>
          <a:p>
            <a:r>
              <a:t>Với phần mềm và website, công ty làm theo quy trình năm bước: phân tích, thiết kế, lập trình, kiểm tra và bảo trì.</a:t>
            </a:r>
          </a:p>
          <a:p>
            <a:r>
              <a:t>Em cũng làm dự án của mình theo đúng tinh thần này: tìm hiểu và phân tích trước, rồi xây giao diện, kiểm tra, sửa lỗi theo góp ý.</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TGSOFT tổ chức nhân sự phù hợp với quy mô của một công ty nhỏ.</a:t>
            </a:r>
          </a:p>
          <a:p>
            <a:r>
              <a:t>Đứng đầu là Giám đốc, giữ vai trò quản lý và định hướng chung.</a:t>
            </a:r>
          </a:p>
          <a:p>
            <a:r>
              <a:t>Bên dưới có trưởng nhóm, kế toán và kinh doanh. Trưởng nhóm quản lý và phân công công việc cho nhân viên kỹ thuật, là những người lập trình, phát triển và bảo trì sản phẩm.</a:t>
            </a:r>
          </a:p>
          <a:p>
            <a:r>
              <a:t>Em làm thực tập sinh Frontend trong nhóm kỹ thuật, nhận việc và được hướng dẫn trực tiếp bởi anh Trần Thế Phú.</a:t>
            </a:r>
          </a:p>
          <a:p>
            <a:r>
              <a:t>Vì cơ cấu gọn nên việc trao đổi giữa các vị trí khá thuận tiện.</a:t>
            </a:r>
          </a:p>
          <a:p>
            <a:r>
              <a:t>Do công ty nhỏ và có một số thông tin nhạy cảm, công ty chỉ cung cấp thông tin sơ lược, nên phần này em trình bày ở mức tổng quát.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tiêu chung của kỳ thực tập là vận dụng kiến thức đã học vào một dự án thật tại doanh nghiệp. Cụ thể là hoàn thành giao diện website giới thiệu dịch vụ fulfillment cho Printuz.</a:t>
            </a:r>
          </a:p>
          <a:p>
            <a:r>
              <a:t>Từ đó em đặt ra năm mục tiêu cụ thể.</a:t>
            </a:r>
          </a:p>
          <a:p>
            <a:r>
              <a:t>Thứ nhất, làm quen quy trình làm việc thực tế: nhận yêu cầu, thực hiện, kiểm tra và báo cáo với người hướng dẫn.</a:t>
            </a:r>
          </a:p>
          <a:p>
            <a:r>
              <a:t>Thứ hai, xây dựng giao diện đa trang cho Printuz, bố cục rõ ràng và thống nhất với thương hiệu.</a:t>
            </a:r>
          </a:p>
          <a:p>
            <a:r>
              <a:t>Thứ ba, website phải hiển thị tốt trên máy tính, máy tính bảng và điện thoại.</a:t>
            </a:r>
          </a:p>
          <a:p>
            <a:r>
              <a:t>Thứ tư, dữ liệu sản phẩm và bài viết được tổ chức để có thể mở rộng sau này.</a:t>
            </a:r>
          </a:p>
          <a:p>
            <a:r>
              <a:t>Thứ năm là rèn các kỹ năng của bản thân như tự học, làm việc nhóm và tiếp nhận góp ý.</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Đề tài của em là thiết kế và xây dựng giao diện website fulfillment Printuz tại Công ty TGSOFT.</a:t>
            </a:r>
          </a:p>
          <a:p>
            <a:r>
              <a:t>Em tham khảo cấu trúc website Printuz hiện có, rồi xây dựng phiên bản giao diện mới theo hướng hiện đại, thống nhất và thân thiện hơn.</a:t>
            </a:r>
          </a:p>
          <a:p>
            <a:r>
              <a:t>Người dùng của website là các cá nhân, doanh nghiệp bán hàng trực tuyến cần in theo yêu cầu, tìm nguồn hàng, dropshipping hoặc fulfillment. Vì vậy giao diện phải nói rõ dịch vụ và giúp họ tìm thông tin nhanh.</a:t>
            </a:r>
          </a:p>
          <a:p>
            <a:r>
              <a:t>Công việc gồm năm hạng mục: khảo sát website, làm các thành phần dùng chung, xây dựng từng trang, chỉnh hiển thị trên nhiều thiết bị, và cuối cùng là kiểm tra, sửa lỗi.</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Công việc thực tập có ý nghĩa ở ba phía.</a:t>
            </a:r>
          </a:p>
          <a:p>
            <a:r>
              <a:t>Với bản thân em, đây là lần đầu áp dụng HTML, CSS, Bootstrap và JavaScript vào một website hoàn chỉnh, trong môi trường doanh nghiệp thật. Em hiểu thêm tác phong làm việc và có kinh nghiệm để tự tin hơn sau khi tốt nghiệp.</a:t>
            </a:r>
          </a:p>
          <a:p>
            <a:r>
              <a:t>Với doanh nghiệp, Printuz có một phiên bản giao diện mới, thống nhất thương hiệu. Bản này dùng làm demo để trình bày, đồng thời là nền để tích hợp dữ liệu động và các chức năng nghiệp vụ về sau.</a:t>
            </a:r>
          </a:p>
          <a:p>
            <a:r>
              <a:t>Với người dùng, họ tìm được dịch vụ, sản phẩm và hướng dẫn nhanh hơn, dùng được trên cả điện thoại, và có cảm giác tin cậy hơn khi xem website.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Trong thời gian thực tập, em đảm nhận vị trí thực tập sinh lập trình giao diện website, tức Frontend, thuộc nhóm kỹ thuật.</a:t>
            </a:r>
          </a:p>
          <a:p>
            <a:r>
              <a:t>Người hướng dẫn trực tiếp là anh Trần Thế Phú. Thời gian là 12 tuần, từ 06/07 đến 27/09/2026.</a:t>
            </a:r>
          </a:p>
          <a:p>
            <a:r>
              <a:t>Dự án được giao là giao diện website giới thiệu dịch vụ cho Printuz LTD.</a:t>
            </a:r>
          </a:p>
          <a:p>
            <a:r>
              <a:t>Vị trí Frontend xây dựng phần người dùng trực tiếp nhìn thấy và tương tác. Nhiệm vụ là chuyển yêu cầu và thiết kế thành các trang web rõ ràng, dễ dùng và phù hợp nhiều thiết bị.</a:t>
            </a:r>
          </a:p>
          <a:p>
            <a:r>
              <a:t>Đặc điểm của công việc này là vừa cần kiến thức lập trình, vừa cần con mắt quan sát giao diện. Em làm theo vòng: tìm hiểu yêu cầu, xây dựng, kiểm tra, rồi sửa lỗi.</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Vị trí Frontend đặt ra yêu cầu về kiến thức và kỹ năng.</a:t>
            </a:r>
          </a:p>
          <a:p>
            <a:r>
              <a:t>Về kiến thức, thực tập sinh cần biết lập trình website cơ bản, nắm HTML, CSS, Bootstrap, JavaScript, và hiểu khái niệm giao diện người dùng, trải nghiệm người dùng.</a:t>
            </a:r>
          </a:p>
          <a:p>
            <a:r>
              <a:t>Về kỹ năng, cần xây dựng được giao diện, biết kiểm tra và sửa lỗi, có khả năng tự học và có trách nhiệm với công việc.</a:t>
            </a:r>
          </a:p>
          <a:p>
            <a:r>
              <a:t>Để đáp ứng, em dành riêng tuần thứ ba để tìm hiểu Bootstrap. Em tra cứu tài liệu MDN và tài liệu Bootstrap, dùng công cụ AI để tự học, và hỏi lại anh Phú khi yêu cầu chưa rõ.</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Bên trái là bảy nhiệm vụ em được giao: tìm hiểu yêu cầu, xây dựng giao diện bằng HTML, CSS, JavaScript, chỉnh bố cục, kiểm tra trên nhiều màn hình, sửa lỗi, hoàn thiện theo yêu cầu, và báo cáo tiến độ.</a:t>
            </a:r>
          </a:p>
          <a:p>
            <a:r>
              <a:t>Bên phải là cách em phối hợp với người hướng dẫn.</a:t>
            </a:r>
          </a:p>
          <a:p>
            <a:r>
              <a:t>Em nhận nhiệm vụ từ anh Phú, tìm hiểu yêu cầu, làm, rồi tự kiểm tra kết quả. Chỗ nào chưa rõ em hỏi lại để được hỗ trợ và điều chỉnh, sau đó báo cáo tiến độ.</a:t>
            </a:r>
          </a:p>
          <a:p>
            <a:r>
              <a:t>Cách làm này cho em không gian tự chủ, nhưng vẫn có hỗ trợ khi gặp khó khăn.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 chia 12 tuần thực tập thành bốn giai đoạn.</a:t>
            </a:r>
          </a:p>
          <a:p>
            <a:r>
              <a:t>Giai đoạn một, tuần 1 đến 3: nghiên cứu và phân tích yêu cầu. Em tìm hiểu lĩnh vực fulfillment, khách hàng mục tiêu, khảo sát bố cục và cấu trúc website Printuz, và học Bootstrap. Kết quả là có định hướng thiết kế và danh sách các trang cần xây dựng.</a:t>
            </a:r>
          </a:p>
          <a:p>
            <a:r>
              <a:t>Giai đoạn hai, tuần 4 đến 8: xây dựng giao diện. Em làm phần dùng chung và trang chủ trước, sau đó là catalog, chi tiết sản phẩm, giới thiệu, liên hệ, blog, và cuối cùng là responsive.</a:t>
            </a:r>
          </a:p>
          <a:p>
            <a:r>
              <a:t>Giai đoạn ba, tuần 9 đến 10: hoàn thiện và kiểm thử, sửa lỗi theo góp ý và báo cáo với người hướng dẫn. Kết quả là bản demo hoàn chỉnh.</a:t>
            </a:r>
          </a:p>
          <a:p>
            <a:r>
              <a:t>Giai đoạn bốn, hai tuần cuối, em tổng hợp và viết báo cáo thực tập.</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nhật ký thực tập chi tiết theo từng tuần, cũng là Bảng 2.1 trong báo cáo. Màu nền các dòng tương ứng với bốn giai đoạn.</a:t>
            </a:r>
          </a:p>
          <a:p>
            <a:r>
              <a:t>Tuần 1 và 2 em tìm hiểu website Printuz và phân tích giao diện. Tuần 3 em học Bootstrap.</a:t>
            </a:r>
          </a:p>
          <a:p>
            <a:r>
              <a:t>Tuần 4 em làm header, menu, footer và trang chủ. Tuần 5 làm catalog và trang chi tiết sản phẩm. Tuần 6 làm trang giới thiệu và liên hệ. Tuần 7 làm blog. Tuần 8 chỉnh responsive.</a:t>
            </a:r>
          </a:p>
          <a:p>
            <a:r>
              <a:t>Tuần 9 em kiểm tra và sửa lỗi toàn bộ các trang. Tuần 10 hoàn chỉnh để báo cáo với người hướng dẫn.</a:t>
            </a:r>
          </a:p>
          <a:p>
            <a:r>
              <a:t>Hai tuần cuối em viết và hoàn tất báo cáo.</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Trước khi xây dựng, em phân tích trên ba khía cạnh.</a:t>
            </a:r>
          </a:p>
          <a:p>
            <a:r>
              <a:t>Về giao diện người dùng: website fulfillment có nhiều nhóm nội dung, nên cần bố cục rõ ràng và phân cấp thông tin. Phong cách nên hiện đại, tối giản và thống nhất màu thương hiệu, có hình ảnh sản phẩm và khối nội dung trực quan.</a:t>
            </a:r>
          </a:p>
          <a:p>
            <a:r>
              <a:t>Về trải nghiệm người dùng: menu phải sắp theo mức ưu tiên và dùng tên dễ hiểu, tìm kiếm phải dễ thấy, giao diện phải hiển thị tốt trên điện thoại. Các hiệu ứng như menu cố định hay nút về đầu trang giúp ích, nhưng phải dùng vừa phải để không rối mắt và không làm chậm trang.</a:t>
            </a:r>
          </a:p>
          <a:p>
            <a:r>
              <a:t>Về yêu cầu dự án: website đa trang, nhất quán, có thành phần dùng chung, và dữ liệu sản phẩm, bài viết được tổ chức để dễ mở rộng.</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 dùng năm công nghệ chính.</a:t>
            </a:r>
          </a:p>
          <a:p>
            <a:r>
              <a:t>HTML để dựng cấu trúc nội dung: tiêu đề, hình ảnh, menu, nút, biểu mẫu và danh sách sản phẩm.</a:t>
            </a:r>
          </a:p>
          <a:p>
            <a:r>
              <a:t>CSS để định dạng màu, font, khoảng cách và các hiệu ứng như đổi trạng thái khi di chuột hay menu cố định khi cuộn.</a:t>
            </a:r>
          </a:p>
          <a:p>
            <a:r>
              <a:t>JavaScript để tạo tương tác: tìm kiếm, ẩn hiện câu trả lời trong trang câu hỏi thường gặp, menu trên điện thoại, nút về đầu trang và hiển thị dữ liệu.</a:t>
            </a:r>
          </a:p>
          <a:p>
            <a:r>
              <a:t>Bootstrap 5 cung cấp hệ lưới và breakpoint, giúp em làm giao diện đáp ứng nhanh hơn.</a:t>
            </a:r>
          </a:p>
          <a:p>
            <a:r>
              <a:t>JSON dùng để lưu sản phẩm, danh mục và bài viết, tách dữ liệu ra khỏi giao diện, nên sau này dễ nối với cơ sở dữ liệu hoặc API.</a:t>
            </a:r>
          </a:p>
          <a:p>
            <a:r>
              <a:t>Toàn bộ website dùng chung màu teal của Printuz, font Poppins cho tiêu đề và Inter cho nội dung.</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kết quả của giai đoạn xây dựng giao diện.</a:t>
            </a:r>
          </a:p>
          <a:p>
            <a:r>
              <a:t>Hình 2.1 là trang chủ, có thanh thương hiệu, ô tìm kiếm, menu chính, khối giới thiệu và chân trang. Phần header, menu và footer này dùng chung cho tất cả các trang.</a:t>
            </a:r>
          </a:p>
          <a:p>
            <a:r>
              <a:t>Hình 2.2 là trang giới thiệu doanh nghiệp. Trang này trình bày Printuz là gì, mạng lưới sản xuất ở Việt Nam, Trung Quốc và Hoa Kỳ, bốn dịch vụ chính là Print-on-Demand, dropshipping, xử lý đơn và giải pháp riêng, cùng lý do khách hàng nên chọn Printuz.</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Hình 2.3 là giao diện danh mục sản phẩm. Bên trái là cây danh mục và bộ lọc giá, bên phải là các thẻ sản phẩm gồm hình ảnh, nhóm sản phẩm, tên và giá.</a:t>
            </a:r>
          </a:p>
          <a:p>
            <a:r>
              <a:t>Toàn bộ catalog có 634 sản phẩm, được hiển thị từ dữ liệu JSON. Trong ảnh đang mở danh mục Print-on-Demand với 611 sản phẩm, mỗi trang 28 sản phẩm.</a:t>
            </a:r>
          </a:p>
          <a:p>
            <a:r>
              <a:t>Hình 2.7 là trang chi tiết sản phẩm. Ví dụ Custom Printed PC Mouse có bộ ảnh, giá 12,99 đô la, mã sản phẩm, thời gian sản xuất, nút bắt đầu đơn, và bên dưới là phần vận chuyển, mô tả, sản phẩm liên quan.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Hình 2.5 là trang tin tức. Cột trái là danh mục kèm số bài, phần chính là danh sách bài viết dạng thẻ. Trong ảnh là danh mục Printuz Guide gồm 11 bài hướng dẫn cho người bán.</a:t>
            </a:r>
          </a:p>
          <a:p>
            <a:r>
              <a:t>Toàn bộ blog có 1.092 bài, xem được theo danh mục, thẻ hoặc tác giả, và có phân trang.</a:t>
            </a:r>
          </a:p>
          <a:p>
            <a:r>
              <a:t>Hình 2.9 là trang câu hỏi thường gặp. Câu hỏi được chia theo nhóm như giới thiệu Printuz, Print-on-Demand, xử lý đơn, dropshipping, vận chuyển. Người dùng bấm vào câu hỏi thì câu trả lời mở ra, bấm lần nữa thì đóng lại. Phần này em viết bằng JavaScript.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Hình 2.6 là thanh điều hướng cố định. Khi người dùng cuộn xuống quá một đoạn, menu chính trượt xuống và giữ ở đầu màn hình, nên luôn chuyển trang được mà không cần cuộn ngược lên.</a:t>
            </a:r>
          </a:p>
          <a:p>
            <a:r>
              <a:t>Hình 2.8 là giao diện trên điện thoại, kết quả của tuần 8 khi em chỉnh responsive bằng Bootstrap.</a:t>
            </a:r>
          </a:p>
          <a:p>
            <a:r>
              <a:t>Nội dung tự xếp thành một cột. Menu thu gọn vào nút ba gạch, bấm vào thì mở ra danh sách trang kèm ô tìm kiếm.</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Sản phẩm em hoàn thành là website Printuz, đang chạy bản demo tại printuz-six.vercel.app.</a:t>
            </a:r>
          </a:p>
          <a:p>
            <a:r>
              <a:t>Website gồm 11 trang HTML: trang chủ, giới thiệu, danh mục và chi tiết sản phẩm, tin tức, câu hỏi thường gặp, liên hệ, chính sách bảo mật, tuyển dụng, hướng dẫn extension, và hai trang tài khoản là đăng nhập và đặt lại mật khẩu.</a:t>
            </a:r>
          </a:p>
          <a:p>
            <a:r>
              <a:t>Phần sản phẩm hiển thị 634 sản phẩm, phần tin tức hiển thị 1.092 bài viết, đều lấy từ dữ liệu JSON.</a:t>
            </a:r>
          </a:p>
          <a:p>
            <a:r>
              <a:t>Các thành phần dùng chung như header, menu, footer, tìm kiếm, menu di động và nút về đầu trang giúp mọi trang thống nhất. Website hiển thị được trên máy tính, máy tính bảng và điện thoại.</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Về ưu điểm, website chia đa trang nên nội dung phân loại rõ ràng. Giao diện hiện đại, dùng màu thương hiệu, giúp tăng nhận diện và sự tin cậy. Website dùng được trên máy tính và điện thoại, có menu, tìm kiếm, danh mục và FAQ giúp người dùng thuận tiện.</a:t>
            </a:r>
          </a:p>
          <a:p>
            <a:r>
              <a:t>Về hạn chế, phiên bản hiện tại chủ yếu là giao diện và hiển thị nội dung. Các chức năng nghiệp vụ như đăng ký tài khoản thật, xử lý form liên hệ, tải tệp thiết kế, thanh toán, quản lý đơn hàng chưa được triển khai.</a:t>
            </a:r>
          </a:p>
          <a:p>
            <a:r>
              <a:t>Dữ liệu cũng cần được nối với hệ quản trị nội dung hoặc cơ sở dữ liệu. Nếu đưa vào vận hành thật thì cần bổ sung bảo mật, xác thực, sao lưu và kiểm thử hiệu năng.</a:t>
            </a:r>
          </a:p>
          <a:p>
            <a:r>
              <a:t>Những hạn chế này cho thấy hướng phát triển ở giai đoạn sau, còn bản hiện tại là nền tảng giao diện.</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Trong quá trình làm, em gặp bốn thách thức chính.</a:t>
            </a:r>
          </a:p>
          <a:p>
            <a:r>
              <a:t>Thứ nhất là giữ giao diện thống nhất khi website có nhiều trang. Em giải quyết bằng cách chốt trước màu, font, kiểu nút, cấu trúc điều hướng, và dùng chung CSS cùng các thành phần header, menu, footer.</a:t>
            </a:r>
          </a:p>
          <a:p>
            <a:r>
              <a:t>Thứ hai là vừa đẹp vừa dễ dùng. Em chia nội dung thành từng nhóm, dùng tiêu đề và khoảng trắng hợp lý, đưa thông tin quan trọng lên chỗ dễ thấy.</a:t>
            </a:r>
          </a:p>
          <a:p>
            <a:r>
              <a:t>Thứ ba là hiển thị trên nhiều thiết bị. Em dùng hệ lưới và breakpoint của Bootstrap, và làm menu riêng cho điện thoại.</a:t>
            </a:r>
          </a:p>
          <a:p>
            <a:r>
              <a:t>Thứ tư là khu vực sản phẩm và bài viết có nhiều dữ liệu. Em tách dữ liệu ra JSON và dùng JavaScript để hiển thị, lọc và phân trang.</a:t>
            </a:r>
          </a:p>
          <a:p>
            <a:r>
              <a:t>Bài học em rút ra là có định hướng thiết kế rõ từ đầu sẽ đỡ sửa rất nhiều về sau.</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Từ những hạn chế trên, em đề xuất sáu hướng phát triển.</a:t>
            </a:r>
          </a:p>
          <a:p>
            <a:r>
              <a:t>Một là tích hợp hệ quản trị nội dung để cập nhật sản phẩm, bài viết dễ hơn.</a:t>
            </a:r>
          </a:p>
          <a:p>
            <a:r>
              <a:t>Hai là xây dựng đăng ký, đăng nhập và quản lý tài khoản.</a:t>
            </a:r>
          </a:p>
          <a:p>
            <a:r>
              <a:t>Ba là bổ sung biểu mẫu liên hệ, tải tệp thiết kế và hỗ trợ khách hàng trực tuyến.</a:t>
            </a:r>
          </a:p>
          <a:p>
            <a:r>
              <a:t>Bốn là kết nối quản lý đơn hàng, thanh toán trực tuyến và dữ liệu fulfillment.</a:t>
            </a:r>
          </a:p>
          <a:p>
            <a:r>
              <a:t>Năm là tối ưu SEO, tốc độ tải trang và bảo mật.</a:t>
            </a:r>
          </a:p>
          <a:p>
            <a:r>
              <a:t>Sáu là phát triển các tính năng hỗ trợ kinh doanh như quản lý sản phẩm, theo dõi đơn hàng và thống kê.</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Về đơn vị thực tập, em thấy TGSOFT có môi trường làm việc hiện đại, thân thiện và chuyên nghiệp. Mọi người luôn sẵn sàng hỗ trợ và góp ý, và công ty tạo điều kiện để thực tập sinh học hỏi quy trình thực tế.</a:t>
            </a:r>
          </a:p>
          <a:p>
            <a:r>
              <a:t>Về chuyên môn, em có thêm kinh nghiệm xây dựng giao diện, tổ chức bố cục và cải thiện trải nghiệm người dùng. Em hiểu rằng website không chỉ cần đẹp mà còn phải rõ ràng, dễ dùng và thống nhất với thương hiệu. Các công cụ AI cũng giúp em tự học và tự tin hơn.</a:t>
            </a:r>
          </a:p>
          <a:p>
            <a:r>
              <a:t>Về kỹ năng mềm, em cải thiện khả năng làm việc nhóm, giao tiếp và tiếp nhận góp ý.</a:t>
            </a:r>
          </a:p>
          <a:p>
            <a:r>
              <a:t>Điểm em cần cải thiện là quản lý thời gian và ước lượng khối lượng công việc. Giai đoạn đầu em chưa sắp xếp tốt khi có nhiều việc cùng lúc, và đây là bài học để em lập kế hoạch chủ động hơn.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Từ trải nghiệm thực tập, em có ba kiến nghị với công ty.</a:t>
            </a:r>
          </a:p>
          <a:p>
            <a:r>
              <a:t>Thứ nhất, công ty có thể tiếp tục đầu tư nâng cấp giao diện và trải nghiệm người dùng cho các sản phẩm website, vì giao diện tốt giúp nâng cao hình ảnh thương hiệu và hỗ trợ khách hàng.</a:t>
            </a:r>
          </a:p>
          <a:p>
            <a:r>
              <a:t>Thứ hai, công ty có thể tiếp tục cho thực tập sinh tham gia nhiều hơn vào dự án thực tế, với nhiệm vụ phù hợp năng lực.</a:t>
            </a:r>
          </a:p>
          <a:p>
            <a:r>
              <a:t>Thứ ba, những góp ý cụ thể từ người hướng dẫn giúp thực tập sinh tiến bộ nhanh, và các công cụ AI cũng có thể được tận dụng nhiều hơn trong học tập và làm việc.</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Tóm lại, trong 12 tuần thực tập tại TGSOFT, em đã hoàn thành giao diện website giới thiệu dịch vụ cho Printuz LTD theo đúng kế hoạch.</a:t>
            </a:r>
          </a:p>
          <a:p>
            <a:r>
              <a:t>Em vận dụng được HTML, CSS, JavaScript, Bootstrap và JSON vào một dự án thực tế, nắm được quy trình làm việc từ nhận yêu cầu đến báo cáo, và rèn thêm kỹ năng tự học, làm việc nhóm, tiếp nhận phản hồi.</a:t>
            </a:r>
          </a:p>
          <a:p>
            <a:r>
              <a:t>Website hiện tại là nền tảng giao diện để phát triển tiếp các chức năng nghiệp vụ.</a:t>
            </a:r>
          </a:p>
          <a:p>
            <a:r>
              <a:t>Em xin chân thành cảm ơn Công ty TGSOFT, anh Trần Thế Văn, anh Trần Thế Phú, cô Nguyễn Thị Định và quý thầy cô trong khoa.</a:t>
            </a:r>
          </a:p>
          <a:p>
            <a:r>
              <a:t>Em xin lắng nghe câu hỏi và góp ý của quý thầy cô.</a:t>
            </a:r>
          </a:p>
          <a:p>
            <a:endParaRPr/>
          </a:p>
          <a:p>
            <a:r>
              <a:t>--- Nếu được hỏi thêm ---</a:t>
            </a:r>
          </a:p>
          <a:p>
            <a:r>
              <a:t>Vì sao chọn website tĩnh, chưa có backend? Phạm vi đề tài là giao diện. Dữ liệu tách ra JSON để sau này thay bằng API hoặc cơ sở dữ liệu mà không phải làm lại giao diện.</a:t>
            </a:r>
          </a:p>
          <a:p>
            <a:r>
              <a:t>Responsive làm thế nào? Em dùng hệ lưới 12 cột và các breakpoint của Bootstrap, kiểm tra ở máy tính, máy tính bảng và điện thoại; trên điện thoại menu thu vào nút ba gạch.</a:t>
            </a:r>
          </a:p>
          <a:p>
            <a:r>
              <a:t>Đăng nhập đã dùng được chưa? Form đã kiểm tra dữ liệu nhập. Xác thực tài khoản thật thuộc ứng dụng app.printuz.com, nằm ngoài phạm vi đề tài.</a:t>
            </a:r>
          </a:p>
          <a:p>
            <a:r>
              <a:t>Em dùng AI vào việc gì? Em dùng để tra cứu, giải thích lỗi và gợi ý cách làm; em tự kiểm tra và chỉnh lại theo góp ý của người hướng dẫn.</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152D7-7AD9-8843-5802-61C3293F0C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E8DB7-78ED-4087-545B-60B669D6B9D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76134CD-892C-54E3-7D2D-314F0584344C}"/>
              </a:ext>
            </a:extLst>
          </p:cNvPr>
          <p:cNvSpPr>
            <a:spLocks noGrp="1"/>
          </p:cNvSpPr>
          <p:nvPr>
            <p:ph type="body" sz="quarter" idx="3"/>
          </p:nvPr>
        </p:nvSpPr>
        <p:spPr/>
        <p:txBody>
          <a:bodyPr/>
          <a:lstStyle/>
          <a:p>
            <a:r>
              <a:t>Tóm lại, trong 12 tuần thực tập tại TGSOFT, em đã hoàn thành giao diện website giới thiệu dịch vụ cho Printuz LTD theo đúng kế hoạch.</a:t>
            </a:r>
          </a:p>
          <a:p>
            <a:r>
              <a:t>Em vận dụng được HTML, CSS, JavaScript, Bootstrap và JSON vào một dự án thực tế, nắm được quy trình làm việc từ nhận yêu cầu đến báo cáo, và rèn thêm kỹ năng tự học, làm việc nhóm, tiếp nhận phản hồi.</a:t>
            </a:r>
          </a:p>
          <a:p>
            <a:r>
              <a:t>Website hiện tại là nền tảng giao diện để phát triển tiếp các chức năng nghiệp vụ.</a:t>
            </a:r>
          </a:p>
          <a:p>
            <a:r>
              <a:t>Em xin chân thành cảm ơn Công ty TGSOFT, anh Trần Thế Văn, anh Trần Thế Phú, cô Nguyễn Thị Định và quý thầy cô trong khoa.</a:t>
            </a:r>
          </a:p>
          <a:p>
            <a:r>
              <a:t>Em xin lắng nghe câu hỏi và góp ý của quý thầy cô.</a:t>
            </a:r>
          </a:p>
          <a:p>
            <a:endParaRPr/>
          </a:p>
          <a:p>
            <a:r>
              <a:t>--- Nếu được hỏi thêm ---</a:t>
            </a:r>
          </a:p>
          <a:p>
            <a:r>
              <a:t>Vì sao chọn website tĩnh, chưa có backend? Phạm vi đề tài là giao diện. Dữ liệu tách ra JSON để sau này thay bằng API hoặc cơ sở dữ liệu mà không phải làm lại giao diện.</a:t>
            </a:r>
          </a:p>
          <a:p>
            <a:r>
              <a:t>Responsive làm thế nào? Em dùng hệ lưới 12 cột và các breakpoint của Bootstrap, kiểm tra ở máy tính, máy tính bảng và điện thoại; trên điện thoại menu thu vào nút ba gạch.</a:t>
            </a:r>
          </a:p>
          <a:p>
            <a:r>
              <a:t>Đăng nhập đã dùng được chưa? Form đã kiểm tra dữ liệu nhập. Xác thực tài khoản thật thuộc ứng dụng app.printuz.com, nằm ngoài phạm vi đề tài.</a:t>
            </a:r>
          </a:p>
          <a:p>
            <a:r>
              <a:t>Em dùng AI vào việc gì? Em dùng để tra cứu, giải thích lỗi và gợi ý cách làm; em tự kiểm tra và chỉnh lại theo góp ý của người hướng dẫn.</a:t>
            </a:r>
          </a:p>
        </p:txBody>
      </p:sp>
      <p:sp>
        <p:nvSpPr>
          <p:cNvPr id="4" name="Slide Number Placeholder 3">
            <a:extLst>
              <a:ext uri="{FF2B5EF4-FFF2-40B4-BE49-F238E27FC236}">
                <a16:creationId xmlns:a16="http://schemas.microsoft.com/office/drawing/2014/main" id="{528F478E-C527-D90F-E587-AB18380254CD}"/>
              </a:ext>
            </a:extLst>
          </p:cNvPr>
          <p:cNvSpPr>
            <a:spLocks noGrp="1"/>
          </p:cNvSpPr>
          <p:nvPr>
            <p:ph type="sldNum" sz="quarter" idx="5"/>
          </p:nvPr>
        </p:nvSpPr>
        <p:spPr/>
      </p:sp>
    </p:spTree>
    <p:extLst>
      <p:ext uri="{BB962C8B-B14F-4D97-AF65-F5344CB8AC3E}">
        <p14:creationId xmlns:p14="http://schemas.microsoft.com/office/powerpoint/2010/main" val="3021176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4F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6400800" cy="640080"/>
          </a:xfrm>
          <a:prstGeom prst="rect">
            <a:avLst/>
          </a:prstGeom>
          <a:noFill/>
        </p:spPr>
        <p:txBody>
          <a:bodyPr wrap="square" lIns="45720" rIns="45720" anchor="t"/>
          <a:lstStyle/>
          <a:p>
            <a:pPr algn="l"/>
            <a:r>
              <a:rPr sz="1300" b="1" i="0">
                <a:solidFill>
                  <a:srgbClr val="2F7F80"/>
                </a:solidFill>
                <a:latin typeface="Calibri"/>
              </a:rPr>
              <a:t>TRƯỜNG ĐẠI HỌC CÔNG THƯƠNG TP. HỒ CHÍ MINH</a:t>
            </a:r>
          </a:p>
          <a:p>
            <a:pPr algn="l"/>
            <a:r>
              <a:rPr sz="1300" b="1" i="0">
                <a:solidFill>
                  <a:srgbClr val="2F7F80"/>
                </a:solidFill>
                <a:latin typeface="Calibri"/>
              </a:rPr>
              <a:t>KHOA CÔNG NGHỆ THÔNG TIN</a:t>
            </a:r>
          </a:p>
        </p:txBody>
      </p:sp>
      <p:sp>
        <p:nvSpPr>
          <p:cNvPr id="4" name="TextBox 3"/>
          <p:cNvSpPr txBox="1"/>
          <p:nvPr/>
        </p:nvSpPr>
        <p:spPr>
          <a:xfrm>
            <a:off x="548640" y="1325880"/>
            <a:ext cx="6400800" cy="365760"/>
          </a:xfrm>
          <a:prstGeom prst="rect">
            <a:avLst/>
          </a:prstGeom>
          <a:noFill/>
        </p:spPr>
        <p:txBody>
          <a:bodyPr wrap="square" lIns="45720" rIns="45720" anchor="t"/>
          <a:lstStyle/>
          <a:p>
            <a:pPr algn="l"/>
            <a:r>
              <a:rPr sz="1600" b="1" i="0">
                <a:solidFill>
                  <a:srgbClr val="5B6370"/>
                </a:solidFill>
                <a:latin typeface="Calibri"/>
              </a:rPr>
              <a:t>BÁO CÁO THỰC TẬP TỐT NGHIỆP</a:t>
            </a:r>
          </a:p>
        </p:txBody>
      </p:sp>
      <p:sp>
        <p:nvSpPr>
          <p:cNvPr id="5" name="TextBox 4"/>
          <p:cNvSpPr txBox="1"/>
          <p:nvPr/>
        </p:nvSpPr>
        <p:spPr>
          <a:xfrm>
            <a:off x="548640" y="1691640"/>
            <a:ext cx="6035040" cy="1280160"/>
          </a:xfrm>
          <a:prstGeom prst="rect">
            <a:avLst/>
          </a:prstGeom>
          <a:noFill/>
        </p:spPr>
        <p:txBody>
          <a:bodyPr wrap="square" lIns="45720" rIns="45720" anchor="t"/>
          <a:lstStyle/>
          <a:p>
            <a:pPr algn="l"/>
            <a:r>
              <a:rPr sz="3200" b="1" i="0">
                <a:solidFill>
                  <a:srgbClr val="20242B"/>
                </a:solidFill>
                <a:latin typeface="Calibri"/>
              </a:rPr>
              <a:t>Xây dựng giao diện website</a:t>
            </a:r>
          </a:p>
          <a:p>
            <a:pPr algn="l"/>
            <a:r>
              <a:rPr sz="3200" b="1" i="0">
                <a:solidFill>
                  <a:srgbClr val="20242B"/>
                </a:solidFill>
                <a:latin typeface="Calibri"/>
              </a:rPr>
              <a:t>giới thiệu dịch vụ cho Printuz LTD</a:t>
            </a:r>
          </a:p>
        </p:txBody>
      </p:sp>
      <p:sp>
        <p:nvSpPr>
          <p:cNvPr id="6" name="TextBox 5"/>
          <p:cNvSpPr txBox="1"/>
          <p:nvPr/>
        </p:nvSpPr>
        <p:spPr>
          <a:xfrm>
            <a:off x="548640" y="3291840"/>
            <a:ext cx="5760720" cy="2651760"/>
          </a:xfrm>
          <a:prstGeom prst="rect">
            <a:avLst/>
          </a:prstGeom>
          <a:noFill/>
        </p:spPr>
        <p:txBody>
          <a:bodyPr wrap="square" lIns="45720" rIns="45720" anchor="t"/>
          <a:lstStyle/>
          <a:p>
            <a:pPr>
              <a:spcAft>
                <a:spcPts val="800"/>
              </a:spcAft>
            </a:pPr>
            <a:r>
              <a:rPr sz="1600" b="1" i="0">
                <a:solidFill>
                  <a:srgbClr val="20242B"/>
                </a:solidFill>
                <a:latin typeface="Calibri"/>
              </a:rPr>
              <a:t>Sinh viên: </a:t>
            </a:r>
            <a:r>
              <a:rPr sz="1600" b="0" i="0">
                <a:solidFill>
                  <a:srgbClr val="20242B"/>
                </a:solidFill>
                <a:latin typeface="Calibri"/>
              </a:rPr>
              <a:t>Trần Anh Khoa  ·  MSSV 2001230402  ·  Lớp 14DHTH08</a:t>
            </a:r>
          </a:p>
          <a:p>
            <a:pPr>
              <a:spcAft>
                <a:spcPts val="800"/>
              </a:spcAft>
            </a:pPr>
            <a:r>
              <a:rPr sz="1600" b="1" i="0">
                <a:solidFill>
                  <a:srgbClr val="20242B"/>
                </a:solidFill>
                <a:latin typeface="Calibri"/>
              </a:rPr>
              <a:t>Giảng viên hướng dẫn: </a:t>
            </a:r>
            <a:r>
              <a:rPr sz="1600" b="0" i="0">
                <a:solidFill>
                  <a:srgbClr val="20242B"/>
                </a:solidFill>
                <a:latin typeface="Calibri"/>
              </a:rPr>
              <a:t>ThS. Nguyễn Thị Định</a:t>
            </a:r>
          </a:p>
          <a:p>
            <a:pPr>
              <a:spcAft>
                <a:spcPts val="800"/>
              </a:spcAft>
            </a:pPr>
            <a:r>
              <a:rPr sz="1600" b="1" i="0">
                <a:solidFill>
                  <a:srgbClr val="20242B"/>
                </a:solidFill>
                <a:latin typeface="Calibri"/>
              </a:rPr>
              <a:t>Đơn vị thực tập: </a:t>
            </a:r>
            <a:r>
              <a:rPr sz="1600" b="0" i="0">
                <a:solidFill>
                  <a:srgbClr val="20242B"/>
                </a:solidFill>
                <a:latin typeface="Calibri"/>
              </a:rPr>
              <a:t>Công ty TNHH Công nghệ TGSOFT</a:t>
            </a:r>
          </a:p>
          <a:p>
            <a:pPr>
              <a:spcAft>
                <a:spcPts val="800"/>
              </a:spcAft>
            </a:pPr>
            <a:r>
              <a:rPr sz="1600" b="1" i="0">
                <a:solidFill>
                  <a:srgbClr val="20242B"/>
                </a:solidFill>
                <a:latin typeface="Calibri"/>
              </a:rPr>
              <a:t>Người hướng dẫn tại công ty: </a:t>
            </a:r>
            <a:r>
              <a:rPr sz="1600" b="0" i="0">
                <a:solidFill>
                  <a:srgbClr val="20242B"/>
                </a:solidFill>
                <a:latin typeface="Calibri"/>
              </a:rPr>
              <a:t>Anh Trần Thế Phú</a:t>
            </a:r>
          </a:p>
          <a:p>
            <a:pPr>
              <a:spcAft>
                <a:spcPts val="800"/>
              </a:spcAft>
            </a:pPr>
            <a:r>
              <a:rPr sz="1600" b="1" i="0">
                <a:solidFill>
                  <a:srgbClr val="20242B"/>
                </a:solidFill>
                <a:latin typeface="Calibri"/>
              </a:rPr>
              <a:t>Thời gian: </a:t>
            </a:r>
            <a:r>
              <a:rPr sz="1600" b="0" i="0">
                <a:solidFill>
                  <a:srgbClr val="20242B"/>
                </a:solidFill>
                <a:latin typeface="Calibri"/>
              </a:rPr>
              <a:t>06/07/2026 – 27/09/2026 (12 tuần)</a:t>
            </a:r>
          </a:p>
        </p:txBody>
      </p:sp>
      <p:sp>
        <p:nvSpPr>
          <p:cNvPr id="7" name="TextBox 6"/>
          <p:cNvSpPr txBox="1"/>
          <p:nvPr/>
        </p:nvSpPr>
        <p:spPr>
          <a:xfrm>
            <a:off x="548640" y="5989320"/>
            <a:ext cx="5486400" cy="320040"/>
          </a:xfrm>
          <a:prstGeom prst="rect">
            <a:avLst/>
          </a:prstGeom>
          <a:noFill/>
        </p:spPr>
        <p:txBody>
          <a:bodyPr wrap="square" lIns="45720" rIns="45720" anchor="t"/>
          <a:lstStyle/>
          <a:p>
            <a:pPr algn="l"/>
            <a:r>
              <a:rPr sz="1300" b="0" i="0">
                <a:solidFill>
                  <a:srgbClr val="5B6370"/>
                </a:solidFill>
                <a:latin typeface="Calibri"/>
              </a:rPr>
              <a:t>TP. Hồ Chí Minh, tháng 9 năm 2026</a:t>
            </a:r>
          </a:p>
        </p:txBody>
      </p:sp>
      <p:pic>
        <p:nvPicPr>
          <p:cNvPr id="8" name="Picture 7" descr="printuz-about.png"/>
          <p:cNvPicPr>
            <a:picLocks noChangeAspect="1"/>
          </p:cNvPicPr>
          <p:nvPr/>
        </p:nvPicPr>
        <p:blipFill>
          <a:blip r:embed="rId3"/>
          <a:stretch>
            <a:fillRect/>
          </a:stretch>
        </p:blipFill>
        <p:spPr>
          <a:xfrm>
            <a:off x="6720840" y="1903094"/>
            <a:ext cx="5029200" cy="3143250"/>
          </a:xfrm>
          <a:prstGeom prst="rect">
            <a:avLst/>
          </a:prstGeom>
        </p:spPr>
      </p:pic>
      <p:sp>
        <p:nvSpPr>
          <p:cNvPr id="9" name="Rectangle 8"/>
          <p:cNvSpPr/>
          <p:nvPr/>
        </p:nvSpPr>
        <p:spPr>
          <a:xfrm>
            <a:off x="6720840" y="1903094"/>
            <a:ext cx="5029200" cy="3143250"/>
          </a:xfrm>
          <a:prstGeom prst="rect">
            <a:avLst/>
          </a:prstGeom>
          <a:no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4F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1247120" cy="566928"/>
          </a:xfrm>
          <a:prstGeom prst="rect">
            <a:avLst/>
          </a:prstGeom>
          <a:noFill/>
        </p:spPr>
        <p:txBody>
          <a:bodyPr wrap="square" lIns="45720" rIns="45720" anchor="t"/>
          <a:lstStyle/>
          <a:p>
            <a:pPr algn="l"/>
            <a:r>
              <a:rPr sz="2800" b="1" i="0">
                <a:solidFill>
                  <a:srgbClr val="20242B"/>
                </a:solidFill>
                <a:latin typeface="Calibri"/>
              </a:rPr>
              <a:t>Nội dung trình bày</a:t>
            </a:r>
          </a:p>
        </p:txBody>
      </p:sp>
      <p:cxnSp>
        <p:nvCxnSpPr>
          <p:cNvPr id="4" name="Connector 3"/>
          <p:cNvCxnSpPr/>
          <p:nvPr/>
        </p:nvCxnSpPr>
        <p:spPr>
          <a:xfrm>
            <a:off x="457200" y="6446520"/>
            <a:ext cx="11274552" cy="0"/>
          </a:xfrm>
          <a:prstGeom prst="line">
            <a:avLst/>
          </a:prstGeom>
          <a:ln w="9525">
            <a:solidFill>
              <a:srgbClr val="D9DEE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92240"/>
            <a:ext cx="8229600" cy="274320"/>
          </a:xfrm>
          <a:prstGeom prst="rect">
            <a:avLst/>
          </a:prstGeom>
          <a:noFill/>
        </p:spPr>
        <p:txBody>
          <a:bodyPr wrap="square" lIns="45720" rIns="45720" anchor="t"/>
          <a:lstStyle/>
          <a:p>
            <a:pPr algn="l"/>
            <a:r>
              <a:rPr sz="1100" b="0" i="0">
                <a:solidFill>
                  <a:srgbClr val="5B6370"/>
                </a:solidFill>
                <a:latin typeface="Calibri"/>
              </a:rPr>
              <a:t>Trần Anh Khoa  ·  Báo cáo thực tập tốt nghiệp  ·  Website Printuz</a:t>
            </a:r>
          </a:p>
        </p:txBody>
      </p:sp>
      <p:sp>
        <p:nvSpPr>
          <p:cNvPr id="6" name="Rounded Rectangle 5"/>
          <p:cNvSpPr/>
          <p:nvPr/>
        </p:nvSpPr>
        <p:spPr>
          <a:xfrm>
            <a:off x="548640" y="1325880"/>
            <a:ext cx="5440680" cy="1024128"/>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90472"/>
            <a:ext cx="822960" cy="685800"/>
          </a:xfrm>
          <a:prstGeom prst="rect">
            <a:avLst/>
          </a:prstGeom>
          <a:noFill/>
        </p:spPr>
        <p:txBody>
          <a:bodyPr wrap="square" lIns="45720" rIns="45720" anchor="ctr"/>
          <a:lstStyle/>
          <a:p>
            <a:pPr algn="l"/>
            <a:r>
              <a:rPr sz="3000" b="1" i="0">
                <a:solidFill>
                  <a:srgbClr val="4FA6A6"/>
                </a:solidFill>
                <a:latin typeface="Calibri"/>
              </a:rPr>
              <a:t>01</a:t>
            </a:r>
          </a:p>
        </p:txBody>
      </p:sp>
      <p:sp>
        <p:nvSpPr>
          <p:cNvPr id="8" name="TextBox 7"/>
          <p:cNvSpPr txBox="1"/>
          <p:nvPr/>
        </p:nvSpPr>
        <p:spPr>
          <a:xfrm>
            <a:off x="1600200" y="1481328"/>
            <a:ext cx="4206240" cy="384048"/>
          </a:xfrm>
          <a:prstGeom prst="rect">
            <a:avLst/>
          </a:prstGeom>
          <a:noFill/>
        </p:spPr>
        <p:txBody>
          <a:bodyPr wrap="square" lIns="45720" rIns="45720" anchor="t"/>
          <a:lstStyle/>
          <a:p>
            <a:pPr algn="l"/>
            <a:r>
              <a:rPr sz="1900" b="1" i="0">
                <a:solidFill>
                  <a:srgbClr val="20242B"/>
                </a:solidFill>
                <a:latin typeface="Calibri"/>
              </a:rPr>
              <a:t>Giới thiệu đơn vị thực tập</a:t>
            </a:r>
          </a:p>
        </p:txBody>
      </p:sp>
      <p:sp>
        <p:nvSpPr>
          <p:cNvPr id="9" name="TextBox 8"/>
          <p:cNvSpPr txBox="1"/>
          <p:nvPr/>
        </p:nvSpPr>
        <p:spPr>
          <a:xfrm>
            <a:off x="1600200" y="1874519"/>
            <a:ext cx="4206240" cy="365760"/>
          </a:xfrm>
          <a:prstGeom prst="rect">
            <a:avLst/>
          </a:prstGeom>
          <a:noFill/>
        </p:spPr>
        <p:txBody>
          <a:bodyPr wrap="square" lIns="45720" rIns="45720" anchor="t"/>
          <a:lstStyle/>
          <a:p>
            <a:pPr algn="l"/>
            <a:r>
              <a:rPr sz="1300" b="0" i="0">
                <a:solidFill>
                  <a:srgbClr val="5B6370"/>
                </a:solidFill>
                <a:latin typeface="Calibri"/>
              </a:rPr>
              <a:t>Thông tin, lĩnh vực hoạt động, cơ cấu tổ chức của TGSOFT</a:t>
            </a:r>
          </a:p>
        </p:txBody>
      </p:sp>
      <p:sp>
        <p:nvSpPr>
          <p:cNvPr id="10" name="Rounded Rectangle 9"/>
          <p:cNvSpPr/>
          <p:nvPr/>
        </p:nvSpPr>
        <p:spPr>
          <a:xfrm>
            <a:off x="548640" y="2542032"/>
            <a:ext cx="5440680" cy="1024128"/>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2706624"/>
            <a:ext cx="822960" cy="685800"/>
          </a:xfrm>
          <a:prstGeom prst="rect">
            <a:avLst/>
          </a:prstGeom>
          <a:noFill/>
        </p:spPr>
        <p:txBody>
          <a:bodyPr wrap="square" lIns="45720" rIns="45720" anchor="ctr"/>
          <a:lstStyle/>
          <a:p>
            <a:pPr algn="l"/>
            <a:r>
              <a:rPr sz="3000" b="1" i="0">
                <a:solidFill>
                  <a:srgbClr val="4FA6A6"/>
                </a:solidFill>
                <a:latin typeface="Calibri"/>
              </a:rPr>
              <a:t>02</a:t>
            </a:r>
          </a:p>
        </p:txBody>
      </p:sp>
      <p:sp>
        <p:nvSpPr>
          <p:cNvPr id="12" name="TextBox 11"/>
          <p:cNvSpPr txBox="1"/>
          <p:nvPr/>
        </p:nvSpPr>
        <p:spPr>
          <a:xfrm>
            <a:off x="1600200" y="2697480"/>
            <a:ext cx="4206240" cy="384048"/>
          </a:xfrm>
          <a:prstGeom prst="rect">
            <a:avLst/>
          </a:prstGeom>
          <a:noFill/>
        </p:spPr>
        <p:txBody>
          <a:bodyPr wrap="square" lIns="45720" rIns="45720" anchor="t"/>
          <a:lstStyle/>
          <a:p>
            <a:pPr algn="l"/>
            <a:r>
              <a:rPr sz="1900" b="1" i="0">
                <a:solidFill>
                  <a:srgbClr val="20242B"/>
                </a:solidFill>
                <a:latin typeface="Calibri"/>
              </a:rPr>
              <a:t>Mục tiêu, nội dung, ý nghĩa</a:t>
            </a:r>
          </a:p>
        </p:txBody>
      </p:sp>
      <p:sp>
        <p:nvSpPr>
          <p:cNvPr id="13" name="TextBox 12"/>
          <p:cNvSpPr txBox="1"/>
          <p:nvPr/>
        </p:nvSpPr>
        <p:spPr>
          <a:xfrm>
            <a:off x="1600200" y="3090672"/>
            <a:ext cx="4206240" cy="365760"/>
          </a:xfrm>
          <a:prstGeom prst="rect">
            <a:avLst/>
          </a:prstGeom>
          <a:noFill/>
        </p:spPr>
        <p:txBody>
          <a:bodyPr wrap="square" lIns="45720" rIns="45720" anchor="t"/>
          <a:lstStyle/>
          <a:p>
            <a:pPr algn="l"/>
            <a:r>
              <a:rPr sz="1300" b="0" i="0">
                <a:solidFill>
                  <a:srgbClr val="5B6370"/>
                </a:solidFill>
                <a:latin typeface="Calibri"/>
              </a:rPr>
              <a:t>Công việc thực tập hướng tới điều gì và để làm gì</a:t>
            </a:r>
          </a:p>
        </p:txBody>
      </p:sp>
      <p:sp>
        <p:nvSpPr>
          <p:cNvPr id="14" name="Rounded Rectangle 13"/>
          <p:cNvSpPr/>
          <p:nvPr/>
        </p:nvSpPr>
        <p:spPr>
          <a:xfrm>
            <a:off x="548640" y="3758184"/>
            <a:ext cx="5440680" cy="1024128"/>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922776"/>
            <a:ext cx="822960" cy="685800"/>
          </a:xfrm>
          <a:prstGeom prst="rect">
            <a:avLst/>
          </a:prstGeom>
          <a:noFill/>
        </p:spPr>
        <p:txBody>
          <a:bodyPr wrap="square" lIns="45720" rIns="45720" anchor="ctr"/>
          <a:lstStyle/>
          <a:p>
            <a:pPr algn="l"/>
            <a:r>
              <a:rPr sz="3000" b="1" i="0">
                <a:solidFill>
                  <a:srgbClr val="4FA6A6"/>
                </a:solidFill>
                <a:latin typeface="Calibri"/>
              </a:rPr>
              <a:t>03</a:t>
            </a:r>
          </a:p>
        </p:txBody>
      </p:sp>
      <p:sp>
        <p:nvSpPr>
          <p:cNvPr id="16" name="TextBox 15"/>
          <p:cNvSpPr txBox="1"/>
          <p:nvPr/>
        </p:nvSpPr>
        <p:spPr>
          <a:xfrm>
            <a:off x="1600200" y="3913632"/>
            <a:ext cx="4206240" cy="384048"/>
          </a:xfrm>
          <a:prstGeom prst="rect">
            <a:avLst/>
          </a:prstGeom>
          <a:noFill/>
        </p:spPr>
        <p:txBody>
          <a:bodyPr wrap="square" lIns="45720" rIns="45720" anchor="t"/>
          <a:lstStyle/>
          <a:p>
            <a:pPr algn="l"/>
            <a:r>
              <a:rPr sz="1900" b="1" i="0">
                <a:solidFill>
                  <a:srgbClr val="20242B"/>
                </a:solidFill>
                <a:latin typeface="Calibri"/>
              </a:rPr>
              <a:t>Vị trí công việc thực tập</a:t>
            </a:r>
          </a:p>
        </p:txBody>
      </p:sp>
      <p:sp>
        <p:nvSpPr>
          <p:cNvPr id="17" name="TextBox 16"/>
          <p:cNvSpPr txBox="1"/>
          <p:nvPr/>
        </p:nvSpPr>
        <p:spPr>
          <a:xfrm>
            <a:off x="1600200" y="4306824"/>
            <a:ext cx="4206240" cy="365760"/>
          </a:xfrm>
          <a:prstGeom prst="rect">
            <a:avLst/>
          </a:prstGeom>
          <a:noFill/>
        </p:spPr>
        <p:txBody>
          <a:bodyPr wrap="square" lIns="45720" rIns="45720" anchor="t"/>
          <a:lstStyle/>
          <a:p>
            <a:pPr algn="l"/>
            <a:r>
              <a:rPr sz="1300" b="0" i="0">
                <a:solidFill>
                  <a:srgbClr val="5B6370"/>
                </a:solidFill>
                <a:latin typeface="Calibri"/>
              </a:rPr>
              <a:t>Vị trí Frontend, yêu cầu và nhiệm vụ được giao</a:t>
            </a:r>
          </a:p>
        </p:txBody>
      </p:sp>
      <p:sp>
        <p:nvSpPr>
          <p:cNvPr id="18" name="Rounded Rectangle 17"/>
          <p:cNvSpPr/>
          <p:nvPr/>
        </p:nvSpPr>
        <p:spPr>
          <a:xfrm>
            <a:off x="548640" y="4974336"/>
            <a:ext cx="5440680" cy="1024128"/>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5138928"/>
            <a:ext cx="822960" cy="685800"/>
          </a:xfrm>
          <a:prstGeom prst="rect">
            <a:avLst/>
          </a:prstGeom>
          <a:noFill/>
        </p:spPr>
        <p:txBody>
          <a:bodyPr wrap="square" lIns="45720" rIns="45720" anchor="ctr"/>
          <a:lstStyle/>
          <a:p>
            <a:pPr algn="l"/>
            <a:r>
              <a:rPr sz="3000" b="1" i="0">
                <a:solidFill>
                  <a:srgbClr val="4FA6A6"/>
                </a:solidFill>
                <a:latin typeface="Calibri"/>
              </a:rPr>
              <a:t>04</a:t>
            </a:r>
          </a:p>
        </p:txBody>
      </p:sp>
      <p:sp>
        <p:nvSpPr>
          <p:cNvPr id="20" name="TextBox 19"/>
          <p:cNvSpPr txBox="1"/>
          <p:nvPr/>
        </p:nvSpPr>
        <p:spPr>
          <a:xfrm>
            <a:off x="1600200" y="5129784"/>
            <a:ext cx="4206240" cy="384048"/>
          </a:xfrm>
          <a:prstGeom prst="rect">
            <a:avLst/>
          </a:prstGeom>
          <a:noFill/>
        </p:spPr>
        <p:txBody>
          <a:bodyPr wrap="square" lIns="45720" rIns="45720" anchor="t"/>
          <a:lstStyle/>
          <a:p>
            <a:pPr algn="l"/>
            <a:r>
              <a:rPr sz="1900" b="1" i="0">
                <a:solidFill>
                  <a:srgbClr val="20242B"/>
                </a:solidFill>
                <a:latin typeface="Calibri"/>
              </a:rPr>
              <a:t>Kế hoạch và tiến độ</a:t>
            </a:r>
          </a:p>
        </p:txBody>
      </p:sp>
      <p:sp>
        <p:nvSpPr>
          <p:cNvPr id="21" name="TextBox 20"/>
          <p:cNvSpPr txBox="1"/>
          <p:nvPr/>
        </p:nvSpPr>
        <p:spPr>
          <a:xfrm>
            <a:off x="1600200" y="5522976"/>
            <a:ext cx="4206240" cy="365760"/>
          </a:xfrm>
          <a:prstGeom prst="rect">
            <a:avLst/>
          </a:prstGeom>
          <a:noFill/>
        </p:spPr>
        <p:txBody>
          <a:bodyPr wrap="square" lIns="45720" rIns="45720" anchor="t"/>
          <a:lstStyle/>
          <a:p>
            <a:pPr algn="l"/>
            <a:r>
              <a:rPr sz="1300" b="0" i="0">
                <a:solidFill>
                  <a:srgbClr val="5B6370"/>
                </a:solidFill>
                <a:latin typeface="Calibri"/>
              </a:rPr>
              <a:t>Bốn giai đoạn và nhật ký 12 tuần</a:t>
            </a:r>
          </a:p>
        </p:txBody>
      </p:sp>
      <p:sp>
        <p:nvSpPr>
          <p:cNvPr id="22" name="Rounded Rectangle 21"/>
          <p:cNvSpPr/>
          <p:nvPr/>
        </p:nvSpPr>
        <p:spPr>
          <a:xfrm>
            <a:off x="6263640" y="1325880"/>
            <a:ext cx="5440680" cy="1024128"/>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46520" y="1490472"/>
            <a:ext cx="822960" cy="685800"/>
          </a:xfrm>
          <a:prstGeom prst="rect">
            <a:avLst/>
          </a:prstGeom>
          <a:noFill/>
        </p:spPr>
        <p:txBody>
          <a:bodyPr wrap="square" lIns="45720" rIns="45720" anchor="ctr"/>
          <a:lstStyle/>
          <a:p>
            <a:pPr algn="l"/>
            <a:r>
              <a:rPr sz="3000" b="1" i="0">
                <a:solidFill>
                  <a:srgbClr val="4FA6A6"/>
                </a:solidFill>
                <a:latin typeface="Calibri"/>
              </a:rPr>
              <a:t>05</a:t>
            </a:r>
          </a:p>
        </p:txBody>
      </p:sp>
      <p:sp>
        <p:nvSpPr>
          <p:cNvPr id="24" name="TextBox 23"/>
          <p:cNvSpPr txBox="1"/>
          <p:nvPr/>
        </p:nvSpPr>
        <p:spPr>
          <a:xfrm>
            <a:off x="7315200" y="1481328"/>
            <a:ext cx="4206240" cy="384048"/>
          </a:xfrm>
          <a:prstGeom prst="rect">
            <a:avLst/>
          </a:prstGeom>
          <a:noFill/>
        </p:spPr>
        <p:txBody>
          <a:bodyPr wrap="square" lIns="45720" rIns="45720" anchor="t"/>
          <a:lstStyle/>
          <a:p>
            <a:pPr algn="l"/>
            <a:r>
              <a:rPr sz="1900" b="1" i="0">
                <a:solidFill>
                  <a:srgbClr val="20242B"/>
                </a:solidFill>
                <a:latin typeface="Calibri"/>
              </a:rPr>
              <a:t>Phân tích và công nghệ</a:t>
            </a:r>
          </a:p>
        </p:txBody>
      </p:sp>
      <p:sp>
        <p:nvSpPr>
          <p:cNvPr id="25" name="TextBox 24"/>
          <p:cNvSpPr txBox="1"/>
          <p:nvPr/>
        </p:nvSpPr>
        <p:spPr>
          <a:xfrm>
            <a:off x="7315200" y="1874519"/>
            <a:ext cx="4206240" cy="365760"/>
          </a:xfrm>
          <a:prstGeom prst="rect">
            <a:avLst/>
          </a:prstGeom>
          <a:noFill/>
        </p:spPr>
        <p:txBody>
          <a:bodyPr wrap="square" lIns="45720" rIns="45720" anchor="t"/>
          <a:lstStyle/>
          <a:p>
            <a:pPr algn="l"/>
            <a:r>
              <a:rPr sz="1300" b="0" i="0">
                <a:solidFill>
                  <a:srgbClr val="5B6370"/>
                </a:solidFill>
                <a:latin typeface="Calibri"/>
              </a:rPr>
              <a:t>Giao diện, trải nghiệm người dùng, yêu cầu dự án</a:t>
            </a:r>
          </a:p>
        </p:txBody>
      </p:sp>
      <p:sp>
        <p:nvSpPr>
          <p:cNvPr id="26" name="Rounded Rectangle 25"/>
          <p:cNvSpPr/>
          <p:nvPr/>
        </p:nvSpPr>
        <p:spPr>
          <a:xfrm>
            <a:off x="6263640" y="2542032"/>
            <a:ext cx="5440680" cy="1024128"/>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46520" y="2706624"/>
            <a:ext cx="822960" cy="685800"/>
          </a:xfrm>
          <a:prstGeom prst="rect">
            <a:avLst/>
          </a:prstGeom>
          <a:noFill/>
        </p:spPr>
        <p:txBody>
          <a:bodyPr wrap="square" lIns="45720" rIns="45720" anchor="ctr"/>
          <a:lstStyle/>
          <a:p>
            <a:pPr algn="l"/>
            <a:r>
              <a:rPr sz="3000" b="1" i="0">
                <a:solidFill>
                  <a:srgbClr val="4FA6A6"/>
                </a:solidFill>
                <a:latin typeface="Calibri"/>
              </a:rPr>
              <a:t>06</a:t>
            </a:r>
          </a:p>
        </p:txBody>
      </p:sp>
      <p:sp>
        <p:nvSpPr>
          <p:cNvPr id="28" name="TextBox 27"/>
          <p:cNvSpPr txBox="1"/>
          <p:nvPr/>
        </p:nvSpPr>
        <p:spPr>
          <a:xfrm>
            <a:off x="7315200" y="2697480"/>
            <a:ext cx="4206240" cy="384048"/>
          </a:xfrm>
          <a:prstGeom prst="rect">
            <a:avLst/>
          </a:prstGeom>
          <a:noFill/>
        </p:spPr>
        <p:txBody>
          <a:bodyPr wrap="square" lIns="45720" rIns="45720" anchor="t"/>
          <a:lstStyle/>
          <a:p>
            <a:pPr algn="l"/>
            <a:r>
              <a:rPr sz="1900" b="1" i="0">
                <a:solidFill>
                  <a:srgbClr val="20242B"/>
                </a:solidFill>
                <a:latin typeface="Calibri"/>
              </a:rPr>
              <a:t>Kết quả thực hiện</a:t>
            </a:r>
          </a:p>
        </p:txBody>
      </p:sp>
      <p:sp>
        <p:nvSpPr>
          <p:cNvPr id="29" name="TextBox 28"/>
          <p:cNvSpPr txBox="1"/>
          <p:nvPr/>
        </p:nvSpPr>
        <p:spPr>
          <a:xfrm>
            <a:off x="7315200" y="3090672"/>
            <a:ext cx="4206240" cy="365760"/>
          </a:xfrm>
          <a:prstGeom prst="rect">
            <a:avLst/>
          </a:prstGeom>
          <a:noFill/>
        </p:spPr>
        <p:txBody>
          <a:bodyPr wrap="square" lIns="45720" rIns="45720" anchor="t"/>
          <a:lstStyle/>
          <a:p>
            <a:pPr algn="l"/>
            <a:r>
              <a:rPr sz="1300" b="0" i="0">
                <a:solidFill>
                  <a:srgbClr val="5B6370"/>
                </a:solidFill>
                <a:latin typeface="Calibri"/>
              </a:rPr>
              <a:t>Giao diện website Printuz đã hoàn thành</a:t>
            </a:r>
          </a:p>
        </p:txBody>
      </p:sp>
      <p:sp>
        <p:nvSpPr>
          <p:cNvPr id="30" name="Rounded Rectangle 29"/>
          <p:cNvSpPr/>
          <p:nvPr/>
        </p:nvSpPr>
        <p:spPr>
          <a:xfrm>
            <a:off x="6263640" y="3758184"/>
            <a:ext cx="5440680" cy="1024128"/>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46520" y="3922776"/>
            <a:ext cx="822960" cy="685800"/>
          </a:xfrm>
          <a:prstGeom prst="rect">
            <a:avLst/>
          </a:prstGeom>
          <a:noFill/>
        </p:spPr>
        <p:txBody>
          <a:bodyPr wrap="square" lIns="45720" rIns="45720" anchor="ctr"/>
          <a:lstStyle/>
          <a:p>
            <a:pPr algn="l"/>
            <a:r>
              <a:rPr sz="3000" b="1" i="0">
                <a:solidFill>
                  <a:srgbClr val="4FA6A6"/>
                </a:solidFill>
                <a:latin typeface="Calibri"/>
              </a:rPr>
              <a:t>07</a:t>
            </a:r>
          </a:p>
        </p:txBody>
      </p:sp>
      <p:sp>
        <p:nvSpPr>
          <p:cNvPr id="32" name="TextBox 31"/>
          <p:cNvSpPr txBox="1"/>
          <p:nvPr/>
        </p:nvSpPr>
        <p:spPr>
          <a:xfrm>
            <a:off x="7315200" y="3913632"/>
            <a:ext cx="4206240" cy="384048"/>
          </a:xfrm>
          <a:prstGeom prst="rect">
            <a:avLst/>
          </a:prstGeom>
          <a:noFill/>
        </p:spPr>
        <p:txBody>
          <a:bodyPr wrap="square" lIns="45720" rIns="45720" anchor="t"/>
          <a:lstStyle/>
          <a:p>
            <a:pPr algn="l"/>
            <a:r>
              <a:rPr sz="1900" b="1" i="0">
                <a:solidFill>
                  <a:srgbClr val="20242B"/>
                </a:solidFill>
                <a:latin typeface="Calibri"/>
              </a:rPr>
              <a:t>Đánh giá và kiến nghị</a:t>
            </a:r>
          </a:p>
        </p:txBody>
      </p:sp>
      <p:sp>
        <p:nvSpPr>
          <p:cNvPr id="33" name="TextBox 32"/>
          <p:cNvSpPr txBox="1"/>
          <p:nvPr/>
        </p:nvSpPr>
        <p:spPr>
          <a:xfrm>
            <a:off x="7315200" y="4306824"/>
            <a:ext cx="4206240" cy="365760"/>
          </a:xfrm>
          <a:prstGeom prst="rect">
            <a:avLst/>
          </a:prstGeom>
          <a:noFill/>
        </p:spPr>
        <p:txBody>
          <a:bodyPr wrap="square" lIns="45720" rIns="45720" anchor="t"/>
          <a:lstStyle/>
          <a:p>
            <a:pPr algn="l"/>
            <a:r>
              <a:rPr sz="1300" b="0" i="0">
                <a:solidFill>
                  <a:srgbClr val="5B6370"/>
                </a:solidFill>
                <a:latin typeface="Calibri"/>
              </a:rPr>
              <a:t>Ưu điểm, hạn chế, bài học, đề xuất</a:t>
            </a:r>
          </a:p>
        </p:txBody>
      </p:sp>
      <p:sp>
        <p:nvSpPr>
          <p:cNvPr id="34" name="Rounded Rectangle 33"/>
          <p:cNvSpPr/>
          <p:nvPr/>
        </p:nvSpPr>
        <p:spPr>
          <a:xfrm>
            <a:off x="6263640" y="4974336"/>
            <a:ext cx="5440680" cy="1024128"/>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46520" y="5138928"/>
            <a:ext cx="822960" cy="685800"/>
          </a:xfrm>
          <a:prstGeom prst="rect">
            <a:avLst/>
          </a:prstGeom>
          <a:noFill/>
        </p:spPr>
        <p:txBody>
          <a:bodyPr wrap="square" lIns="45720" rIns="45720" anchor="ctr"/>
          <a:lstStyle/>
          <a:p>
            <a:pPr algn="l"/>
            <a:r>
              <a:rPr sz="3000" b="1" i="0">
                <a:solidFill>
                  <a:srgbClr val="4FA6A6"/>
                </a:solidFill>
                <a:latin typeface="Calibri"/>
              </a:rPr>
              <a:t>08</a:t>
            </a:r>
          </a:p>
        </p:txBody>
      </p:sp>
      <p:sp>
        <p:nvSpPr>
          <p:cNvPr id="36" name="TextBox 35"/>
          <p:cNvSpPr txBox="1"/>
          <p:nvPr/>
        </p:nvSpPr>
        <p:spPr>
          <a:xfrm>
            <a:off x="7315200" y="5129784"/>
            <a:ext cx="4206240" cy="384048"/>
          </a:xfrm>
          <a:prstGeom prst="rect">
            <a:avLst/>
          </a:prstGeom>
          <a:noFill/>
        </p:spPr>
        <p:txBody>
          <a:bodyPr wrap="square" lIns="45720" rIns="45720" anchor="t"/>
          <a:lstStyle/>
          <a:p>
            <a:pPr algn="l"/>
            <a:r>
              <a:rPr sz="1900" b="1" i="0">
                <a:solidFill>
                  <a:srgbClr val="20242B"/>
                </a:solidFill>
                <a:latin typeface="Calibri"/>
              </a:rPr>
              <a:t>Kết luận</a:t>
            </a:r>
          </a:p>
        </p:txBody>
      </p:sp>
      <p:sp>
        <p:nvSpPr>
          <p:cNvPr id="37" name="TextBox 36"/>
          <p:cNvSpPr txBox="1"/>
          <p:nvPr/>
        </p:nvSpPr>
        <p:spPr>
          <a:xfrm>
            <a:off x="10332720" y="6492240"/>
            <a:ext cx="1399032" cy="274320"/>
          </a:xfrm>
          <a:prstGeom prst="rect">
            <a:avLst/>
          </a:prstGeom>
          <a:noFill/>
        </p:spPr>
        <p:txBody>
          <a:bodyPr wrap="square" lIns="45720" rIns="45720" anchor="t"/>
          <a:lstStyle/>
          <a:p>
            <a:pPr algn="r"/>
            <a:r>
              <a:rPr sz="1100" b="0" i="0">
                <a:solidFill>
                  <a:srgbClr val="5B6370"/>
                </a:solidFill>
                <a:latin typeface="Calibri"/>
              </a:rPr>
              <a:t>2 / 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4F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
            <a:ext cx="8229600" cy="274320"/>
          </a:xfrm>
          <a:prstGeom prst="rect">
            <a:avLst/>
          </a:prstGeom>
          <a:noFill/>
        </p:spPr>
        <p:txBody>
          <a:bodyPr wrap="square" lIns="45720" rIns="45720" anchor="t"/>
          <a:lstStyle/>
          <a:p>
            <a:pPr algn="l"/>
            <a:r>
              <a:rPr sz="1200" b="1" i="0">
                <a:solidFill>
                  <a:srgbClr val="2F7F80"/>
                </a:solidFill>
                <a:latin typeface="Calibri"/>
              </a:rPr>
              <a:t>01 · GIỚI THIỆU ĐƠN VỊ THỰC TẬP</a:t>
            </a:r>
          </a:p>
        </p:txBody>
      </p:sp>
      <p:sp>
        <p:nvSpPr>
          <p:cNvPr id="4" name="TextBox 3"/>
          <p:cNvSpPr txBox="1"/>
          <p:nvPr/>
        </p:nvSpPr>
        <p:spPr>
          <a:xfrm>
            <a:off x="457200" y="457200"/>
            <a:ext cx="11247120" cy="566928"/>
          </a:xfrm>
          <a:prstGeom prst="rect">
            <a:avLst/>
          </a:prstGeom>
          <a:noFill/>
        </p:spPr>
        <p:txBody>
          <a:bodyPr wrap="square" lIns="45720" rIns="45720" anchor="t"/>
          <a:lstStyle/>
          <a:p>
            <a:pPr algn="l"/>
            <a:r>
              <a:rPr sz="2800" b="1" i="0">
                <a:solidFill>
                  <a:srgbClr val="20242B"/>
                </a:solidFill>
                <a:latin typeface="Calibri"/>
              </a:rPr>
              <a:t>Công ty TNHH Công nghệ TGSOFT</a:t>
            </a:r>
          </a:p>
        </p:txBody>
      </p:sp>
      <p:cxnSp>
        <p:nvCxnSpPr>
          <p:cNvPr id="5" name="Connector 4"/>
          <p:cNvCxnSpPr/>
          <p:nvPr/>
        </p:nvCxnSpPr>
        <p:spPr>
          <a:xfrm>
            <a:off x="457200" y="6446520"/>
            <a:ext cx="11274552" cy="0"/>
          </a:xfrm>
          <a:prstGeom prst="line">
            <a:avLst/>
          </a:prstGeom>
          <a:ln w="9525">
            <a:solidFill>
              <a:srgbClr val="D9DEE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92240"/>
            <a:ext cx="8229600" cy="274320"/>
          </a:xfrm>
          <a:prstGeom prst="rect">
            <a:avLst/>
          </a:prstGeom>
          <a:noFill/>
        </p:spPr>
        <p:txBody>
          <a:bodyPr wrap="square" lIns="45720" rIns="45720" anchor="t"/>
          <a:lstStyle/>
          <a:p>
            <a:pPr algn="l"/>
            <a:r>
              <a:rPr sz="1100" b="0" i="0">
                <a:solidFill>
                  <a:srgbClr val="5B6370"/>
                </a:solidFill>
                <a:latin typeface="Calibri"/>
              </a:rPr>
              <a:t>Trần Anh Khoa  ·  Báo cáo thực tập tốt nghiệp  ·  Website Printuz</a:t>
            </a:r>
          </a:p>
        </p:txBody>
      </p:sp>
      <p:sp>
        <p:nvSpPr>
          <p:cNvPr id="7" name="Rounded Rectangle 6"/>
          <p:cNvSpPr/>
          <p:nvPr/>
        </p:nvSpPr>
        <p:spPr>
          <a:xfrm>
            <a:off x="457200" y="1234440"/>
            <a:ext cx="5623560" cy="4983480"/>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71600"/>
            <a:ext cx="5120640" cy="274320"/>
          </a:xfrm>
          <a:prstGeom prst="rect">
            <a:avLst/>
          </a:prstGeom>
          <a:noFill/>
        </p:spPr>
        <p:txBody>
          <a:bodyPr wrap="square" lIns="45720" rIns="45720" anchor="t"/>
          <a:lstStyle/>
          <a:p>
            <a:pPr algn="l"/>
            <a:r>
              <a:rPr sz="1200" b="1" i="0">
                <a:solidFill>
                  <a:srgbClr val="2F7F80"/>
                </a:solidFill>
                <a:latin typeface="Calibri"/>
              </a:rPr>
              <a:t>THÔNG TIN CHUNG</a:t>
            </a:r>
          </a:p>
        </p:txBody>
      </p:sp>
      <p:sp>
        <p:nvSpPr>
          <p:cNvPr id="9" name="TextBox 8"/>
          <p:cNvSpPr txBox="1"/>
          <p:nvPr/>
        </p:nvSpPr>
        <p:spPr>
          <a:xfrm>
            <a:off x="685800" y="1719072"/>
            <a:ext cx="1691640" cy="502920"/>
          </a:xfrm>
          <a:prstGeom prst="rect">
            <a:avLst/>
          </a:prstGeom>
          <a:noFill/>
        </p:spPr>
        <p:txBody>
          <a:bodyPr wrap="square" lIns="45720" rIns="45720" anchor="t"/>
          <a:lstStyle/>
          <a:p>
            <a:pPr algn="l"/>
            <a:r>
              <a:rPr sz="1400" b="1" i="0">
                <a:solidFill>
                  <a:srgbClr val="5B6370"/>
                </a:solidFill>
                <a:latin typeface="Calibri"/>
              </a:rPr>
              <a:t>Tên công ty</a:t>
            </a:r>
          </a:p>
        </p:txBody>
      </p:sp>
      <p:sp>
        <p:nvSpPr>
          <p:cNvPr id="10" name="TextBox 9"/>
          <p:cNvSpPr txBox="1"/>
          <p:nvPr/>
        </p:nvSpPr>
        <p:spPr>
          <a:xfrm>
            <a:off x="2377440" y="1719072"/>
            <a:ext cx="3566160" cy="502920"/>
          </a:xfrm>
          <a:prstGeom prst="rect">
            <a:avLst/>
          </a:prstGeom>
          <a:noFill/>
        </p:spPr>
        <p:txBody>
          <a:bodyPr wrap="square" lIns="45720" rIns="45720" anchor="t"/>
          <a:lstStyle/>
          <a:p>
            <a:pPr algn="l"/>
            <a:r>
              <a:rPr sz="1500" b="0" i="0">
                <a:solidFill>
                  <a:srgbClr val="20242B"/>
                </a:solidFill>
                <a:latin typeface="Calibri"/>
              </a:rPr>
              <a:t>Công ty TNHH Công nghệ TGSOFT</a:t>
            </a:r>
          </a:p>
        </p:txBody>
      </p:sp>
      <p:sp>
        <p:nvSpPr>
          <p:cNvPr id="11" name="TextBox 10"/>
          <p:cNvSpPr txBox="1"/>
          <p:nvPr/>
        </p:nvSpPr>
        <p:spPr>
          <a:xfrm>
            <a:off x="685800" y="2295144"/>
            <a:ext cx="1691640" cy="502920"/>
          </a:xfrm>
          <a:prstGeom prst="rect">
            <a:avLst/>
          </a:prstGeom>
          <a:noFill/>
        </p:spPr>
        <p:txBody>
          <a:bodyPr wrap="square" lIns="45720" rIns="45720" anchor="t"/>
          <a:lstStyle/>
          <a:p>
            <a:pPr algn="l"/>
            <a:r>
              <a:rPr sz="1400" b="1" i="0">
                <a:solidFill>
                  <a:srgbClr val="5B6370"/>
                </a:solidFill>
                <a:latin typeface="Calibri"/>
              </a:rPr>
              <a:t>Mã số thuế</a:t>
            </a:r>
          </a:p>
        </p:txBody>
      </p:sp>
      <p:sp>
        <p:nvSpPr>
          <p:cNvPr id="12" name="TextBox 11"/>
          <p:cNvSpPr txBox="1"/>
          <p:nvPr/>
        </p:nvSpPr>
        <p:spPr>
          <a:xfrm>
            <a:off x="2377440" y="2295144"/>
            <a:ext cx="3566160" cy="502920"/>
          </a:xfrm>
          <a:prstGeom prst="rect">
            <a:avLst/>
          </a:prstGeom>
          <a:noFill/>
        </p:spPr>
        <p:txBody>
          <a:bodyPr wrap="square" lIns="45720" rIns="45720" anchor="t"/>
          <a:lstStyle/>
          <a:p>
            <a:pPr algn="l"/>
            <a:r>
              <a:rPr sz="1500" b="0" i="0">
                <a:solidFill>
                  <a:srgbClr val="20242B"/>
                </a:solidFill>
                <a:latin typeface="Calibri"/>
              </a:rPr>
              <a:t>0315310284</a:t>
            </a:r>
          </a:p>
        </p:txBody>
      </p:sp>
      <p:sp>
        <p:nvSpPr>
          <p:cNvPr id="13" name="TextBox 12"/>
          <p:cNvSpPr txBox="1"/>
          <p:nvPr/>
        </p:nvSpPr>
        <p:spPr>
          <a:xfrm>
            <a:off x="685800" y="2871215"/>
            <a:ext cx="1691640" cy="502920"/>
          </a:xfrm>
          <a:prstGeom prst="rect">
            <a:avLst/>
          </a:prstGeom>
          <a:noFill/>
        </p:spPr>
        <p:txBody>
          <a:bodyPr wrap="square" lIns="45720" rIns="45720" anchor="t"/>
          <a:lstStyle/>
          <a:p>
            <a:pPr algn="l"/>
            <a:r>
              <a:rPr sz="1400" b="1" i="0">
                <a:solidFill>
                  <a:srgbClr val="5B6370"/>
                </a:solidFill>
                <a:latin typeface="Calibri"/>
              </a:rPr>
              <a:t>Đại diện pháp luật</a:t>
            </a:r>
          </a:p>
        </p:txBody>
      </p:sp>
      <p:sp>
        <p:nvSpPr>
          <p:cNvPr id="14" name="TextBox 13"/>
          <p:cNvSpPr txBox="1"/>
          <p:nvPr/>
        </p:nvSpPr>
        <p:spPr>
          <a:xfrm>
            <a:off x="2377440" y="2871215"/>
            <a:ext cx="3566160" cy="502920"/>
          </a:xfrm>
          <a:prstGeom prst="rect">
            <a:avLst/>
          </a:prstGeom>
          <a:noFill/>
        </p:spPr>
        <p:txBody>
          <a:bodyPr wrap="square" lIns="45720" rIns="45720" anchor="t"/>
          <a:lstStyle/>
          <a:p>
            <a:pPr algn="l"/>
            <a:r>
              <a:rPr sz="1500" b="0" i="0">
                <a:solidFill>
                  <a:srgbClr val="20242B"/>
                </a:solidFill>
                <a:latin typeface="Calibri"/>
              </a:rPr>
              <a:t>Ông Trần Thế Văn</a:t>
            </a:r>
          </a:p>
        </p:txBody>
      </p:sp>
      <p:sp>
        <p:nvSpPr>
          <p:cNvPr id="15" name="TextBox 14"/>
          <p:cNvSpPr txBox="1"/>
          <p:nvPr/>
        </p:nvSpPr>
        <p:spPr>
          <a:xfrm>
            <a:off x="685800" y="3447287"/>
            <a:ext cx="1691640" cy="713232"/>
          </a:xfrm>
          <a:prstGeom prst="rect">
            <a:avLst/>
          </a:prstGeom>
          <a:noFill/>
        </p:spPr>
        <p:txBody>
          <a:bodyPr wrap="square" lIns="45720" rIns="45720" anchor="t"/>
          <a:lstStyle/>
          <a:p>
            <a:pPr algn="l"/>
            <a:r>
              <a:rPr sz="1400" b="1" i="0">
                <a:solidFill>
                  <a:srgbClr val="5B6370"/>
                </a:solidFill>
                <a:latin typeface="Calibri"/>
              </a:rPr>
              <a:t>Địa chỉ</a:t>
            </a:r>
          </a:p>
        </p:txBody>
      </p:sp>
      <p:sp>
        <p:nvSpPr>
          <p:cNvPr id="16" name="TextBox 15"/>
          <p:cNvSpPr txBox="1"/>
          <p:nvPr/>
        </p:nvSpPr>
        <p:spPr>
          <a:xfrm>
            <a:off x="2377440" y="3447287"/>
            <a:ext cx="3566160" cy="713232"/>
          </a:xfrm>
          <a:prstGeom prst="rect">
            <a:avLst/>
          </a:prstGeom>
          <a:noFill/>
        </p:spPr>
        <p:txBody>
          <a:bodyPr wrap="square" lIns="45720" rIns="45720" anchor="t"/>
          <a:lstStyle/>
          <a:p>
            <a:pPr algn="l"/>
            <a:r>
              <a:rPr sz="1500" b="0" i="0">
                <a:solidFill>
                  <a:srgbClr val="20242B"/>
                </a:solidFill>
                <a:latin typeface="Calibri"/>
              </a:rPr>
              <a:t>Tầng 14, Tòa nhà HM Town, 412 Nguyễn Thị Minh Khai, phường Bàn Cờ, TP. Hồ Chí Minh</a:t>
            </a:r>
          </a:p>
        </p:txBody>
      </p:sp>
      <p:sp>
        <p:nvSpPr>
          <p:cNvPr id="17" name="TextBox 16"/>
          <p:cNvSpPr txBox="1"/>
          <p:nvPr/>
        </p:nvSpPr>
        <p:spPr>
          <a:xfrm>
            <a:off x="685800" y="4233672"/>
            <a:ext cx="1691640" cy="502920"/>
          </a:xfrm>
          <a:prstGeom prst="rect">
            <a:avLst/>
          </a:prstGeom>
          <a:noFill/>
        </p:spPr>
        <p:txBody>
          <a:bodyPr wrap="square" lIns="45720" rIns="45720" anchor="t"/>
          <a:lstStyle/>
          <a:p>
            <a:pPr algn="l"/>
            <a:r>
              <a:rPr sz="1400" b="1" i="0">
                <a:solidFill>
                  <a:srgbClr val="5B6370"/>
                </a:solidFill>
                <a:latin typeface="Calibri"/>
              </a:rPr>
              <a:t>Email</a:t>
            </a:r>
          </a:p>
        </p:txBody>
      </p:sp>
      <p:sp>
        <p:nvSpPr>
          <p:cNvPr id="18" name="TextBox 17"/>
          <p:cNvSpPr txBox="1"/>
          <p:nvPr/>
        </p:nvSpPr>
        <p:spPr>
          <a:xfrm>
            <a:off x="2377440" y="4233672"/>
            <a:ext cx="3566160" cy="502920"/>
          </a:xfrm>
          <a:prstGeom prst="rect">
            <a:avLst/>
          </a:prstGeom>
          <a:noFill/>
        </p:spPr>
        <p:txBody>
          <a:bodyPr wrap="square" lIns="45720" rIns="45720" anchor="t"/>
          <a:lstStyle/>
          <a:p>
            <a:pPr algn="l"/>
            <a:r>
              <a:rPr sz="1500" b="0" i="0">
                <a:solidFill>
                  <a:srgbClr val="20242B"/>
                </a:solidFill>
                <a:latin typeface="Calibri"/>
              </a:rPr>
              <a:t>admin@tgsoft.vn</a:t>
            </a:r>
          </a:p>
        </p:txBody>
      </p:sp>
      <p:sp>
        <p:nvSpPr>
          <p:cNvPr id="19" name="TextBox 18"/>
          <p:cNvSpPr txBox="1"/>
          <p:nvPr/>
        </p:nvSpPr>
        <p:spPr>
          <a:xfrm>
            <a:off x="685800" y="4809744"/>
            <a:ext cx="1691640" cy="502920"/>
          </a:xfrm>
          <a:prstGeom prst="rect">
            <a:avLst/>
          </a:prstGeom>
          <a:noFill/>
        </p:spPr>
        <p:txBody>
          <a:bodyPr wrap="square" lIns="45720" rIns="45720" anchor="t"/>
          <a:lstStyle/>
          <a:p>
            <a:pPr algn="l"/>
            <a:r>
              <a:rPr sz="1400" b="1" i="0">
                <a:solidFill>
                  <a:srgbClr val="5B6370"/>
                </a:solidFill>
                <a:latin typeface="Calibri"/>
              </a:rPr>
              <a:t>Hotline</a:t>
            </a:r>
          </a:p>
        </p:txBody>
      </p:sp>
      <p:sp>
        <p:nvSpPr>
          <p:cNvPr id="20" name="TextBox 19"/>
          <p:cNvSpPr txBox="1"/>
          <p:nvPr/>
        </p:nvSpPr>
        <p:spPr>
          <a:xfrm>
            <a:off x="2377440" y="4809744"/>
            <a:ext cx="3566160" cy="502920"/>
          </a:xfrm>
          <a:prstGeom prst="rect">
            <a:avLst/>
          </a:prstGeom>
          <a:noFill/>
        </p:spPr>
        <p:txBody>
          <a:bodyPr wrap="square" lIns="45720" rIns="45720" anchor="t"/>
          <a:lstStyle/>
          <a:p>
            <a:pPr algn="l"/>
            <a:r>
              <a:rPr sz="1500" b="0" i="0">
                <a:solidFill>
                  <a:srgbClr val="20242B"/>
                </a:solidFill>
                <a:latin typeface="Calibri"/>
              </a:rPr>
              <a:t>0919 33 2220</a:t>
            </a:r>
          </a:p>
        </p:txBody>
      </p:sp>
      <p:sp>
        <p:nvSpPr>
          <p:cNvPr id="21" name="TextBox 20"/>
          <p:cNvSpPr txBox="1"/>
          <p:nvPr/>
        </p:nvSpPr>
        <p:spPr>
          <a:xfrm>
            <a:off x="685800" y="5385816"/>
            <a:ext cx="1691640" cy="502920"/>
          </a:xfrm>
          <a:prstGeom prst="rect">
            <a:avLst/>
          </a:prstGeom>
          <a:noFill/>
        </p:spPr>
        <p:txBody>
          <a:bodyPr wrap="square" lIns="45720" rIns="45720" anchor="t"/>
          <a:lstStyle/>
          <a:p>
            <a:pPr algn="l"/>
            <a:r>
              <a:rPr sz="1400" b="1" i="0">
                <a:solidFill>
                  <a:srgbClr val="5B6370"/>
                </a:solidFill>
                <a:latin typeface="Calibri"/>
              </a:rPr>
              <a:t>Người hướng dẫn</a:t>
            </a:r>
          </a:p>
        </p:txBody>
      </p:sp>
      <p:sp>
        <p:nvSpPr>
          <p:cNvPr id="22" name="TextBox 21"/>
          <p:cNvSpPr txBox="1"/>
          <p:nvPr/>
        </p:nvSpPr>
        <p:spPr>
          <a:xfrm>
            <a:off x="2377440" y="5385816"/>
            <a:ext cx="3566160" cy="502920"/>
          </a:xfrm>
          <a:prstGeom prst="rect">
            <a:avLst/>
          </a:prstGeom>
          <a:noFill/>
        </p:spPr>
        <p:txBody>
          <a:bodyPr wrap="square" lIns="45720" rIns="45720" anchor="t"/>
          <a:lstStyle/>
          <a:p>
            <a:pPr algn="l"/>
            <a:r>
              <a:rPr sz="1500" b="0" i="0">
                <a:solidFill>
                  <a:srgbClr val="20242B"/>
                </a:solidFill>
                <a:latin typeface="Calibri"/>
              </a:rPr>
              <a:t>Anh Trần Thế Phú</a:t>
            </a:r>
          </a:p>
        </p:txBody>
      </p:sp>
      <p:sp>
        <p:nvSpPr>
          <p:cNvPr id="23" name="Rounded Rectangle 22"/>
          <p:cNvSpPr/>
          <p:nvPr/>
        </p:nvSpPr>
        <p:spPr>
          <a:xfrm>
            <a:off x="6309360" y="1234440"/>
            <a:ext cx="5422392" cy="4983480"/>
          </a:xfrm>
          <a:prstGeom prst="roundRect">
            <a:avLst>
              <a:gd name="adj" fmla="val 6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92240" y="1380744"/>
            <a:ext cx="5056631" cy="4709160"/>
          </a:xfrm>
          <a:prstGeom prst="rect">
            <a:avLst/>
          </a:prstGeom>
          <a:noFill/>
        </p:spPr>
        <p:txBody>
          <a:bodyPr wrap="square" lIns="45720" rIns="45720" anchor="t"/>
          <a:lstStyle/>
          <a:p>
            <a:r>
              <a:rPr sz="1200" b="1" i="0">
                <a:solidFill>
                  <a:srgbClr val="2F7F80"/>
                </a:solidFill>
                <a:latin typeface="Calibri"/>
              </a:rPr>
              <a:t>SƠ LƯỢC HÌNH THÀNH VÀ PHÁT TRIỂN</a:t>
            </a:r>
          </a:p>
          <a:p>
            <a:pPr>
              <a:spcBef>
                <a:spcPts val="300"/>
              </a:spcBef>
              <a:spcAft>
                <a:spcPts val="600"/>
              </a:spcAft>
            </a:pPr>
            <a:r>
              <a:rPr sz="1900" b="1" i="0">
                <a:solidFill>
                  <a:srgbClr val="20242B"/>
                </a:solidFill>
                <a:latin typeface="Calibri"/>
              </a:rPr>
              <a:t>Thành lập năm 2014</a:t>
            </a:r>
          </a:p>
          <a:p>
            <a:pPr marL="256032" indent="-256032">
              <a:spcAft>
                <a:spcPts val="500"/>
              </a:spcAft>
              <a:buClr>
                <a:srgbClr val="4FA6A6"/>
              </a:buClr>
              <a:buFont typeface="Arial"/>
              <a:buChar char="•"/>
            </a:pPr>
            <a:r>
              <a:rPr sz="1500" b="0" i="0">
                <a:solidFill>
                  <a:srgbClr val="20242B"/>
                </a:solidFill>
                <a:latin typeface="Calibri"/>
              </a:rPr>
              <a:t>Do những người Việt Nam trẻ tuổi, sáng tạo, nhiệt huyết với công nghệ thành lập.</a:t>
            </a:r>
          </a:p>
          <a:p>
            <a:pPr marL="256032" indent="-256032">
              <a:spcAft>
                <a:spcPts val="500"/>
              </a:spcAft>
              <a:buClr>
                <a:srgbClr val="4FA6A6"/>
              </a:buClr>
              <a:buFont typeface="Arial"/>
              <a:buChar char="•"/>
            </a:pPr>
            <a:r>
              <a:rPr sz="1500" b="0" i="0">
                <a:solidFill>
                  <a:srgbClr val="20242B"/>
                </a:solidFill>
                <a:latin typeface="Calibri"/>
              </a:rPr>
              <a:t>Hoạt động trong lĩnh vực công nghệ thông tin: sản phẩm, dịch vụ và giải pháp phần mềm, Internet.</a:t>
            </a:r>
          </a:p>
          <a:p>
            <a:pPr marL="256032" indent="-256032">
              <a:spcAft>
                <a:spcPts val="500"/>
              </a:spcAft>
              <a:buClr>
                <a:srgbClr val="4FA6A6"/>
              </a:buClr>
              <a:buFont typeface="Arial"/>
              <a:buChar char="•"/>
            </a:pPr>
            <a:r>
              <a:rPr sz="1500" b="0" i="0">
                <a:solidFill>
                  <a:srgbClr val="20242B"/>
                </a:solidFill>
                <a:latin typeface="Calibri"/>
              </a:rPr>
              <a:t>Từng bước phát triển dịch vụ lập trình, xây dựng và quản trị website, phát triển ứng dụng.</a:t>
            </a:r>
          </a:p>
          <a:p>
            <a:pPr marL="256032" indent="-256032">
              <a:spcAft>
                <a:spcPts val="500"/>
              </a:spcAft>
              <a:buClr>
                <a:srgbClr val="4FA6A6"/>
              </a:buClr>
              <a:buFont typeface="Arial"/>
              <a:buChar char="•"/>
            </a:pPr>
            <a:r>
              <a:rPr sz="1500" b="0" i="0">
                <a:solidFill>
                  <a:srgbClr val="20242B"/>
                </a:solidFill>
                <a:latin typeface="Calibri"/>
              </a:rPr>
              <a:t>Chú trọng cả quá trình làm sản phẩm: phân tích yêu cầu, thiết kế, lập trình, kiểm tra, bảo trì và hỗ trợ sau bàn giao.</a:t>
            </a:r>
          </a:p>
          <a:p>
            <a:pPr marL="256032" indent="-256032">
              <a:spcAft>
                <a:spcPts val="500"/>
              </a:spcAft>
              <a:buClr>
                <a:srgbClr val="4FA6A6"/>
              </a:buClr>
              <a:buFont typeface="Arial"/>
              <a:buChar char="•"/>
            </a:pPr>
            <a:r>
              <a:rPr sz="1500" b="0" i="0">
                <a:solidFill>
                  <a:srgbClr val="20242B"/>
                </a:solidFill>
                <a:latin typeface="Calibri"/>
              </a:rPr>
              <a:t>Cung cấp thêm quảng cáo trực tuyến, SEO, hosting, tên miền và quản trị website.</a:t>
            </a:r>
          </a:p>
        </p:txBody>
      </p:sp>
      <p:sp>
        <p:nvSpPr>
          <p:cNvPr id="25" name="TextBox 24"/>
          <p:cNvSpPr txBox="1"/>
          <p:nvPr/>
        </p:nvSpPr>
        <p:spPr>
          <a:xfrm>
            <a:off x="10332720" y="6492240"/>
            <a:ext cx="1399032" cy="274320"/>
          </a:xfrm>
          <a:prstGeom prst="rect">
            <a:avLst/>
          </a:prstGeom>
          <a:noFill/>
        </p:spPr>
        <p:txBody>
          <a:bodyPr wrap="square" lIns="45720" rIns="45720" anchor="t"/>
          <a:lstStyle/>
          <a:p>
            <a:pPr algn="r"/>
            <a:r>
              <a:rPr sz="1100" b="0" i="0">
                <a:solidFill>
                  <a:srgbClr val="5B6370"/>
                </a:solidFill>
                <a:latin typeface="Calibri"/>
              </a:rPr>
              <a:t>3 / 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4F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
            <a:ext cx="8229600" cy="274320"/>
          </a:xfrm>
          <a:prstGeom prst="rect">
            <a:avLst/>
          </a:prstGeom>
          <a:noFill/>
        </p:spPr>
        <p:txBody>
          <a:bodyPr wrap="square" lIns="45720" rIns="45720" anchor="t"/>
          <a:lstStyle/>
          <a:p>
            <a:pPr algn="l"/>
            <a:r>
              <a:rPr sz="1200" b="1" i="0">
                <a:solidFill>
                  <a:srgbClr val="2F7F80"/>
                </a:solidFill>
                <a:latin typeface="Calibri"/>
              </a:rPr>
              <a:t>01 · GIỚI THIỆU ĐƠN VỊ THỰC TẬP</a:t>
            </a:r>
          </a:p>
        </p:txBody>
      </p:sp>
      <p:sp>
        <p:nvSpPr>
          <p:cNvPr id="4" name="TextBox 3"/>
          <p:cNvSpPr txBox="1"/>
          <p:nvPr/>
        </p:nvSpPr>
        <p:spPr>
          <a:xfrm>
            <a:off x="457200" y="457200"/>
            <a:ext cx="11247120" cy="566928"/>
          </a:xfrm>
          <a:prstGeom prst="rect">
            <a:avLst/>
          </a:prstGeom>
          <a:noFill/>
        </p:spPr>
        <p:txBody>
          <a:bodyPr wrap="square" lIns="45720" rIns="45720" anchor="t"/>
          <a:lstStyle/>
          <a:p>
            <a:pPr algn="l"/>
            <a:r>
              <a:rPr sz="2800" b="1" i="0">
                <a:solidFill>
                  <a:srgbClr val="20242B"/>
                </a:solidFill>
                <a:latin typeface="Calibri"/>
              </a:rPr>
              <a:t>Lĩnh vực hoạt động và quy trình làm sản phẩm</a:t>
            </a:r>
          </a:p>
        </p:txBody>
      </p:sp>
      <p:cxnSp>
        <p:nvCxnSpPr>
          <p:cNvPr id="5" name="Connector 4"/>
          <p:cNvCxnSpPr/>
          <p:nvPr/>
        </p:nvCxnSpPr>
        <p:spPr>
          <a:xfrm>
            <a:off x="457200" y="6446520"/>
            <a:ext cx="11274552" cy="0"/>
          </a:xfrm>
          <a:prstGeom prst="line">
            <a:avLst/>
          </a:prstGeom>
          <a:ln w="9525">
            <a:solidFill>
              <a:srgbClr val="D9DEE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92240"/>
            <a:ext cx="8229600" cy="274320"/>
          </a:xfrm>
          <a:prstGeom prst="rect">
            <a:avLst/>
          </a:prstGeom>
          <a:noFill/>
        </p:spPr>
        <p:txBody>
          <a:bodyPr wrap="square" lIns="45720" rIns="45720" anchor="t"/>
          <a:lstStyle/>
          <a:p>
            <a:pPr algn="l"/>
            <a:r>
              <a:rPr sz="1100" b="0" i="0">
                <a:solidFill>
                  <a:srgbClr val="5B6370"/>
                </a:solidFill>
                <a:latin typeface="Calibri"/>
              </a:rPr>
              <a:t>Trần Anh Khoa  ·  Báo cáo thực tập tốt nghiệp  ·  Website Printuz</a:t>
            </a:r>
          </a:p>
        </p:txBody>
      </p:sp>
      <p:sp>
        <p:nvSpPr>
          <p:cNvPr id="7" name="Rounded Rectangle 6"/>
          <p:cNvSpPr/>
          <p:nvPr/>
        </p:nvSpPr>
        <p:spPr>
          <a:xfrm>
            <a:off x="457200" y="1280160"/>
            <a:ext cx="2670048" cy="1207008"/>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408176"/>
            <a:ext cx="2423160" cy="365760"/>
          </a:xfrm>
          <a:prstGeom prst="rect">
            <a:avLst/>
          </a:prstGeom>
          <a:noFill/>
        </p:spPr>
        <p:txBody>
          <a:bodyPr wrap="square" lIns="45720" rIns="45720" anchor="t"/>
          <a:lstStyle/>
          <a:p>
            <a:pPr algn="l"/>
            <a:r>
              <a:rPr sz="1600" b="1" i="0">
                <a:solidFill>
                  <a:srgbClr val="20242B"/>
                </a:solidFill>
                <a:latin typeface="Calibri"/>
              </a:rPr>
              <a:t>Lập trình website</a:t>
            </a:r>
          </a:p>
        </p:txBody>
      </p:sp>
      <p:sp>
        <p:nvSpPr>
          <p:cNvPr id="9" name="TextBox 8"/>
          <p:cNvSpPr txBox="1"/>
          <p:nvPr/>
        </p:nvSpPr>
        <p:spPr>
          <a:xfrm>
            <a:off x="594360" y="1810512"/>
            <a:ext cx="2423160" cy="640080"/>
          </a:xfrm>
          <a:prstGeom prst="rect">
            <a:avLst/>
          </a:prstGeom>
          <a:noFill/>
        </p:spPr>
        <p:txBody>
          <a:bodyPr wrap="square" lIns="45720" rIns="45720" anchor="t"/>
          <a:lstStyle/>
          <a:p>
            <a:pPr algn="l"/>
            <a:r>
              <a:rPr sz="1300" b="0" i="0">
                <a:solidFill>
                  <a:srgbClr val="5B6370"/>
                </a:solidFill>
                <a:latin typeface="Calibri"/>
              </a:rPr>
              <a:t>Xây dựng website theo yêu cầu khách hàng</a:t>
            </a:r>
          </a:p>
        </p:txBody>
      </p:sp>
      <p:sp>
        <p:nvSpPr>
          <p:cNvPr id="10" name="Rounded Rectangle 9"/>
          <p:cNvSpPr/>
          <p:nvPr/>
        </p:nvSpPr>
        <p:spPr>
          <a:xfrm>
            <a:off x="3291840" y="1280160"/>
            <a:ext cx="2670048" cy="1207008"/>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29000" y="1408176"/>
            <a:ext cx="2423160" cy="365760"/>
          </a:xfrm>
          <a:prstGeom prst="rect">
            <a:avLst/>
          </a:prstGeom>
          <a:noFill/>
        </p:spPr>
        <p:txBody>
          <a:bodyPr wrap="square" lIns="45720" rIns="45720" anchor="t"/>
          <a:lstStyle/>
          <a:p>
            <a:pPr algn="l"/>
            <a:r>
              <a:rPr sz="1600" b="1" i="0">
                <a:solidFill>
                  <a:srgbClr val="20242B"/>
                </a:solidFill>
                <a:latin typeface="Calibri"/>
              </a:rPr>
              <a:t>Android, iOS, WebApp</a:t>
            </a:r>
          </a:p>
        </p:txBody>
      </p:sp>
      <p:sp>
        <p:nvSpPr>
          <p:cNvPr id="12" name="TextBox 11"/>
          <p:cNvSpPr txBox="1"/>
          <p:nvPr/>
        </p:nvSpPr>
        <p:spPr>
          <a:xfrm>
            <a:off x="3429000" y="1810512"/>
            <a:ext cx="2423160" cy="640080"/>
          </a:xfrm>
          <a:prstGeom prst="rect">
            <a:avLst/>
          </a:prstGeom>
          <a:noFill/>
        </p:spPr>
        <p:txBody>
          <a:bodyPr wrap="square" lIns="45720" rIns="45720" anchor="t"/>
          <a:lstStyle/>
          <a:p>
            <a:pPr algn="l"/>
            <a:r>
              <a:rPr sz="1300" b="0" i="0">
                <a:solidFill>
                  <a:srgbClr val="5B6370"/>
                </a:solidFill>
                <a:latin typeface="Calibri"/>
              </a:rPr>
              <a:t>Ứng dụng di động và ứng dụng chạy trên web</a:t>
            </a:r>
          </a:p>
        </p:txBody>
      </p:sp>
      <p:sp>
        <p:nvSpPr>
          <p:cNvPr id="13" name="Rounded Rectangle 12"/>
          <p:cNvSpPr/>
          <p:nvPr/>
        </p:nvSpPr>
        <p:spPr>
          <a:xfrm>
            <a:off x="6126480" y="1280160"/>
            <a:ext cx="2670048" cy="1207008"/>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3640" y="1408176"/>
            <a:ext cx="2423160" cy="365760"/>
          </a:xfrm>
          <a:prstGeom prst="rect">
            <a:avLst/>
          </a:prstGeom>
          <a:noFill/>
        </p:spPr>
        <p:txBody>
          <a:bodyPr wrap="square" lIns="45720" rIns="45720" anchor="t"/>
          <a:lstStyle/>
          <a:p>
            <a:pPr algn="l"/>
            <a:r>
              <a:rPr sz="1600" b="1" i="0">
                <a:solidFill>
                  <a:srgbClr val="20242B"/>
                </a:solidFill>
                <a:latin typeface="Calibri"/>
              </a:rPr>
              <a:t>Website 60s</a:t>
            </a:r>
          </a:p>
        </p:txBody>
      </p:sp>
      <p:sp>
        <p:nvSpPr>
          <p:cNvPr id="15" name="TextBox 14"/>
          <p:cNvSpPr txBox="1"/>
          <p:nvPr/>
        </p:nvSpPr>
        <p:spPr>
          <a:xfrm>
            <a:off x="6263640" y="1810512"/>
            <a:ext cx="2423160" cy="640080"/>
          </a:xfrm>
          <a:prstGeom prst="rect">
            <a:avLst/>
          </a:prstGeom>
          <a:noFill/>
        </p:spPr>
        <p:txBody>
          <a:bodyPr wrap="square" lIns="45720" rIns="45720" anchor="t"/>
          <a:lstStyle/>
          <a:p>
            <a:pPr algn="l"/>
            <a:r>
              <a:rPr sz="1300" b="0" i="0">
                <a:solidFill>
                  <a:srgbClr val="5B6370"/>
                </a:solidFill>
                <a:latin typeface="Calibri"/>
              </a:rPr>
              <a:t>Website triển khai nhanh cho nhu cầu cơ bản</a:t>
            </a:r>
          </a:p>
        </p:txBody>
      </p:sp>
      <p:sp>
        <p:nvSpPr>
          <p:cNvPr id="16" name="Rounded Rectangle 15"/>
          <p:cNvSpPr/>
          <p:nvPr/>
        </p:nvSpPr>
        <p:spPr>
          <a:xfrm>
            <a:off x="8961120" y="1280160"/>
            <a:ext cx="2670048" cy="1207008"/>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098280" y="1408176"/>
            <a:ext cx="2423160" cy="365760"/>
          </a:xfrm>
          <a:prstGeom prst="rect">
            <a:avLst/>
          </a:prstGeom>
          <a:noFill/>
        </p:spPr>
        <p:txBody>
          <a:bodyPr wrap="square" lIns="45720" rIns="45720" anchor="t"/>
          <a:lstStyle/>
          <a:p>
            <a:pPr algn="l"/>
            <a:r>
              <a:rPr sz="1600" b="1" i="0">
                <a:solidFill>
                  <a:srgbClr val="20242B"/>
                </a:solidFill>
                <a:latin typeface="Calibri"/>
              </a:rPr>
              <a:t>Quản trị website, fanpage</a:t>
            </a:r>
          </a:p>
        </p:txBody>
      </p:sp>
      <p:sp>
        <p:nvSpPr>
          <p:cNvPr id="18" name="TextBox 17"/>
          <p:cNvSpPr txBox="1"/>
          <p:nvPr/>
        </p:nvSpPr>
        <p:spPr>
          <a:xfrm>
            <a:off x="9098280" y="1810512"/>
            <a:ext cx="2423160" cy="640080"/>
          </a:xfrm>
          <a:prstGeom prst="rect">
            <a:avLst/>
          </a:prstGeom>
          <a:noFill/>
        </p:spPr>
        <p:txBody>
          <a:bodyPr wrap="square" lIns="45720" rIns="45720" anchor="t"/>
          <a:lstStyle/>
          <a:p>
            <a:pPr algn="l"/>
            <a:r>
              <a:rPr sz="1300" b="0" i="0">
                <a:solidFill>
                  <a:srgbClr val="5B6370"/>
                </a:solidFill>
                <a:latin typeface="Calibri"/>
              </a:rPr>
              <a:t>Cập nhật, duy trì nội dung</a:t>
            </a:r>
          </a:p>
        </p:txBody>
      </p:sp>
      <p:sp>
        <p:nvSpPr>
          <p:cNvPr id="19" name="Rounded Rectangle 18"/>
          <p:cNvSpPr/>
          <p:nvPr/>
        </p:nvSpPr>
        <p:spPr>
          <a:xfrm>
            <a:off x="457200" y="2651760"/>
            <a:ext cx="2670048" cy="1207008"/>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4360" y="2779776"/>
            <a:ext cx="2423160" cy="365760"/>
          </a:xfrm>
          <a:prstGeom prst="rect">
            <a:avLst/>
          </a:prstGeom>
          <a:noFill/>
        </p:spPr>
        <p:txBody>
          <a:bodyPr wrap="square" lIns="45720" rIns="45720" anchor="t"/>
          <a:lstStyle/>
          <a:p>
            <a:pPr algn="l"/>
            <a:r>
              <a:rPr sz="1600" b="1" i="0">
                <a:solidFill>
                  <a:srgbClr val="20242B"/>
                </a:solidFill>
                <a:latin typeface="Calibri"/>
              </a:rPr>
              <a:t>Google Ads và SEO</a:t>
            </a:r>
          </a:p>
        </p:txBody>
      </p:sp>
      <p:sp>
        <p:nvSpPr>
          <p:cNvPr id="21" name="TextBox 20"/>
          <p:cNvSpPr txBox="1"/>
          <p:nvPr/>
        </p:nvSpPr>
        <p:spPr>
          <a:xfrm>
            <a:off x="594360" y="3182112"/>
            <a:ext cx="2423160" cy="640080"/>
          </a:xfrm>
          <a:prstGeom prst="rect">
            <a:avLst/>
          </a:prstGeom>
          <a:noFill/>
        </p:spPr>
        <p:txBody>
          <a:bodyPr wrap="square" lIns="45720" rIns="45720" anchor="t"/>
          <a:lstStyle/>
          <a:p>
            <a:pPr algn="l"/>
            <a:r>
              <a:rPr sz="1300" b="0" i="0">
                <a:solidFill>
                  <a:srgbClr val="5B6370"/>
                </a:solidFill>
                <a:latin typeface="Calibri"/>
              </a:rPr>
              <a:t>Quảng bá website trên công cụ tìm kiếm</a:t>
            </a:r>
          </a:p>
        </p:txBody>
      </p:sp>
      <p:sp>
        <p:nvSpPr>
          <p:cNvPr id="22" name="Rounded Rectangle 21"/>
          <p:cNvSpPr/>
          <p:nvPr/>
        </p:nvSpPr>
        <p:spPr>
          <a:xfrm>
            <a:off x="3291840" y="2651760"/>
            <a:ext cx="2670048" cy="1207008"/>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29000" y="2779776"/>
            <a:ext cx="2423160" cy="365760"/>
          </a:xfrm>
          <a:prstGeom prst="rect">
            <a:avLst/>
          </a:prstGeom>
          <a:noFill/>
        </p:spPr>
        <p:txBody>
          <a:bodyPr wrap="square" lIns="45720" rIns="45720" anchor="t"/>
          <a:lstStyle/>
          <a:p>
            <a:pPr algn="l"/>
            <a:r>
              <a:rPr sz="1600" b="1" i="0">
                <a:solidFill>
                  <a:srgbClr val="20242B"/>
                </a:solidFill>
                <a:latin typeface="Calibri"/>
              </a:rPr>
              <a:t>Quảng cáo Facebook</a:t>
            </a:r>
          </a:p>
        </p:txBody>
      </p:sp>
      <p:sp>
        <p:nvSpPr>
          <p:cNvPr id="24" name="TextBox 23"/>
          <p:cNvSpPr txBox="1"/>
          <p:nvPr/>
        </p:nvSpPr>
        <p:spPr>
          <a:xfrm>
            <a:off x="3429000" y="3182112"/>
            <a:ext cx="2423160" cy="640080"/>
          </a:xfrm>
          <a:prstGeom prst="rect">
            <a:avLst/>
          </a:prstGeom>
          <a:noFill/>
        </p:spPr>
        <p:txBody>
          <a:bodyPr wrap="square" lIns="45720" rIns="45720" anchor="t"/>
          <a:lstStyle/>
          <a:p>
            <a:pPr algn="l"/>
            <a:r>
              <a:rPr sz="1300" b="0" i="0">
                <a:solidFill>
                  <a:srgbClr val="5B6370"/>
                </a:solidFill>
                <a:latin typeface="Calibri"/>
              </a:rPr>
              <a:t>Triển khai quảng cáo trên Facebook</a:t>
            </a:r>
          </a:p>
        </p:txBody>
      </p:sp>
      <p:sp>
        <p:nvSpPr>
          <p:cNvPr id="25" name="Rounded Rectangle 24"/>
          <p:cNvSpPr/>
          <p:nvPr/>
        </p:nvSpPr>
        <p:spPr>
          <a:xfrm>
            <a:off x="6126480" y="2651760"/>
            <a:ext cx="2670048" cy="1207008"/>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63640" y="2779776"/>
            <a:ext cx="2423160" cy="365760"/>
          </a:xfrm>
          <a:prstGeom prst="rect">
            <a:avLst/>
          </a:prstGeom>
          <a:noFill/>
        </p:spPr>
        <p:txBody>
          <a:bodyPr wrap="square" lIns="45720" rIns="45720" anchor="t"/>
          <a:lstStyle/>
          <a:p>
            <a:pPr algn="l"/>
            <a:r>
              <a:rPr sz="1600" b="1" i="0">
                <a:solidFill>
                  <a:srgbClr val="20242B"/>
                </a:solidFill>
                <a:latin typeface="Calibri"/>
              </a:rPr>
              <a:t>Phát triển kênh</a:t>
            </a:r>
          </a:p>
        </p:txBody>
      </p:sp>
      <p:sp>
        <p:nvSpPr>
          <p:cNvPr id="27" name="TextBox 26"/>
          <p:cNvSpPr txBox="1"/>
          <p:nvPr/>
        </p:nvSpPr>
        <p:spPr>
          <a:xfrm>
            <a:off x="6263640" y="3182112"/>
            <a:ext cx="2423160" cy="640080"/>
          </a:xfrm>
          <a:prstGeom prst="rect">
            <a:avLst/>
          </a:prstGeom>
          <a:noFill/>
        </p:spPr>
        <p:txBody>
          <a:bodyPr wrap="square" lIns="45720" rIns="45720" anchor="t"/>
          <a:lstStyle/>
          <a:p>
            <a:pPr algn="l"/>
            <a:r>
              <a:rPr sz="1300" b="0" i="0">
                <a:solidFill>
                  <a:srgbClr val="5B6370"/>
                </a:solidFill>
                <a:latin typeface="Calibri"/>
              </a:rPr>
              <a:t>Tăng theo dõi fanpage, kênh YouTube</a:t>
            </a:r>
          </a:p>
        </p:txBody>
      </p:sp>
      <p:sp>
        <p:nvSpPr>
          <p:cNvPr id="28" name="Rounded Rectangle 27"/>
          <p:cNvSpPr/>
          <p:nvPr/>
        </p:nvSpPr>
        <p:spPr>
          <a:xfrm>
            <a:off x="8961120" y="2651760"/>
            <a:ext cx="2670048" cy="1207008"/>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098280" y="2779776"/>
            <a:ext cx="2423160" cy="365760"/>
          </a:xfrm>
          <a:prstGeom prst="rect">
            <a:avLst/>
          </a:prstGeom>
          <a:noFill/>
        </p:spPr>
        <p:txBody>
          <a:bodyPr wrap="square" lIns="45720" rIns="45720" anchor="t"/>
          <a:lstStyle/>
          <a:p>
            <a:pPr algn="l"/>
            <a:r>
              <a:rPr sz="1600" b="1" i="0">
                <a:solidFill>
                  <a:srgbClr val="20242B"/>
                </a:solidFill>
                <a:latin typeface="Calibri"/>
              </a:rPr>
              <a:t>Hosting và tên miền</a:t>
            </a:r>
          </a:p>
        </p:txBody>
      </p:sp>
      <p:sp>
        <p:nvSpPr>
          <p:cNvPr id="30" name="TextBox 29"/>
          <p:cNvSpPr txBox="1"/>
          <p:nvPr/>
        </p:nvSpPr>
        <p:spPr>
          <a:xfrm>
            <a:off x="9098280" y="3182112"/>
            <a:ext cx="2423160" cy="640080"/>
          </a:xfrm>
          <a:prstGeom prst="rect">
            <a:avLst/>
          </a:prstGeom>
          <a:noFill/>
        </p:spPr>
        <p:txBody>
          <a:bodyPr wrap="square" lIns="45720" rIns="45720" anchor="t"/>
          <a:lstStyle/>
          <a:p>
            <a:pPr algn="l"/>
            <a:r>
              <a:rPr sz="1300" b="0" i="0">
                <a:solidFill>
                  <a:srgbClr val="5B6370"/>
                </a:solidFill>
                <a:latin typeface="Calibri"/>
              </a:rPr>
              <a:t>Lưu trữ website và tên miền</a:t>
            </a:r>
          </a:p>
        </p:txBody>
      </p:sp>
      <p:sp>
        <p:nvSpPr>
          <p:cNvPr id="31" name="TextBox 30"/>
          <p:cNvSpPr txBox="1"/>
          <p:nvPr/>
        </p:nvSpPr>
        <p:spPr>
          <a:xfrm>
            <a:off x="457200" y="4160520"/>
            <a:ext cx="8229600" cy="274320"/>
          </a:xfrm>
          <a:prstGeom prst="rect">
            <a:avLst/>
          </a:prstGeom>
          <a:noFill/>
        </p:spPr>
        <p:txBody>
          <a:bodyPr wrap="square" lIns="45720" rIns="45720" anchor="t"/>
          <a:lstStyle/>
          <a:p>
            <a:pPr algn="l"/>
            <a:r>
              <a:rPr sz="1200" b="1" i="0">
                <a:solidFill>
                  <a:srgbClr val="2F7F80"/>
                </a:solidFill>
                <a:latin typeface="Calibri"/>
              </a:rPr>
              <a:t>QUY TRÌNH PHÁT TRIỂN PHẦN MỀM VÀ WEBSITE</a:t>
            </a:r>
          </a:p>
        </p:txBody>
      </p:sp>
      <p:sp>
        <p:nvSpPr>
          <p:cNvPr id="32" name="Pentagon 31"/>
          <p:cNvSpPr/>
          <p:nvPr/>
        </p:nvSpPr>
        <p:spPr>
          <a:xfrm>
            <a:off x="457200" y="4526280"/>
            <a:ext cx="2342692" cy="777240"/>
          </a:xfrm>
          <a:prstGeom prst="homePlate">
            <a:avLst/>
          </a:prstGeom>
          <a:solidFill>
            <a:srgbClr val="4FA6A6"/>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700" b="1" i="0">
                <a:solidFill>
                  <a:srgbClr val="FFFFFF"/>
                </a:solidFill>
                <a:latin typeface="Calibri"/>
              </a:rPr>
              <a:t>Phân tích</a:t>
            </a:r>
          </a:p>
        </p:txBody>
      </p:sp>
      <p:sp>
        <p:nvSpPr>
          <p:cNvPr id="33" name="Chevron 32"/>
          <p:cNvSpPr/>
          <p:nvPr/>
        </p:nvSpPr>
        <p:spPr>
          <a:xfrm>
            <a:off x="2690164" y="4526280"/>
            <a:ext cx="2342692" cy="777240"/>
          </a:xfrm>
          <a:prstGeom prst="chevron">
            <a:avLst/>
          </a:prstGeom>
          <a:solidFill>
            <a:srgbClr val="2F7F80"/>
          </a:solidFill>
          <a:ln>
            <a:noFill/>
          </a:ln>
          <a:effectLst/>
        </p:spPr>
        <p:style>
          <a:lnRef idx="1">
            <a:schemeClr val="accent1"/>
          </a:lnRef>
          <a:fillRef idx="3">
            <a:schemeClr val="accent1"/>
          </a:fillRef>
          <a:effectRef idx="2">
            <a:schemeClr val="accent1"/>
          </a:effectRef>
          <a:fontRef idx="minor">
            <a:schemeClr val="lt1"/>
          </a:fontRef>
        </p:style>
        <p:txBody>
          <a:bodyPr wrap="square" lIns="228600" rIns="109728" rtlCol="0" anchor="ctr"/>
          <a:lstStyle/>
          <a:p>
            <a:pPr algn="ctr"/>
            <a:r>
              <a:rPr sz="1700" b="1" i="0">
                <a:solidFill>
                  <a:srgbClr val="FFFFFF"/>
                </a:solidFill>
                <a:latin typeface="Calibri"/>
              </a:rPr>
              <a:t>Thiết kế</a:t>
            </a:r>
          </a:p>
        </p:txBody>
      </p:sp>
      <p:sp>
        <p:nvSpPr>
          <p:cNvPr id="34" name="Chevron 33"/>
          <p:cNvSpPr/>
          <p:nvPr/>
        </p:nvSpPr>
        <p:spPr>
          <a:xfrm>
            <a:off x="4923129" y="4526280"/>
            <a:ext cx="2342692" cy="777240"/>
          </a:xfrm>
          <a:prstGeom prst="chevron">
            <a:avLst/>
          </a:prstGeom>
          <a:solidFill>
            <a:srgbClr val="4FA6A6"/>
          </a:solidFill>
          <a:ln>
            <a:noFill/>
          </a:ln>
          <a:effectLst/>
        </p:spPr>
        <p:style>
          <a:lnRef idx="1">
            <a:schemeClr val="accent1"/>
          </a:lnRef>
          <a:fillRef idx="3">
            <a:schemeClr val="accent1"/>
          </a:fillRef>
          <a:effectRef idx="2">
            <a:schemeClr val="accent1"/>
          </a:effectRef>
          <a:fontRef idx="minor">
            <a:schemeClr val="lt1"/>
          </a:fontRef>
        </p:style>
        <p:txBody>
          <a:bodyPr wrap="square" lIns="228600" rIns="109728" rtlCol="0" anchor="ctr"/>
          <a:lstStyle/>
          <a:p>
            <a:pPr algn="ctr"/>
            <a:r>
              <a:rPr sz="1700" b="1" i="0">
                <a:solidFill>
                  <a:srgbClr val="FFFFFF"/>
                </a:solidFill>
                <a:latin typeface="Calibri"/>
              </a:rPr>
              <a:t>Lập trình</a:t>
            </a:r>
          </a:p>
        </p:txBody>
      </p:sp>
      <p:sp>
        <p:nvSpPr>
          <p:cNvPr id="35" name="Chevron 34"/>
          <p:cNvSpPr/>
          <p:nvPr/>
        </p:nvSpPr>
        <p:spPr>
          <a:xfrm>
            <a:off x="7156094" y="4526280"/>
            <a:ext cx="2342692" cy="777240"/>
          </a:xfrm>
          <a:prstGeom prst="chevron">
            <a:avLst/>
          </a:prstGeom>
          <a:solidFill>
            <a:srgbClr val="2F7F80"/>
          </a:solidFill>
          <a:ln>
            <a:noFill/>
          </a:ln>
          <a:effectLst/>
        </p:spPr>
        <p:style>
          <a:lnRef idx="1">
            <a:schemeClr val="accent1"/>
          </a:lnRef>
          <a:fillRef idx="3">
            <a:schemeClr val="accent1"/>
          </a:fillRef>
          <a:effectRef idx="2">
            <a:schemeClr val="accent1"/>
          </a:effectRef>
          <a:fontRef idx="minor">
            <a:schemeClr val="lt1"/>
          </a:fontRef>
        </p:style>
        <p:txBody>
          <a:bodyPr wrap="square" lIns="228600" rIns="109728" rtlCol="0" anchor="ctr"/>
          <a:lstStyle/>
          <a:p>
            <a:pPr algn="ctr"/>
            <a:r>
              <a:rPr sz="1700" b="1" i="0">
                <a:solidFill>
                  <a:srgbClr val="FFFFFF"/>
                </a:solidFill>
                <a:latin typeface="Calibri"/>
              </a:rPr>
              <a:t>Kiểm tra</a:t>
            </a:r>
          </a:p>
        </p:txBody>
      </p:sp>
      <p:sp>
        <p:nvSpPr>
          <p:cNvPr id="36" name="Chevron 35"/>
          <p:cNvSpPr/>
          <p:nvPr/>
        </p:nvSpPr>
        <p:spPr>
          <a:xfrm>
            <a:off x="9389059" y="4526280"/>
            <a:ext cx="2342692" cy="777240"/>
          </a:xfrm>
          <a:prstGeom prst="chevron">
            <a:avLst/>
          </a:prstGeom>
          <a:solidFill>
            <a:srgbClr val="4FA6A6"/>
          </a:solidFill>
          <a:ln>
            <a:noFill/>
          </a:ln>
          <a:effectLst/>
        </p:spPr>
        <p:style>
          <a:lnRef idx="1">
            <a:schemeClr val="accent1"/>
          </a:lnRef>
          <a:fillRef idx="3">
            <a:schemeClr val="accent1"/>
          </a:fillRef>
          <a:effectRef idx="2">
            <a:schemeClr val="accent1"/>
          </a:effectRef>
          <a:fontRef idx="minor">
            <a:schemeClr val="lt1"/>
          </a:fontRef>
        </p:style>
        <p:txBody>
          <a:bodyPr wrap="square" lIns="228600" rIns="109728" rtlCol="0" anchor="ctr"/>
          <a:lstStyle/>
          <a:p>
            <a:pPr algn="ctr"/>
            <a:r>
              <a:rPr sz="1700" b="1" i="0">
                <a:solidFill>
                  <a:srgbClr val="FFFFFF"/>
                </a:solidFill>
                <a:latin typeface="Calibri"/>
              </a:rPr>
              <a:t>Bảo trì</a:t>
            </a:r>
          </a:p>
        </p:txBody>
      </p:sp>
      <p:sp>
        <p:nvSpPr>
          <p:cNvPr id="37" name="TextBox 36"/>
          <p:cNvSpPr txBox="1"/>
          <p:nvPr/>
        </p:nvSpPr>
        <p:spPr>
          <a:xfrm>
            <a:off x="457200" y="5486400"/>
            <a:ext cx="11247120" cy="548640"/>
          </a:xfrm>
          <a:prstGeom prst="rect">
            <a:avLst/>
          </a:prstGeom>
          <a:noFill/>
        </p:spPr>
        <p:txBody>
          <a:bodyPr wrap="square" lIns="45720" rIns="45720" anchor="t"/>
          <a:lstStyle/>
          <a:p>
            <a:pPr algn="l"/>
            <a:r>
              <a:rPr sz="1500" b="0" i="0">
                <a:solidFill>
                  <a:srgbClr val="5B6370"/>
                </a:solidFill>
                <a:latin typeface="Calibri"/>
              </a:rPr>
              <a:t>Công việc chia theo từng giai đoạn, nên dễ kiểm tra và điều chỉnh sản phẩm trước và sau khi bàn giao cho khách hàng.</a:t>
            </a:r>
          </a:p>
        </p:txBody>
      </p:sp>
      <p:sp>
        <p:nvSpPr>
          <p:cNvPr id="38" name="TextBox 37"/>
          <p:cNvSpPr txBox="1"/>
          <p:nvPr/>
        </p:nvSpPr>
        <p:spPr>
          <a:xfrm>
            <a:off x="10332720" y="6492240"/>
            <a:ext cx="1399032" cy="274320"/>
          </a:xfrm>
          <a:prstGeom prst="rect">
            <a:avLst/>
          </a:prstGeom>
          <a:noFill/>
        </p:spPr>
        <p:txBody>
          <a:bodyPr wrap="square" lIns="45720" rIns="45720" anchor="t"/>
          <a:lstStyle/>
          <a:p>
            <a:pPr algn="r"/>
            <a:r>
              <a:rPr sz="1100" b="0" i="0">
                <a:solidFill>
                  <a:srgbClr val="5B6370"/>
                </a:solidFill>
                <a:latin typeface="Calibri"/>
              </a:rPr>
              <a:t>4 / 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4F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
            <a:ext cx="8229600" cy="274320"/>
          </a:xfrm>
          <a:prstGeom prst="rect">
            <a:avLst/>
          </a:prstGeom>
          <a:noFill/>
        </p:spPr>
        <p:txBody>
          <a:bodyPr wrap="square" lIns="45720" rIns="45720" anchor="t"/>
          <a:lstStyle/>
          <a:p>
            <a:pPr algn="l"/>
            <a:r>
              <a:rPr sz="1200" b="1" i="0">
                <a:solidFill>
                  <a:srgbClr val="2F7F80"/>
                </a:solidFill>
                <a:latin typeface="Calibri"/>
              </a:rPr>
              <a:t>01 · GIỚI THIỆU ĐƠN VỊ THỰC TẬP</a:t>
            </a:r>
          </a:p>
        </p:txBody>
      </p:sp>
      <p:sp>
        <p:nvSpPr>
          <p:cNvPr id="4" name="TextBox 3"/>
          <p:cNvSpPr txBox="1"/>
          <p:nvPr/>
        </p:nvSpPr>
        <p:spPr>
          <a:xfrm>
            <a:off x="457200" y="457200"/>
            <a:ext cx="11247120" cy="566928"/>
          </a:xfrm>
          <a:prstGeom prst="rect">
            <a:avLst/>
          </a:prstGeom>
          <a:noFill/>
        </p:spPr>
        <p:txBody>
          <a:bodyPr wrap="square" lIns="45720" rIns="45720" anchor="t"/>
          <a:lstStyle/>
          <a:p>
            <a:pPr algn="l"/>
            <a:r>
              <a:rPr sz="2800" b="1" i="0">
                <a:solidFill>
                  <a:srgbClr val="20242B"/>
                </a:solidFill>
                <a:latin typeface="Calibri"/>
              </a:rPr>
              <a:t>Tổ chức quản lý và cơ cấu tổ chức</a:t>
            </a:r>
          </a:p>
        </p:txBody>
      </p:sp>
      <p:cxnSp>
        <p:nvCxnSpPr>
          <p:cNvPr id="5" name="Connector 4"/>
          <p:cNvCxnSpPr/>
          <p:nvPr/>
        </p:nvCxnSpPr>
        <p:spPr>
          <a:xfrm>
            <a:off x="457200" y="6446520"/>
            <a:ext cx="11274552" cy="0"/>
          </a:xfrm>
          <a:prstGeom prst="line">
            <a:avLst/>
          </a:prstGeom>
          <a:ln w="9525">
            <a:solidFill>
              <a:srgbClr val="D9DEE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92240"/>
            <a:ext cx="8229600" cy="274320"/>
          </a:xfrm>
          <a:prstGeom prst="rect">
            <a:avLst/>
          </a:prstGeom>
          <a:noFill/>
        </p:spPr>
        <p:txBody>
          <a:bodyPr wrap="square" lIns="45720" rIns="45720" anchor="t"/>
          <a:lstStyle/>
          <a:p>
            <a:pPr algn="l"/>
            <a:r>
              <a:rPr sz="1100" b="0" i="0">
                <a:solidFill>
                  <a:srgbClr val="5B6370"/>
                </a:solidFill>
                <a:latin typeface="Calibri"/>
              </a:rPr>
              <a:t>Trần Anh Khoa  ·  Báo cáo thực tập tốt nghiệp  ·  Website Printuz</a:t>
            </a:r>
          </a:p>
        </p:txBody>
      </p:sp>
      <p:sp>
        <p:nvSpPr>
          <p:cNvPr id="7" name="Rounded Rectangle 6"/>
          <p:cNvSpPr/>
          <p:nvPr/>
        </p:nvSpPr>
        <p:spPr>
          <a:xfrm>
            <a:off x="457200" y="1234440"/>
            <a:ext cx="6400800" cy="4983480"/>
          </a:xfrm>
          <a:prstGeom prst="roundRect">
            <a:avLst>
              <a:gd name="adj" fmla="val 6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514600" y="1463040"/>
            <a:ext cx="2286000" cy="731520"/>
          </a:xfrm>
          <a:prstGeom prst="roundRect">
            <a:avLst>
              <a:gd name="adj" fmla="val 12000"/>
            </a:avLst>
          </a:prstGeom>
          <a:solidFill>
            <a:srgbClr val="4FA6A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i="0">
                <a:solidFill>
                  <a:srgbClr val="FFFFFF"/>
                </a:solidFill>
                <a:latin typeface="Calibri"/>
              </a:rPr>
              <a:t>Giám đốc</a:t>
            </a:r>
          </a:p>
          <a:p>
            <a:pPr algn="ctr"/>
            <a:r>
              <a:rPr sz="1100" b="0" i="0">
                <a:solidFill>
                  <a:srgbClr val="FFFFFF"/>
                </a:solidFill>
                <a:latin typeface="Calibri"/>
              </a:rPr>
              <a:t>Định hướng chung</a:t>
            </a:r>
          </a:p>
        </p:txBody>
      </p:sp>
      <p:cxnSp>
        <p:nvCxnSpPr>
          <p:cNvPr id="9" name="Connector 8"/>
          <p:cNvCxnSpPr/>
          <p:nvPr/>
        </p:nvCxnSpPr>
        <p:spPr>
          <a:xfrm>
            <a:off x="3657600" y="2194560"/>
            <a:ext cx="0" cy="365760"/>
          </a:xfrm>
          <a:prstGeom prst="line">
            <a:avLst/>
          </a:prstGeom>
          <a:ln w="19050">
            <a:solidFill>
              <a:srgbClr val="4FA6A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508760" y="2560320"/>
            <a:ext cx="4297680" cy="0"/>
          </a:xfrm>
          <a:prstGeom prst="line">
            <a:avLst/>
          </a:prstGeom>
          <a:ln w="19050">
            <a:solidFill>
              <a:srgbClr val="4FA6A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508760" y="2560320"/>
            <a:ext cx="0" cy="274320"/>
          </a:xfrm>
          <a:prstGeom prst="line">
            <a:avLst/>
          </a:prstGeom>
          <a:ln w="19050">
            <a:solidFill>
              <a:srgbClr val="4FA6A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657600" y="2560320"/>
            <a:ext cx="0" cy="274320"/>
          </a:xfrm>
          <a:prstGeom prst="line">
            <a:avLst/>
          </a:prstGeom>
          <a:ln w="19050">
            <a:solidFill>
              <a:srgbClr val="4FA6A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806440" y="2560320"/>
            <a:ext cx="0" cy="274320"/>
          </a:xfrm>
          <a:prstGeom prst="line">
            <a:avLst/>
          </a:prstGeom>
          <a:ln w="19050">
            <a:solidFill>
              <a:srgbClr val="4FA6A6"/>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85800" y="2834640"/>
            <a:ext cx="1645920" cy="731520"/>
          </a:xfrm>
          <a:prstGeom prst="roundRect">
            <a:avLst>
              <a:gd name="adj" fmla="val 12000"/>
            </a:avLst>
          </a:prstGeom>
          <a:solidFill>
            <a:srgbClr val="4FA6A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i="0">
                <a:solidFill>
                  <a:srgbClr val="FFFFFF"/>
                </a:solidFill>
                <a:latin typeface="Calibri"/>
              </a:rPr>
              <a:t>Trưởng nhóm</a:t>
            </a:r>
          </a:p>
          <a:p>
            <a:pPr algn="ctr"/>
            <a:r>
              <a:rPr sz="1100" b="0" i="0">
                <a:solidFill>
                  <a:srgbClr val="FFFFFF"/>
                </a:solidFill>
                <a:latin typeface="Calibri"/>
              </a:rPr>
              <a:t>Phân công kỹ thuật</a:t>
            </a:r>
          </a:p>
        </p:txBody>
      </p:sp>
      <p:sp>
        <p:nvSpPr>
          <p:cNvPr id="15" name="Rounded Rectangle 14"/>
          <p:cNvSpPr/>
          <p:nvPr/>
        </p:nvSpPr>
        <p:spPr>
          <a:xfrm>
            <a:off x="2834640" y="2834640"/>
            <a:ext cx="1645920" cy="731520"/>
          </a:xfrm>
          <a:prstGeom prst="roundRect">
            <a:avLst>
              <a:gd name="adj" fmla="val 12000"/>
            </a:avLst>
          </a:prstGeom>
          <a:solidFill>
            <a:srgbClr val="4FA6A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i="0">
                <a:solidFill>
                  <a:srgbClr val="FFFFFF"/>
                </a:solidFill>
                <a:latin typeface="Calibri"/>
              </a:rPr>
              <a:t>Kế toán</a:t>
            </a:r>
          </a:p>
          <a:p>
            <a:pPr algn="ctr"/>
            <a:r>
              <a:rPr sz="1100" b="0" i="0">
                <a:solidFill>
                  <a:srgbClr val="FFFFFF"/>
                </a:solidFill>
                <a:latin typeface="Calibri"/>
              </a:rPr>
              <a:t>Tài chính</a:t>
            </a:r>
          </a:p>
        </p:txBody>
      </p:sp>
      <p:sp>
        <p:nvSpPr>
          <p:cNvPr id="16" name="Rounded Rectangle 15"/>
          <p:cNvSpPr/>
          <p:nvPr/>
        </p:nvSpPr>
        <p:spPr>
          <a:xfrm>
            <a:off x="4983480" y="2834640"/>
            <a:ext cx="1645920" cy="731520"/>
          </a:xfrm>
          <a:prstGeom prst="roundRect">
            <a:avLst>
              <a:gd name="adj" fmla="val 12000"/>
            </a:avLst>
          </a:prstGeom>
          <a:solidFill>
            <a:srgbClr val="4FA6A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i="0">
                <a:solidFill>
                  <a:srgbClr val="FFFFFF"/>
                </a:solidFill>
                <a:latin typeface="Calibri"/>
              </a:rPr>
              <a:t>Kinh doanh</a:t>
            </a:r>
          </a:p>
          <a:p>
            <a:pPr algn="ctr"/>
            <a:r>
              <a:rPr sz="1100" b="0" i="0">
                <a:solidFill>
                  <a:srgbClr val="FFFFFF"/>
                </a:solidFill>
                <a:latin typeface="Calibri"/>
              </a:rPr>
              <a:t>Khách hàng, tư vấn</a:t>
            </a:r>
          </a:p>
        </p:txBody>
      </p:sp>
      <p:cxnSp>
        <p:nvCxnSpPr>
          <p:cNvPr id="17" name="Connector 16"/>
          <p:cNvCxnSpPr/>
          <p:nvPr/>
        </p:nvCxnSpPr>
        <p:spPr>
          <a:xfrm>
            <a:off x="1508760" y="3566160"/>
            <a:ext cx="0" cy="365760"/>
          </a:xfrm>
          <a:prstGeom prst="line">
            <a:avLst/>
          </a:prstGeom>
          <a:ln w="19050">
            <a:solidFill>
              <a:srgbClr val="4FA6A6"/>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85800" y="3931920"/>
            <a:ext cx="2286000" cy="731520"/>
          </a:xfrm>
          <a:prstGeom prst="roundRect">
            <a:avLst>
              <a:gd name="adj" fmla="val 12000"/>
            </a:avLst>
          </a:prstGeom>
          <a:solidFill>
            <a:srgbClr val="2F7F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i="0">
                <a:solidFill>
                  <a:srgbClr val="FFFFFF"/>
                </a:solidFill>
                <a:latin typeface="Calibri"/>
              </a:rPr>
              <a:t>Nhân viên kỹ thuật</a:t>
            </a:r>
          </a:p>
          <a:p>
            <a:pPr algn="ctr"/>
            <a:r>
              <a:rPr sz="1100" b="0" i="0">
                <a:solidFill>
                  <a:srgbClr val="FFFFFF"/>
                </a:solidFill>
                <a:latin typeface="Calibri"/>
              </a:rPr>
              <a:t>Lập trình, bảo trì</a:t>
            </a:r>
          </a:p>
        </p:txBody>
      </p:sp>
      <p:cxnSp>
        <p:nvCxnSpPr>
          <p:cNvPr id="19" name="Connector 18"/>
          <p:cNvCxnSpPr/>
          <p:nvPr/>
        </p:nvCxnSpPr>
        <p:spPr>
          <a:xfrm>
            <a:off x="1508760" y="4663440"/>
            <a:ext cx="0" cy="320040"/>
          </a:xfrm>
          <a:prstGeom prst="line">
            <a:avLst/>
          </a:prstGeom>
          <a:ln w="19050">
            <a:solidFill>
              <a:srgbClr val="2F7F80"/>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85800" y="4983480"/>
            <a:ext cx="2926080" cy="868680"/>
          </a:xfrm>
          <a:prstGeom prst="roundRect">
            <a:avLst>
              <a:gd name="adj" fmla="val 12000"/>
            </a:avLst>
          </a:prstGeom>
          <a:solidFill>
            <a:srgbClr val="FFFFFF"/>
          </a:solidFill>
          <a:ln w="19050">
            <a:solidFill>
              <a:srgbClr val="2F7F80"/>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i="0">
                <a:solidFill>
                  <a:srgbClr val="2F7F80"/>
                </a:solidFill>
                <a:latin typeface="Calibri"/>
              </a:rPr>
              <a:t>Thực tập sinh Frontend</a:t>
            </a:r>
          </a:p>
          <a:p>
            <a:pPr algn="ctr"/>
            <a:r>
              <a:rPr sz="1100" b="0" i="0">
                <a:solidFill>
                  <a:srgbClr val="2F7F80"/>
                </a:solidFill>
                <a:latin typeface="Calibri"/>
              </a:rPr>
              <a:t>Vị trí của em, trong nhóm kỹ thuật</a:t>
            </a:r>
          </a:p>
        </p:txBody>
      </p:sp>
      <p:sp>
        <p:nvSpPr>
          <p:cNvPr id="21" name="TextBox 20"/>
          <p:cNvSpPr txBox="1"/>
          <p:nvPr/>
        </p:nvSpPr>
        <p:spPr>
          <a:xfrm>
            <a:off x="7132320" y="1234440"/>
            <a:ext cx="4572000" cy="5029200"/>
          </a:xfrm>
          <a:prstGeom prst="rect">
            <a:avLst/>
          </a:prstGeom>
          <a:noFill/>
        </p:spPr>
        <p:txBody>
          <a:bodyPr wrap="square" lIns="45720" rIns="45720" anchor="t"/>
          <a:lstStyle/>
          <a:p>
            <a:pPr marL="256032" indent="-256032">
              <a:spcAft>
                <a:spcPts val="700"/>
              </a:spcAft>
              <a:buClr>
                <a:srgbClr val="4FA6A6"/>
              </a:buClr>
              <a:buFont typeface="Arial"/>
              <a:buChar char="•"/>
            </a:pPr>
            <a:r>
              <a:rPr sz="1500" b="1" i="0">
                <a:solidFill>
                  <a:srgbClr val="20242B"/>
                </a:solidFill>
                <a:latin typeface="Calibri"/>
              </a:rPr>
              <a:t>Giám đốc: </a:t>
            </a:r>
            <a:r>
              <a:rPr sz="1500" b="0" i="0">
                <a:solidFill>
                  <a:srgbClr val="20242B"/>
                </a:solidFill>
                <a:latin typeface="Calibri"/>
              </a:rPr>
              <a:t>quản lý và đưa ra định hướng chung cho công ty.</a:t>
            </a:r>
          </a:p>
          <a:p>
            <a:pPr marL="256032" indent="-256032">
              <a:spcAft>
                <a:spcPts val="700"/>
              </a:spcAft>
              <a:buClr>
                <a:srgbClr val="4FA6A6"/>
              </a:buClr>
              <a:buFont typeface="Arial"/>
              <a:buChar char="•"/>
            </a:pPr>
            <a:r>
              <a:rPr sz="1500" b="1" i="0">
                <a:solidFill>
                  <a:srgbClr val="20242B"/>
                </a:solidFill>
                <a:latin typeface="Calibri"/>
              </a:rPr>
              <a:t>Trưởng nhóm: </a:t>
            </a:r>
            <a:r>
              <a:rPr sz="1500" b="0" i="0">
                <a:solidFill>
                  <a:srgbClr val="20242B"/>
                </a:solidFill>
                <a:latin typeface="Calibri"/>
              </a:rPr>
              <a:t>quản lý, phân công công việc cho nhóm kỹ thuật.</a:t>
            </a:r>
          </a:p>
          <a:p>
            <a:pPr marL="256032" indent="-256032">
              <a:spcAft>
                <a:spcPts val="700"/>
              </a:spcAft>
              <a:buClr>
                <a:srgbClr val="4FA6A6"/>
              </a:buClr>
              <a:buFont typeface="Arial"/>
              <a:buChar char="•"/>
            </a:pPr>
            <a:r>
              <a:rPr sz="1500" b="1" i="0">
                <a:solidFill>
                  <a:srgbClr val="20242B"/>
                </a:solidFill>
                <a:latin typeface="Calibri"/>
              </a:rPr>
              <a:t>Nhân viên kỹ thuật: </a:t>
            </a:r>
            <a:r>
              <a:rPr sz="1500" b="0" i="0">
                <a:solidFill>
                  <a:srgbClr val="20242B"/>
                </a:solidFill>
                <a:latin typeface="Calibri"/>
              </a:rPr>
              <a:t>lập trình, phát triển và bảo trì sản phẩm.</a:t>
            </a:r>
          </a:p>
          <a:p>
            <a:pPr marL="256032" indent="-256032">
              <a:spcAft>
                <a:spcPts val="700"/>
              </a:spcAft>
              <a:buClr>
                <a:srgbClr val="4FA6A6"/>
              </a:buClr>
              <a:buFont typeface="Arial"/>
              <a:buChar char="•"/>
            </a:pPr>
            <a:r>
              <a:rPr sz="1500" b="1" i="0">
                <a:solidFill>
                  <a:srgbClr val="20242B"/>
                </a:solidFill>
                <a:latin typeface="Calibri"/>
              </a:rPr>
              <a:t>Kế toán: </a:t>
            </a:r>
            <a:r>
              <a:rPr sz="1500" b="0" i="0">
                <a:solidFill>
                  <a:srgbClr val="20242B"/>
                </a:solidFill>
                <a:latin typeface="Calibri"/>
              </a:rPr>
              <a:t>các công việc tài chính, kế toán.</a:t>
            </a:r>
          </a:p>
          <a:p>
            <a:pPr marL="256032" indent="-256032">
              <a:spcAft>
                <a:spcPts val="700"/>
              </a:spcAft>
              <a:buClr>
                <a:srgbClr val="4FA6A6"/>
              </a:buClr>
              <a:buFont typeface="Arial"/>
              <a:buChar char="•"/>
            </a:pPr>
            <a:r>
              <a:rPr sz="1500" b="1" i="0">
                <a:solidFill>
                  <a:srgbClr val="20242B"/>
                </a:solidFill>
                <a:latin typeface="Calibri"/>
              </a:rPr>
              <a:t>Kinh doanh: </a:t>
            </a:r>
            <a:r>
              <a:rPr sz="1500" b="0" i="0">
                <a:solidFill>
                  <a:srgbClr val="20242B"/>
                </a:solidFill>
                <a:latin typeface="Calibri"/>
              </a:rPr>
              <a:t>làm việc với khách hàng, tư vấn, hỗ trợ kinh doanh.</a:t>
            </a:r>
          </a:p>
          <a:p>
            <a:pPr marL="256032" indent="-256032">
              <a:spcAft>
                <a:spcPts val="700"/>
              </a:spcAft>
              <a:buClr>
                <a:srgbClr val="4FA6A6"/>
              </a:buClr>
              <a:buFont typeface="Arial"/>
              <a:buChar char="•"/>
            </a:pPr>
            <a:r>
              <a:rPr sz="1500" b="1" i="0">
                <a:solidFill>
                  <a:srgbClr val="20242B"/>
                </a:solidFill>
                <a:latin typeface="Calibri"/>
              </a:rPr>
              <a:t>Nguồn lực: </a:t>
            </a:r>
            <a:r>
              <a:rPr sz="1500" b="0" i="0">
                <a:solidFill>
                  <a:srgbClr val="20242B"/>
                </a:solidFill>
                <a:latin typeface="Calibri"/>
              </a:rPr>
              <a:t>máy tính, phần mềm và công cụ cho lập trình, kiểm tra, triển khai, dùng theo từng dự án.</a:t>
            </a:r>
          </a:p>
          <a:p>
            <a:pPr marL="256032" indent="-256032">
              <a:spcAft>
                <a:spcPts val="700"/>
              </a:spcAft>
              <a:buClr>
                <a:srgbClr val="4FA6A6"/>
              </a:buClr>
              <a:buFont typeface="Arial"/>
              <a:buChar char="•"/>
            </a:pPr>
            <a:r>
              <a:rPr sz="1500" b="1" i="0">
                <a:solidFill>
                  <a:srgbClr val="20242B"/>
                </a:solidFill>
                <a:latin typeface="Calibri"/>
              </a:rPr>
              <a:t>Đặc điểm: </a:t>
            </a:r>
            <a:r>
              <a:rPr sz="1500" b="0" i="0">
                <a:solidFill>
                  <a:srgbClr val="20242B"/>
                </a:solidFill>
                <a:latin typeface="Calibri"/>
              </a:rPr>
              <a:t>cơ cấu gọn, phối hợp giữa kỹ thuật và các bộ phận khác thuận tiện.</a:t>
            </a:r>
          </a:p>
        </p:txBody>
      </p:sp>
      <p:sp>
        <p:nvSpPr>
          <p:cNvPr id="22" name="TextBox 21"/>
          <p:cNvSpPr txBox="1"/>
          <p:nvPr/>
        </p:nvSpPr>
        <p:spPr>
          <a:xfrm>
            <a:off x="10332720" y="6492240"/>
            <a:ext cx="1399032" cy="274320"/>
          </a:xfrm>
          <a:prstGeom prst="rect">
            <a:avLst/>
          </a:prstGeom>
          <a:noFill/>
        </p:spPr>
        <p:txBody>
          <a:bodyPr wrap="square" lIns="45720" rIns="45720" anchor="t"/>
          <a:lstStyle/>
          <a:p>
            <a:pPr algn="r"/>
            <a:r>
              <a:rPr sz="1100" b="0" i="0">
                <a:solidFill>
                  <a:srgbClr val="5B6370"/>
                </a:solidFill>
                <a:latin typeface="Calibri"/>
              </a:rPr>
              <a:t>5 / 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4F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
            <a:ext cx="8229600" cy="274320"/>
          </a:xfrm>
          <a:prstGeom prst="rect">
            <a:avLst/>
          </a:prstGeom>
          <a:noFill/>
        </p:spPr>
        <p:txBody>
          <a:bodyPr wrap="square" lIns="45720" rIns="45720" anchor="t"/>
          <a:lstStyle/>
          <a:p>
            <a:pPr algn="l"/>
            <a:r>
              <a:rPr sz="1200" b="1" i="0">
                <a:solidFill>
                  <a:srgbClr val="2F7F80"/>
                </a:solidFill>
                <a:latin typeface="Calibri"/>
              </a:rPr>
              <a:t>02 · MỤC TIÊU, NỘI DUNG, Ý NGHĨA</a:t>
            </a:r>
          </a:p>
        </p:txBody>
      </p:sp>
      <p:sp>
        <p:nvSpPr>
          <p:cNvPr id="4" name="TextBox 3"/>
          <p:cNvSpPr txBox="1"/>
          <p:nvPr/>
        </p:nvSpPr>
        <p:spPr>
          <a:xfrm>
            <a:off x="457200" y="457200"/>
            <a:ext cx="11247120" cy="566928"/>
          </a:xfrm>
          <a:prstGeom prst="rect">
            <a:avLst/>
          </a:prstGeom>
          <a:noFill/>
        </p:spPr>
        <p:txBody>
          <a:bodyPr wrap="square" lIns="45720" rIns="45720" anchor="t"/>
          <a:lstStyle/>
          <a:p>
            <a:pPr algn="l"/>
            <a:r>
              <a:rPr sz="2800" b="1" i="0">
                <a:solidFill>
                  <a:srgbClr val="20242B"/>
                </a:solidFill>
                <a:latin typeface="Calibri"/>
              </a:rPr>
              <a:t>Mục tiêu của công việc thực tập</a:t>
            </a:r>
          </a:p>
        </p:txBody>
      </p:sp>
      <p:cxnSp>
        <p:nvCxnSpPr>
          <p:cNvPr id="5" name="Connector 4"/>
          <p:cNvCxnSpPr/>
          <p:nvPr/>
        </p:nvCxnSpPr>
        <p:spPr>
          <a:xfrm>
            <a:off x="457200" y="6446520"/>
            <a:ext cx="11274552" cy="0"/>
          </a:xfrm>
          <a:prstGeom prst="line">
            <a:avLst/>
          </a:prstGeom>
          <a:ln w="9525">
            <a:solidFill>
              <a:srgbClr val="D9DEE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92240"/>
            <a:ext cx="8229600" cy="274320"/>
          </a:xfrm>
          <a:prstGeom prst="rect">
            <a:avLst/>
          </a:prstGeom>
          <a:noFill/>
        </p:spPr>
        <p:txBody>
          <a:bodyPr wrap="square" lIns="45720" rIns="45720" anchor="t"/>
          <a:lstStyle/>
          <a:p>
            <a:pPr algn="l"/>
            <a:r>
              <a:rPr sz="1100" b="0" i="0">
                <a:solidFill>
                  <a:srgbClr val="5B6370"/>
                </a:solidFill>
                <a:latin typeface="Calibri"/>
              </a:rPr>
              <a:t>Trần Anh Khoa  ·  Báo cáo thực tập tốt nghiệp  ·  Website Printuz</a:t>
            </a:r>
          </a:p>
        </p:txBody>
      </p:sp>
      <p:sp>
        <p:nvSpPr>
          <p:cNvPr id="7" name="Rounded Rectangle 6"/>
          <p:cNvSpPr/>
          <p:nvPr/>
        </p:nvSpPr>
        <p:spPr>
          <a:xfrm>
            <a:off x="457200" y="1234440"/>
            <a:ext cx="11274552" cy="1051560"/>
          </a:xfrm>
          <a:prstGeom prst="roundRect">
            <a:avLst>
              <a:gd name="adj" fmla="val 6000"/>
            </a:avLst>
          </a:prstGeom>
          <a:solidFill>
            <a:srgbClr val="4F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25880"/>
            <a:ext cx="3657600" cy="274320"/>
          </a:xfrm>
          <a:prstGeom prst="rect">
            <a:avLst/>
          </a:prstGeom>
          <a:noFill/>
        </p:spPr>
        <p:txBody>
          <a:bodyPr wrap="square" lIns="45720" rIns="45720" anchor="t"/>
          <a:lstStyle/>
          <a:p>
            <a:pPr algn="l"/>
            <a:r>
              <a:rPr sz="1200" b="1" i="0">
                <a:solidFill>
                  <a:srgbClr val="FFFFFF"/>
                </a:solidFill>
                <a:latin typeface="Calibri"/>
              </a:rPr>
              <a:t>MỤC TIÊU CHUNG</a:t>
            </a:r>
          </a:p>
        </p:txBody>
      </p:sp>
      <p:sp>
        <p:nvSpPr>
          <p:cNvPr id="9" name="TextBox 8"/>
          <p:cNvSpPr txBox="1"/>
          <p:nvPr/>
        </p:nvSpPr>
        <p:spPr>
          <a:xfrm>
            <a:off x="685800" y="1600200"/>
            <a:ext cx="10881360" cy="640080"/>
          </a:xfrm>
          <a:prstGeom prst="rect">
            <a:avLst/>
          </a:prstGeom>
          <a:noFill/>
        </p:spPr>
        <p:txBody>
          <a:bodyPr wrap="square" lIns="45720" rIns="45720" anchor="t"/>
          <a:lstStyle/>
          <a:p>
            <a:pPr algn="l"/>
            <a:r>
              <a:rPr sz="1700" b="1" i="0">
                <a:solidFill>
                  <a:srgbClr val="FFFFFF"/>
                </a:solidFill>
                <a:latin typeface="Calibri"/>
              </a:rPr>
              <a:t>Vận dụng kiến thức đã học vào một dự án thực tế tại doanh nghiệp: hoàn thành giao diện website giới thiệu dịch vụ fulfillment cho Printuz LTD.</a:t>
            </a:r>
          </a:p>
        </p:txBody>
      </p:sp>
      <p:sp>
        <p:nvSpPr>
          <p:cNvPr id="10" name="Rounded Rectangle 9"/>
          <p:cNvSpPr/>
          <p:nvPr/>
        </p:nvSpPr>
        <p:spPr>
          <a:xfrm>
            <a:off x="457200" y="2514600"/>
            <a:ext cx="2130552" cy="2743200"/>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1792" y="2633472"/>
            <a:ext cx="914400" cy="457200"/>
          </a:xfrm>
          <a:prstGeom prst="rect">
            <a:avLst/>
          </a:prstGeom>
          <a:noFill/>
        </p:spPr>
        <p:txBody>
          <a:bodyPr wrap="square" lIns="45720" rIns="45720" anchor="t"/>
          <a:lstStyle/>
          <a:p>
            <a:pPr algn="l"/>
            <a:r>
              <a:rPr sz="2400" b="1" i="0">
                <a:solidFill>
                  <a:srgbClr val="4FA6A6"/>
                </a:solidFill>
                <a:latin typeface="Calibri"/>
              </a:rPr>
              <a:t>01</a:t>
            </a:r>
          </a:p>
        </p:txBody>
      </p:sp>
      <p:sp>
        <p:nvSpPr>
          <p:cNvPr id="12" name="TextBox 11"/>
          <p:cNvSpPr txBox="1"/>
          <p:nvPr/>
        </p:nvSpPr>
        <p:spPr>
          <a:xfrm>
            <a:off x="621792" y="3108960"/>
            <a:ext cx="1828800" cy="411480"/>
          </a:xfrm>
          <a:prstGeom prst="rect">
            <a:avLst/>
          </a:prstGeom>
          <a:noFill/>
        </p:spPr>
        <p:txBody>
          <a:bodyPr wrap="square" lIns="45720" rIns="45720" anchor="t"/>
          <a:lstStyle/>
          <a:p>
            <a:pPr algn="l"/>
            <a:r>
              <a:rPr sz="1700" b="1" i="0">
                <a:solidFill>
                  <a:srgbClr val="20242B"/>
                </a:solidFill>
                <a:latin typeface="Calibri"/>
              </a:rPr>
              <a:t>Quy trình làm việc</a:t>
            </a:r>
          </a:p>
        </p:txBody>
      </p:sp>
      <p:sp>
        <p:nvSpPr>
          <p:cNvPr id="13" name="TextBox 12"/>
          <p:cNvSpPr txBox="1"/>
          <p:nvPr/>
        </p:nvSpPr>
        <p:spPr>
          <a:xfrm>
            <a:off x="621792" y="3566160"/>
            <a:ext cx="1828800" cy="1645920"/>
          </a:xfrm>
          <a:prstGeom prst="rect">
            <a:avLst/>
          </a:prstGeom>
          <a:noFill/>
        </p:spPr>
        <p:txBody>
          <a:bodyPr wrap="square" lIns="45720" rIns="45720" anchor="t"/>
          <a:lstStyle/>
          <a:p>
            <a:pPr algn="l"/>
            <a:r>
              <a:rPr sz="1400" b="0" i="0">
                <a:solidFill>
                  <a:srgbClr val="5B6370"/>
                </a:solidFill>
                <a:latin typeface="Calibri"/>
              </a:rPr>
              <a:t>Làm quen quy trình thực tế: nhận yêu cầu, thực hiện, kiểm tra, báo cáo với người hướng dẫn.</a:t>
            </a:r>
          </a:p>
        </p:txBody>
      </p:sp>
      <p:sp>
        <p:nvSpPr>
          <p:cNvPr id="14" name="Rounded Rectangle 13"/>
          <p:cNvSpPr/>
          <p:nvPr/>
        </p:nvSpPr>
        <p:spPr>
          <a:xfrm>
            <a:off x="2743200" y="2514600"/>
            <a:ext cx="2130552" cy="2743200"/>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907792" y="2633472"/>
            <a:ext cx="914400" cy="457200"/>
          </a:xfrm>
          <a:prstGeom prst="rect">
            <a:avLst/>
          </a:prstGeom>
          <a:noFill/>
        </p:spPr>
        <p:txBody>
          <a:bodyPr wrap="square" lIns="45720" rIns="45720" anchor="t"/>
          <a:lstStyle/>
          <a:p>
            <a:pPr algn="l"/>
            <a:r>
              <a:rPr sz="2400" b="1" i="0">
                <a:solidFill>
                  <a:srgbClr val="4FA6A6"/>
                </a:solidFill>
                <a:latin typeface="Calibri"/>
              </a:rPr>
              <a:t>02</a:t>
            </a:r>
          </a:p>
        </p:txBody>
      </p:sp>
      <p:sp>
        <p:nvSpPr>
          <p:cNvPr id="16" name="TextBox 15"/>
          <p:cNvSpPr txBox="1"/>
          <p:nvPr/>
        </p:nvSpPr>
        <p:spPr>
          <a:xfrm>
            <a:off x="2907792" y="3108960"/>
            <a:ext cx="1828800" cy="411480"/>
          </a:xfrm>
          <a:prstGeom prst="rect">
            <a:avLst/>
          </a:prstGeom>
          <a:noFill/>
        </p:spPr>
        <p:txBody>
          <a:bodyPr wrap="square" lIns="45720" rIns="45720" anchor="t"/>
          <a:lstStyle/>
          <a:p>
            <a:pPr algn="l"/>
            <a:r>
              <a:rPr sz="1700" b="1" i="0">
                <a:solidFill>
                  <a:srgbClr val="20242B"/>
                </a:solidFill>
                <a:latin typeface="Calibri"/>
              </a:rPr>
              <a:t>Giao diện đa trang</a:t>
            </a:r>
          </a:p>
        </p:txBody>
      </p:sp>
      <p:sp>
        <p:nvSpPr>
          <p:cNvPr id="17" name="TextBox 16"/>
          <p:cNvSpPr txBox="1"/>
          <p:nvPr/>
        </p:nvSpPr>
        <p:spPr>
          <a:xfrm>
            <a:off x="2907792" y="3566160"/>
            <a:ext cx="1828800" cy="1645920"/>
          </a:xfrm>
          <a:prstGeom prst="rect">
            <a:avLst/>
          </a:prstGeom>
          <a:noFill/>
        </p:spPr>
        <p:txBody>
          <a:bodyPr wrap="square" lIns="45720" rIns="45720" anchor="t"/>
          <a:lstStyle/>
          <a:p>
            <a:pPr algn="l"/>
            <a:r>
              <a:rPr sz="1400" b="0" i="0">
                <a:solidFill>
                  <a:srgbClr val="5B6370"/>
                </a:solidFill>
                <a:latin typeface="Calibri"/>
              </a:rPr>
              <a:t>Xây dựng các trang của website Printuz với bố cục rõ ràng, thống nhất màu sắc và thương hiệu.</a:t>
            </a:r>
          </a:p>
        </p:txBody>
      </p:sp>
      <p:sp>
        <p:nvSpPr>
          <p:cNvPr id="18" name="Rounded Rectangle 17"/>
          <p:cNvSpPr/>
          <p:nvPr/>
        </p:nvSpPr>
        <p:spPr>
          <a:xfrm>
            <a:off x="5029200" y="2514600"/>
            <a:ext cx="2130552" cy="2743200"/>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93792" y="2633472"/>
            <a:ext cx="914400" cy="457200"/>
          </a:xfrm>
          <a:prstGeom prst="rect">
            <a:avLst/>
          </a:prstGeom>
          <a:noFill/>
        </p:spPr>
        <p:txBody>
          <a:bodyPr wrap="square" lIns="45720" rIns="45720" anchor="t"/>
          <a:lstStyle/>
          <a:p>
            <a:pPr algn="l"/>
            <a:r>
              <a:rPr sz="2400" b="1" i="0">
                <a:solidFill>
                  <a:srgbClr val="4FA6A6"/>
                </a:solidFill>
                <a:latin typeface="Calibri"/>
              </a:rPr>
              <a:t>03</a:t>
            </a:r>
          </a:p>
        </p:txBody>
      </p:sp>
      <p:sp>
        <p:nvSpPr>
          <p:cNvPr id="20" name="TextBox 19"/>
          <p:cNvSpPr txBox="1"/>
          <p:nvPr/>
        </p:nvSpPr>
        <p:spPr>
          <a:xfrm>
            <a:off x="5193792" y="3108960"/>
            <a:ext cx="1828800" cy="411480"/>
          </a:xfrm>
          <a:prstGeom prst="rect">
            <a:avLst/>
          </a:prstGeom>
          <a:noFill/>
        </p:spPr>
        <p:txBody>
          <a:bodyPr wrap="square" lIns="45720" rIns="45720" anchor="t"/>
          <a:lstStyle/>
          <a:p>
            <a:pPr algn="l"/>
            <a:r>
              <a:rPr sz="1700" b="1" i="0">
                <a:solidFill>
                  <a:srgbClr val="20242B"/>
                </a:solidFill>
                <a:latin typeface="Calibri"/>
              </a:rPr>
              <a:t>Đáp ứng thiết bị</a:t>
            </a:r>
          </a:p>
        </p:txBody>
      </p:sp>
      <p:sp>
        <p:nvSpPr>
          <p:cNvPr id="21" name="TextBox 20"/>
          <p:cNvSpPr txBox="1"/>
          <p:nvPr/>
        </p:nvSpPr>
        <p:spPr>
          <a:xfrm>
            <a:off x="5193792" y="3566160"/>
            <a:ext cx="1828800" cy="1645920"/>
          </a:xfrm>
          <a:prstGeom prst="rect">
            <a:avLst/>
          </a:prstGeom>
          <a:noFill/>
        </p:spPr>
        <p:txBody>
          <a:bodyPr wrap="square" lIns="45720" rIns="45720" anchor="t"/>
          <a:lstStyle/>
          <a:p>
            <a:pPr algn="l"/>
            <a:r>
              <a:rPr sz="1400" b="0" i="0">
                <a:solidFill>
                  <a:srgbClr val="5B6370"/>
                </a:solidFill>
                <a:latin typeface="Calibri"/>
              </a:rPr>
              <a:t>Bảo đảm hiển thị tốt trên máy tính, máy tính bảng và điện thoại.</a:t>
            </a:r>
          </a:p>
        </p:txBody>
      </p:sp>
      <p:sp>
        <p:nvSpPr>
          <p:cNvPr id="22" name="Rounded Rectangle 21"/>
          <p:cNvSpPr/>
          <p:nvPr/>
        </p:nvSpPr>
        <p:spPr>
          <a:xfrm>
            <a:off x="7315200" y="2514600"/>
            <a:ext cx="2130552" cy="2743200"/>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479792" y="2633472"/>
            <a:ext cx="914400" cy="457200"/>
          </a:xfrm>
          <a:prstGeom prst="rect">
            <a:avLst/>
          </a:prstGeom>
          <a:noFill/>
        </p:spPr>
        <p:txBody>
          <a:bodyPr wrap="square" lIns="45720" rIns="45720" anchor="t"/>
          <a:lstStyle/>
          <a:p>
            <a:pPr algn="l"/>
            <a:r>
              <a:rPr sz="2400" b="1" i="0">
                <a:solidFill>
                  <a:srgbClr val="4FA6A6"/>
                </a:solidFill>
                <a:latin typeface="Calibri"/>
              </a:rPr>
              <a:t>04</a:t>
            </a:r>
          </a:p>
        </p:txBody>
      </p:sp>
      <p:sp>
        <p:nvSpPr>
          <p:cNvPr id="24" name="TextBox 23"/>
          <p:cNvSpPr txBox="1"/>
          <p:nvPr/>
        </p:nvSpPr>
        <p:spPr>
          <a:xfrm>
            <a:off x="7479792" y="3108960"/>
            <a:ext cx="1828800" cy="411480"/>
          </a:xfrm>
          <a:prstGeom prst="rect">
            <a:avLst/>
          </a:prstGeom>
          <a:noFill/>
        </p:spPr>
        <p:txBody>
          <a:bodyPr wrap="square" lIns="45720" rIns="45720" anchor="t"/>
          <a:lstStyle/>
          <a:p>
            <a:pPr algn="l"/>
            <a:r>
              <a:rPr sz="1700" b="1" i="0">
                <a:solidFill>
                  <a:srgbClr val="20242B"/>
                </a:solidFill>
                <a:latin typeface="Calibri"/>
              </a:rPr>
              <a:t>Tổ chức dữ liệu</a:t>
            </a:r>
          </a:p>
        </p:txBody>
      </p:sp>
      <p:sp>
        <p:nvSpPr>
          <p:cNvPr id="25" name="TextBox 24"/>
          <p:cNvSpPr txBox="1"/>
          <p:nvPr/>
        </p:nvSpPr>
        <p:spPr>
          <a:xfrm>
            <a:off x="7479792" y="3566160"/>
            <a:ext cx="1828800" cy="1645920"/>
          </a:xfrm>
          <a:prstGeom prst="rect">
            <a:avLst/>
          </a:prstGeom>
          <a:noFill/>
        </p:spPr>
        <p:txBody>
          <a:bodyPr wrap="square" lIns="45720" rIns="45720" anchor="t"/>
          <a:lstStyle/>
          <a:p>
            <a:pPr algn="l"/>
            <a:r>
              <a:rPr sz="1400" b="0" i="0">
                <a:solidFill>
                  <a:srgbClr val="5B6370"/>
                </a:solidFill>
                <a:latin typeface="Calibri"/>
              </a:rPr>
              <a:t>Sắp xếp dữ liệu sản phẩm và bài viết để website dễ mở rộng về sau.</a:t>
            </a:r>
          </a:p>
        </p:txBody>
      </p:sp>
      <p:sp>
        <p:nvSpPr>
          <p:cNvPr id="26" name="Rounded Rectangle 25"/>
          <p:cNvSpPr/>
          <p:nvPr/>
        </p:nvSpPr>
        <p:spPr>
          <a:xfrm>
            <a:off x="9601200" y="2514600"/>
            <a:ext cx="2130552" cy="2743200"/>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765792" y="2633472"/>
            <a:ext cx="914400" cy="457200"/>
          </a:xfrm>
          <a:prstGeom prst="rect">
            <a:avLst/>
          </a:prstGeom>
          <a:noFill/>
        </p:spPr>
        <p:txBody>
          <a:bodyPr wrap="square" lIns="45720" rIns="45720" anchor="t"/>
          <a:lstStyle/>
          <a:p>
            <a:pPr algn="l"/>
            <a:r>
              <a:rPr sz="2400" b="1" i="0">
                <a:solidFill>
                  <a:srgbClr val="4FA6A6"/>
                </a:solidFill>
                <a:latin typeface="Calibri"/>
              </a:rPr>
              <a:t>05</a:t>
            </a:r>
          </a:p>
        </p:txBody>
      </p:sp>
      <p:sp>
        <p:nvSpPr>
          <p:cNvPr id="28" name="TextBox 27"/>
          <p:cNvSpPr txBox="1"/>
          <p:nvPr/>
        </p:nvSpPr>
        <p:spPr>
          <a:xfrm>
            <a:off x="9765792" y="3108960"/>
            <a:ext cx="1828800" cy="411480"/>
          </a:xfrm>
          <a:prstGeom prst="rect">
            <a:avLst/>
          </a:prstGeom>
          <a:noFill/>
        </p:spPr>
        <p:txBody>
          <a:bodyPr wrap="square" lIns="45720" rIns="45720" anchor="t"/>
          <a:lstStyle/>
          <a:p>
            <a:pPr algn="l"/>
            <a:r>
              <a:rPr sz="1700" b="1" i="0">
                <a:solidFill>
                  <a:srgbClr val="20242B"/>
                </a:solidFill>
                <a:latin typeface="Calibri"/>
              </a:rPr>
              <a:t>Kỹ năng bản thân</a:t>
            </a:r>
          </a:p>
        </p:txBody>
      </p:sp>
      <p:sp>
        <p:nvSpPr>
          <p:cNvPr id="29" name="TextBox 28"/>
          <p:cNvSpPr txBox="1"/>
          <p:nvPr/>
        </p:nvSpPr>
        <p:spPr>
          <a:xfrm>
            <a:off x="9765792" y="3566160"/>
            <a:ext cx="1828800" cy="1645920"/>
          </a:xfrm>
          <a:prstGeom prst="rect">
            <a:avLst/>
          </a:prstGeom>
          <a:noFill/>
        </p:spPr>
        <p:txBody>
          <a:bodyPr wrap="square" lIns="45720" rIns="45720" anchor="t"/>
          <a:lstStyle/>
          <a:p>
            <a:pPr algn="l"/>
            <a:r>
              <a:rPr sz="1400" b="0" i="0">
                <a:solidFill>
                  <a:srgbClr val="5B6370"/>
                </a:solidFill>
                <a:latin typeface="Calibri"/>
              </a:rPr>
              <a:t>Rèn tự học, làm việc nhóm, giao tiếp và tiếp nhận góp ý.</a:t>
            </a:r>
          </a:p>
        </p:txBody>
      </p:sp>
      <p:sp>
        <p:nvSpPr>
          <p:cNvPr id="30" name="Rounded Rectangle 29"/>
          <p:cNvSpPr/>
          <p:nvPr/>
        </p:nvSpPr>
        <p:spPr>
          <a:xfrm>
            <a:off x="457200" y="5440680"/>
            <a:ext cx="11274552" cy="777240"/>
          </a:xfrm>
          <a:prstGeom prst="roundRect">
            <a:avLst>
              <a:gd name="adj" fmla="val 6000"/>
            </a:avLst>
          </a:prstGeom>
          <a:solidFill>
            <a:srgbClr val="FFFFFF"/>
          </a:solid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5800" y="5550408"/>
            <a:ext cx="10881360" cy="594360"/>
          </a:xfrm>
          <a:prstGeom prst="rect">
            <a:avLst/>
          </a:prstGeom>
          <a:noFill/>
        </p:spPr>
        <p:txBody>
          <a:bodyPr wrap="square" lIns="45720" rIns="45720" anchor="t"/>
          <a:lstStyle/>
          <a:p>
            <a:pPr>
              <a:spcAft>
                <a:spcPts val="0"/>
              </a:spcAft>
            </a:pPr>
            <a:r>
              <a:rPr sz="1500" b="1" i="0">
                <a:solidFill>
                  <a:srgbClr val="20242B"/>
                </a:solidFill>
                <a:latin typeface="Calibri"/>
              </a:rPr>
              <a:t>Kết quả mong đợi: </a:t>
            </a:r>
            <a:r>
              <a:rPr sz="1500" b="0" i="0">
                <a:solidFill>
                  <a:srgbClr val="20242B"/>
                </a:solidFill>
                <a:latin typeface="Calibri"/>
              </a:rPr>
              <a:t>bản demo website Printuz hoàn chỉnh, hiển thị tốt trên nhiều thiết bị, cùng bài báo cáo thực tập tổng hợp quá trình làm việc.</a:t>
            </a:r>
          </a:p>
        </p:txBody>
      </p:sp>
      <p:sp>
        <p:nvSpPr>
          <p:cNvPr id="32" name="TextBox 31"/>
          <p:cNvSpPr txBox="1"/>
          <p:nvPr/>
        </p:nvSpPr>
        <p:spPr>
          <a:xfrm>
            <a:off x="10332720" y="6492240"/>
            <a:ext cx="1399032" cy="274320"/>
          </a:xfrm>
          <a:prstGeom prst="rect">
            <a:avLst/>
          </a:prstGeom>
          <a:noFill/>
        </p:spPr>
        <p:txBody>
          <a:bodyPr wrap="square" lIns="45720" rIns="45720" anchor="t"/>
          <a:lstStyle/>
          <a:p>
            <a:pPr algn="r"/>
            <a:r>
              <a:rPr sz="1100" b="0" i="0">
                <a:solidFill>
                  <a:srgbClr val="5B6370"/>
                </a:solidFill>
                <a:latin typeface="Calibri"/>
              </a:rPr>
              <a:t>6 / 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4F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
            <a:ext cx="8229600" cy="274320"/>
          </a:xfrm>
          <a:prstGeom prst="rect">
            <a:avLst/>
          </a:prstGeom>
          <a:noFill/>
        </p:spPr>
        <p:txBody>
          <a:bodyPr wrap="square" lIns="45720" rIns="45720" anchor="t"/>
          <a:lstStyle/>
          <a:p>
            <a:pPr algn="l"/>
            <a:r>
              <a:rPr sz="1200" b="1" i="0">
                <a:solidFill>
                  <a:srgbClr val="2F7F80"/>
                </a:solidFill>
                <a:latin typeface="Calibri"/>
              </a:rPr>
              <a:t>02 · MỤC TIÊU, NỘI DUNG, Ý NGHĨA</a:t>
            </a:r>
          </a:p>
        </p:txBody>
      </p:sp>
      <p:sp>
        <p:nvSpPr>
          <p:cNvPr id="4" name="TextBox 3"/>
          <p:cNvSpPr txBox="1"/>
          <p:nvPr/>
        </p:nvSpPr>
        <p:spPr>
          <a:xfrm>
            <a:off x="457200" y="457200"/>
            <a:ext cx="11247120" cy="566928"/>
          </a:xfrm>
          <a:prstGeom prst="rect">
            <a:avLst/>
          </a:prstGeom>
          <a:noFill/>
        </p:spPr>
        <p:txBody>
          <a:bodyPr wrap="square" lIns="45720" rIns="45720" anchor="t"/>
          <a:lstStyle/>
          <a:p>
            <a:pPr algn="l"/>
            <a:r>
              <a:rPr sz="2800" b="1" i="0">
                <a:solidFill>
                  <a:srgbClr val="20242B"/>
                </a:solidFill>
                <a:latin typeface="Calibri"/>
              </a:rPr>
              <a:t>Nội dung công việc thực tập</a:t>
            </a:r>
          </a:p>
        </p:txBody>
      </p:sp>
      <p:cxnSp>
        <p:nvCxnSpPr>
          <p:cNvPr id="5" name="Connector 4"/>
          <p:cNvCxnSpPr/>
          <p:nvPr/>
        </p:nvCxnSpPr>
        <p:spPr>
          <a:xfrm>
            <a:off x="457200" y="6446520"/>
            <a:ext cx="11274552" cy="0"/>
          </a:xfrm>
          <a:prstGeom prst="line">
            <a:avLst/>
          </a:prstGeom>
          <a:ln w="9525">
            <a:solidFill>
              <a:srgbClr val="D9DEE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92240"/>
            <a:ext cx="8229600" cy="274320"/>
          </a:xfrm>
          <a:prstGeom prst="rect">
            <a:avLst/>
          </a:prstGeom>
          <a:noFill/>
        </p:spPr>
        <p:txBody>
          <a:bodyPr wrap="square" lIns="45720" rIns="45720" anchor="t"/>
          <a:lstStyle/>
          <a:p>
            <a:pPr algn="l"/>
            <a:r>
              <a:rPr sz="1100" b="0" i="0">
                <a:solidFill>
                  <a:srgbClr val="5B6370"/>
                </a:solidFill>
                <a:latin typeface="Calibri"/>
              </a:rPr>
              <a:t>Trần Anh Khoa  ·  Báo cáo thực tập tốt nghiệp  ·  Website Printuz</a:t>
            </a:r>
          </a:p>
        </p:txBody>
      </p:sp>
      <p:sp>
        <p:nvSpPr>
          <p:cNvPr id="7" name="Rounded Rectangle 6"/>
          <p:cNvSpPr/>
          <p:nvPr/>
        </p:nvSpPr>
        <p:spPr>
          <a:xfrm>
            <a:off x="457200" y="1234440"/>
            <a:ext cx="5532120" cy="2240280"/>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380744"/>
            <a:ext cx="5166359" cy="1965960"/>
          </a:xfrm>
          <a:prstGeom prst="rect">
            <a:avLst/>
          </a:prstGeom>
          <a:noFill/>
        </p:spPr>
        <p:txBody>
          <a:bodyPr wrap="square" lIns="45720" rIns="45720" anchor="t"/>
          <a:lstStyle/>
          <a:p>
            <a:pPr>
              <a:spcAft>
                <a:spcPts val="800"/>
              </a:spcAft>
            </a:pPr>
            <a:r>
              <a:rPr sz="1200" b="1" i="0">
                <a:solidFill>
                  <a:srgbClr val="2F7F80"/>
                </a:solidFill>
                <a:latin typeface="Calibri"/>
              </a:rPr>
              <a:t>ĐỀ TÀI</a:t>
            </a:r>
          </a:p>
          <a:p>
            <a:pPr marL="256032" indent="-256032">
              <a:spcAft>
                <a:spcPts val="500"/>
              </a:spcAft>
              <a:buClr>
                <a:srgbClr val="4FA6A6"/>
              </a:buClr>
              <a:buFont typeface="Arial"/>
              <a:buChar char="•"/>
            </a:pPr>
            <a:r>
              <a:rPr sz="1500" b="0" i="0">
                <a:solidFill>
                  <a:srgbClr val="20242B"/>
                </a:solidFill>
                <a:latin typeface="Calibri"/>
              </a:rPr>
              <a:t>“Thiết kế và xây dựng giao diện website fulfillment Printuz tại Công ty Công nghệ TGSOFT”.</a:t>
            </a:r>
          </a:p>
          <a:p>
            <a:pPr marL="256032" indent="-256032">
              <a:spcAft>
                <a:spcPts val="500"/>
              </a:spcAft>
              <a:buClr>
                <a:srgbClr val="4FA6A6"/>
              </a:buClr>
              <a:buFont typeface="Arial"/>
              <a:buChar char="•"/>
            </a:pPr>
            <a:r>
              <a:rPr sz="1500" b="0" i="0">
                <a:solidFill>
                  <a:srgbClr val="20242B"/>
                </a:solidFill>
                <a:latin typeface="Calibri"/>
              </a:rPr>
              <a:t>Tham khảo cấu trúc website Printuz, xây dựng phiên bản giao diện mới hiện đại, thống nhất, thân thiện hơn.</a:t>
            </a:r>
          </a:p>
        </p:txBody>
      </p:sp>
      <p:sp>
        <p:nvSpPr>
          <p:cNvPr id="9" name="Rounded Rectangle 8"/>
          <p:cNvSpPr/>
          <p:nvPr/>
        </p:nvSpPr>
        <p:spPr>
          <a:xfrm>
            <a:off x="457200" y="3657600"/>
            <a:ext cx="5532120" cy="2560320"/>
          </a:xfrm>
          <a:prstGeom prst="roundRect">
            <a:avLst>
              <a:gd name="adj" fmla="val 6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3803904"/>
            <a:ext cx="5166359" cy="2286000"/>
          </a:xfrm>
          <a:prstGeom prst="rect">
            <a:avLst/>
          </a:prstGeom>
          <a:noFill/>
        </p:spPr>
        <p:txBody>
          <a:bodyPr wrap="square" lIns="45720" rIns="45720" anchor="t"/>
          <a:lstStyle/>
          <a:p>
            <a:pPr>
              <a:spcAft>
                <a:spcPts val="800"/>
              </a:spcAft>
            </a:pPr>
            <a:r>
              <a:rPr sz="1200" b="1" i="0">
                <a:solidFill>
                  <a:srgbClr val="2F7F80"/>
                </a:solidFill>
                <a:latin typeface="Calibri"/>
              </a:rPr>
              <a:t>ĐỐI TƯỢNG NGƯỜI DÙNG</a:t>
            </a:r>
          </a:p>
          <a:p>
            <a:pPr marL="256032" indent="-256032">
              <a:spcAft>
                <a:spcPts val="500"/>
              </a:spcAft>
              <a:buClr>
                <a:srgbClr val="4FA6A6"/>
              </a:buClr>
              <a:buFont typeface="Arial"/>
              <a:buChar char="•"/>
            </a:pPr>
            <a:r>
              <a:rPr sz="1500" b="0" i="0">
                <a:solidFill>
                  <a:srgbClr val="20242B"/>
                </a:solidFill>
                <a:latin typeface="Calibri"/>
              </a:rPr>
              <a:t>Cá nhân, doanh nghiệp kinh doanh thương mại điện tử.</a:t>
            </a:r>
          </a:p>
          <a:p>
            <a:pPr marL="256032" indent="-256032">
              <a:spcAft>
                <a:spcPts val="500"/>
              </a:spcAft>
              <a:buClr>
                <a:srgbClr val="4FA6A6"/>
              </a:buClr>
              <a:buFont typeface="Arial"/>
              <a:buChar char="•"/>
            </a:pPr>
            <a:r>
              <a:rPr sz="1500" b="0" i="0">
                <a:solidFill>
                  <a:srgbClr val="20242B"/>
                </a:solidFill>
                <a:latin typeface="Calibri"/>
              </a:rPr>
              <a:t>Có nhu cầu in theo yêu cầu (POD), tìm nguồn hàng, dropshipping và fulfillment.</a:t>
            </a:r>
          </a:p>
          <a:p>
            <a:pPr marL="256032" indent="-256032">
              <a:spcAft>
                <a:spcPts val="500"/>
              </a:spcAft>
              <a:buClr>
                <a:srgbClr val="4FA6A6"/>
              </a:buClr>
              <a:buFont typeface="Arial"/>
              <a:buChar char="•"/>
            </a:pPr>
            <a:r>
              <a:rPr sz="1500" b="0" i="0">
                <a:solidFill>
                  <a:srgbClr val="20242B"/>
                </a:solidFill>
                <a:latin typeface="Calibri"/>
              </a:rPr>
              <a:t>Vì vậy giao diện phải nói rõ dịch vụ, tạo cảm giác chuyên nghiệp, giúp tìm thông tin nhanh.</a:t>
            </a:r>
          </a:p>
        </p:txBody>
      </p:sp>
      <p:sp>
        <p:nvSpPr>
          <p:cNvPr id="11" name="TextBox 10"/>
          <p:cNvSpPr txBox="1"/>
          <p:nvPr/>
        </p:nvSpPr>
        <p:spPr>
          <a:xfrm>
            <a:off x="6263640" y="1234440"/>
            <a:ext cx="5486400" cy="274320"/>
          </a:xfrm>
          <a:prstGeom prst="rect">
            <a:avLst/>
          </a:prstGeom>
          <a:noFill/>
        </p:spPr>
        <p:txBody>
          <a:bodyPr wrap="square" lIns="45720" rIns="45720" anchor="t"/>
          <a:lstStyle/>
          <a:p>
            <a:pPr algn="l"/>
            <a:r>
              <a:rPr sz="1200" b="1" i="0">
                <a:solidFill>
                  <a:srgbClr val="2F7F80"/>
                </a:solidFill>
                <a:latin typeface="Calibri"/>
              </a:rPr>
              <a:t>CÁC HẠNG MỤC THỰC HIỆN</a:t>
            </a:r>
          </a:p>
        </p:txBody>
      </p:sp>
      <p:sp>
        <p:nvSpPr>
          <p:cNvPr id="12" name="Oval 11"/>
          <p:cNvSpPr/>
          <p:nvPr/>
        </p:nvSpPr>
        <p:spPr>
          <a:xfrm>
            <a:off x="6263640" y="1600200"/>
            <a:ext cx="502920" cy="502920"/>
          </a:xfrm>
          <a:prstGeom prst="ellipse">
            <a:avLst/>
          </a:prstGeom>
          <a:solidFill>
            <a:srgbClr val="4F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63640" y="1600200"/>
            <a:ext cx="502920" cy="502920"/>
          </a:xfrm>
          <a:prstGeom prst="rect">
            <a:avLst/>
          </a:prstGeom>
          <a:noFill/>
        </p:spPr>
        <p:txBody>
          <a:bodyPr wrap="square" lIns="45720" rIns="45720" anchor="ctr"/>
          <a:lstStyle/>
          <a:p>
            <a:pPr algn="ctr"/>
            <a:r>
              <a:rPr sz="1600" b="1" i="0">
                <a:solidFill>
                  <a:srgbClr val="FFFFFF"/>
                </a:solidFill>
                <a:latin typeface="Calibri"/>
              </a:rPr>
              <a:t>1</a:t>
            </a:r>
          </a:p>
        </p:txBody>
      </p:sp>
      <p:sp>
        <p:nvSpPr>
          <p:cNvPr id="14" name="TextBox 13"/>
          <p:cNvSpPr txBox="1"/>
          <p:nvPr/>
        </p:nvSpPr>
        <p:spPr>
          <a:xfrm>
            <a:off x="6903720" y="1554480"/>
            <a:ext cx="4846320" cy="868680"/>
          </a:xfrm>
          <a:prstGeom prst="rect">
            <a:avLst/>
          </a:prstGeom>
          <a:noFill/>
        </p:spPr>
        <p:txBody>
          <a:bodyPr wrap="square" lIns="45720" rIns="45720" anchor="t"/>
          <a:lstStyle/>
          <a:p>
            <a:pPr>
              <a:spcAft>
                <a:spcPts val="0"/>
              </a:spcAft>
            </a:pPr>
            <a:r>
              <a:rPr sz="1400" b="1" i="0">
                <a:solidFill>
                  <a:srgbClr val="20242B"/>
                </a:solidFill>
                <a:latin typeface="Calibri"/>
              </a:rPr>
              <a:t>Khảo sát: </a:t>
            </a:r>
            <a:r>
              <a:rPr sz="1400" b="0" i="0">
                <a:solidFill>
                  <a:srgbClr val="20242B"/>
                </a:solidFill>
                <a:latin typeface="Calibri"/>
              </a:rPr>
              <a:t>cấu trúc website Printuz, các trang chính, danh mục sản phẩm, thành phần giao diện.</a:t>
            </a:r>
          </a:p>
        </p:txBody>
      </p:sp>
      <p:sp>
        <p:nvSpPr>
          <p:cNvPr id="15" name="Oval 14"/>
          <p:cNvSpPr/>
          <p:nvPr/>
        </p:nvSpPr>
        <p:spPr>
          <a:xfrm>
            <a:off x="6263640" y="2514600"/>
            <a:ext cx="502920" cy="502920"/>
          </a:xfrm>
          <a:prstGeom prst="ellipse">
            <a:avLst/>
          </a:prstGeom>
          <a:solidFill>
            <a:srgbClr val="4F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63640" y="2514600"/>
            <a:ext cx="502920" cy="502920"/>
          </a:xfrm>
          <a:prstGeom prst="rect">
            <a:avLst/>
          </a:prstGeom>
          <a:noFill/>
        </p:spPr>
        <p:txBody>
          <a:bodyPr wrap="square" lIns="45720" rIns="45720" anchor="ctr"/>
          <a:lstStyle/>
          <a:p>
            <a:pPr algn="ctr"/>
            <a:r>
              <a:rPr sz="1600" b="1" i="0">
                <a:solidFill>
                  <a:srgbClr val="FFFFFF"/>
                </a:solidFill>
                <a:latin typeface="Calibri"/>
              </a:rPr>
              <a:t>2</a:t>
            </a:r>
          </a:p>
        </p:txBody>
      </p:sp>
      <p:sp>
        <p:nvSpPr>
          <p:cNvPr id="17" name="TextBox 16"/>
          <p:cNvSpPr txBox="1"/>
          <p:nvPr/>
        </p:nvSpPr>
        <p:spPr>
          <a:xfrm>
            <a:off x="6903720" y="2468880"/>
            <a:ext cx="4846320" cy="868680"/>
          </a:xfrm>
          <a:prstGeom prst="rect">
            <a:avLst/>
          </a:prstGeom>
          <a:noFill/>
        </p:spPr>
        <p:txBody>
          <a:bodyPr wrap="square" lIns="45720" rIns="45720" anchor="t"/>
          <a:lstStyle/>
          <a:p>
            <a:pPr>
              <a:spcAft>
                <a:spcPts val="0"/>
              </a:spcAft>
            </a:pPr>
            <a:r>
              <a:rPr sz="1400" b="1" i="0">
                <a:solidFill>
                  <a:srgbClr val="20242B"/>
                </a:solidFill>
                <a:latin typeface="Calibri"/>
              </a:rPr>
              <a:t>Thành phần dùng chung: </a:t>
            </a:r>
            <a:r>
              <a:rPr sz="1400" b="0" i="0">
                <a:solidFill>
                  <a:srgbClr val="20242B"/>
                </a:solidFill>
                <a:latin typeface="Calibri"/>
              </a:rPr>
              <a:t>header, menu điều hướng, footer, ô tìm kiếm, nút về đầu trang.</a:t>
            </a:r>
          </a:p>
        </p:txBody>
      </p:sp>
      <p:sp>
        <p:nvSpPr>
          <p:cNvPr id="18" name="Oval 17"/>
          <p:cNvSpPr/>
          <p:nvPr/>
        </p:nvSpPr>
        <p:spPr>
          <a:xfrm>
            <a:off x="6263640" y="3429000"/>
            <a:ext cx="502920" cy="502920"/>
          </a:xfrm>
          <a:prstGeom prst="ellipse">
            <a:avLst/>
          </a:prstGeom>
          <a:solidFill>
            <a:srgbClr val="4F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63640" y="3429000"/>
            <a:ext cx="502920" cy="502920"/>
          </a:xfrm>
          <a:prstGeom prst="rect">
            <a:avLst/>
          </a:prstGeom>
          <a:noFill/>
        </p:spPr>
        <p:txBody>
          <a:bodyPr wrap="square" lIns="45720" rIns="45720" anchor="ctr"/>
          <a:lstStyle/>
          <a:p>
            <a:pPr algn="ctr"/>
            <a:r>
              <a:rPr sz="1600" b="1" i="0">
                <a:solidFill>
                  <a:srgbClr val="FFFFFF"/>
                </a:solidFill>
                <a:latin typeface="Calibri"/>
              </a:rPr>
              <a:t>3</a:t>
            </a:r>
          </a:p>
        </p:txBody>
      </p:sp>
      <p:sp>
        <p:nvSpPr>
          <p:cNvPr id="20" name="TextBox 19"/>
          <p:cNvSpPr txBox="1"/>
          <p:nvPr/>
        </p:nvSpPr>
        <p:spPr>
          <a:xfrm>
            <a:off x="6903720" y="3383280"/>
            <a:ext cx="4846320" cy="868680"/>
          </a:xfrm>
          <a:prstGeom prst="rect">
            <a:avLst/>
          </a:prstGeom>
          <a:noFill/>
        </p:spPr>
        <p:txBody>
          <a:bodyPr wrap="square" lIns="45720" rIns="45720" anchor="t"/>
          <a:lstStyle/>
          <a:p>
            <a:pPr>
              <a:spcAft>
                <a:spcPts val="0"/>
              </a:spcAft>
            </a:pPr>
            <a:r>
              <a:rPr sz="1400" b="1" i="0">
                <a:solidFill>
                  <a:srgbClr val="20242B"/>
                </a:solidFill>
                <a:latin typeface="Calibri"/>
              </a:rPr>
              <a:t>Các trang: </a:t>
            </a:r>
            <a:r>
              <a:rPr sz="1400" b="0" i="0">
                <a:solidFill>
                  <a:srgbClr val="20242B"/>
                </a:solidFill>
                <a:latin typeface="Calibri"/>
              </a:rPr>
              <a:t>trang chủ, giới thiệu, dịch vụ, sản phẩm, tin tức, câu hỏi thường gặp, liên hệ, tài khoản, hướng dẫn extension.</a:t>
            </a:r>
          </a:p>
        </p:txBody>
      </p:sp>
      <p:sp>
        <p:nvSpPr>
          <p:cNvPr id="21" name="Oval 20"/>
          <p:cNvSpPr/>
          <p:nvPr/>
        </p:nvSpPr>
        <p:spPr>
          <a:xfrm>
            <a:off x="6263640" y="4343400"/>
            <a:ext cx="502920" cy="502920"/>
          </a:xfrm>
          <a:prstGeom prst="ellipse">
            <a:avLst/>
          </a:prstGeom>
          <a:solidFill>
            <a:srgbClr val="4F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63640" y="4343400"/>
            <a:ext cx="502920" cy="502920"/>
          </a:xfrm>
          <a:prstGeom prst="rect">
            <a:avLst/>
          </a:prstGeom>
          <a:noFill/>
        </p:spPr>
        <p:txBody>
          <a:bodyPr wrap="square" lIns="45720" rIns="45720" anchor="ctr"/>
          <a:lstStyle/>
          <a:p>
            <a:pPr algn="ctr"/>
            <a:r>
              <a:rPr sz="1600" b="1" i="0">
                <a:solidFill>
                  <a:srgbClr val="FFFFFF"/>
                </a:solidFill>
                <a:latin typeface="Calibri"/>
              </a:rPr>
              <a:t>4</a:t>
            </a:r>
          </a:p>
        </p:txBody>
      </p:sp>
      <p:sp>
        <p:nvSpPr>
          <p:cNvPr id="23" name="TextBox 22"/>
          <p:cNvSpPr txBox="1"/>
          <p:nvPr/>
        </p:nvSpPr>
        <p:spPr>
          <a:xfrm>
            <a:off x="6903720" y="4297680"/>
            <a:ext cx="4846320" cy="868680"/>
          </a:xfrm>
          <a:prstGeom prst="rect">
            <a:avLst/>
          </a:prstGeom>
          <a:noFill/>
        </p:spPr>
        <p:txBody>
          <a:bodyPr wrap="square" lIns="45720" rIns="45720" anchor="t"/>
          <a:lstStyle/>
          <a:p>
            <a:pPr>
              <a:spcAft>
                <a:spcPts val="0"/>
              </a:spcAft>
            </a:pPr>
            <a:r>
              <a:rPr sz="1400" b="1" i="0">
                <a:solidFill>
                  <a:srgbClr val="20242B"/>
                </a:solidFill>
                <a:latin typeface="Calibri"/>
              </a:rPr>
              <a:t>Responsive: </a:t>
            </a:r>
            <a:r>
              <a:rPr sz="1400" b="0" i="0">
                <a:solidFill>
                  <a:srgbClr val="20242B"/>
                </a:solidFill>
                <a:latin typeface="Calibri"/>
              </a:rPr>
              <a:t>chỉnh hiển thị trên máy tính, máy tính bảng, điện thoại bằng Bootstrap.</a:t>
            </a:r>
          </a:p>
        </p:txBody>
      </p:sp>
      <p:sp>
        <p:nvSpPr>
          <p:cNvPr id="24" name="Oval 23"/>
          <p:cNvSpPr/>
          <p:nvPr/>
        </p:nvSpPr>
        <p:spPr>
          <a:xfrm>
            <a:off x="6263640" y="5257800"/>
            <a:ext cx="502920" cy="502920"/>
          </a:xfrm>
          <a:prstGeom prst="ellipse">
            <a:avLst/>
          </a:prstGeom>
          <a:solidFill>
            <a:srgbClr val="4F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63640" y="5257800"/>
            <a:ext cx="502920" cy="502920"/>
          </a:xfrm>
          <a:prstGeom prst="rect">
            <a:avLst/>
          </a:prstGeom>
          <a:noFill/>
        </p:spPr>
        <p:txBody>
          <a:bodyPr wrap="square" lIns="45720" rIns="45720" anchor="ctr"/>
          <a:lstStyle/>
          <a:p>
            <a:pPr algn="ctr"/>
            <a:r>
              <a:rPr sz="1600" b="1" i="0">
                <a:solidFill>
                  <a:srgbClr val="FFFFFF"/>
                </a:solidFill>
                <a:latin typeface="Calibri"/>
              </a:rPr>
              <a:t>5</a:t>
            </a:r>
          </a:p>
        </p:txBody>
      </p:sp>
      <p:sp>
        <p:nvSpPr>
          <p:cNvPr id="26" name="TextBox 25"/>
          <p:cNvSpPr txBox="1"/>
          <p:nvPr/>
        </p:nvSpPr>
        <p:spPr>
          <a:xfrm>
            <a:off x="6903720" y="5212080"/>
            <a:ext cx="4846320" cy="868680"/>
          </a:xfrm>
          <a:prstGeom prst="rect">
            <a:avLst/>
          </a:prstGeom>
          <a:noFill/>
        </p:spPr>
        <p:txBody>
          <a:bodyPr wrap="square" lIns="45720" rIns="45720" anchor="t"/>
          <a:lstStyle/>
          <a:p>
            <a:pPr>
              <a:spcAft>
                <a:spcPts val="0"/>
              </a:spcAft>
            </a:pPr>
            <a:r>
              <a:rPr sz="1400" b="1" i="0">
                <a:solidFill>
                  <a:srgbClr val="20242B"/>
                </a:solidFill>
                <a:latin typeface="Calibri"/>
              </a:rPr>
              <a:t>Kiểm tra, sửa lỗi: </a:t>
            </a:r>
            <a:r>
              <a:rPr sz="1400" b="0" i="0">
                <a:solidFill>
                  <a:srgbClr val="20242B"/>
                </a:solidFill>
                <a:latin typeface="Calibri"/>
              </a:rPr>
              <a:t>bố cục, font chữ, khoảng cách, hình ảnh, tương thích trình duyệt.</a:t>
            </a:r>
          </a:p>
        </p:txBody>
      </p:sp>
      <p:sp>
        <p:nvSpPr>
          <p:cNvPr id="27" name="TextBox 26"/>
          <p:cNvSpPr txBox="1"/>
          <p:nvPr/>
        </p:nvSpPr>
        <p:spPr>
          <a:xfrm>
            <a:off x="10332720" y="6492240"/>
            <a:ext cx="1399032" cy="274320"/>
          </a:xfrm>
          <a:prstGeom prst="rect">
            <a:avLst/>
          </a:prstGeom>
          <a:noFill/>
        </p:spPr>
        <p:txBody>
          <a:bodyPr wrap="square" lIns="45720" rIns="45720" anchor="t"/>
          <a:lstStyle/>
          <a:p>
            <a:pPr algn="r"/>
            <a:r>
              <a:rPr sz="1100" b="0" i="0">
                <a:solidFill>
                  <a:srgbClr val="5B6370"/>
                </a:solidFill>
                <a:latin typeface="Calibri"/>
              </a:rPr>
              <a:t>7 / 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4F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
            <a:ext cx="8229600" cy="274320"/>
          </a:xfrm>
          <a:prstGeom prst="rect">
            <a:avLst/>
          </a:prstGeom>
          <a:noFill/>
        </p:spPr>
        <p:txBody>
          <a:bodyPr wrap="square" lIns="45720" rIns="45720" anchor="t"/>
          <a:lstStyle/>
          <a:p>
            <a:pPr algn="l"/>
            <a:r>
              <a:rPr sz="1200" b="1" i="0">
                <a:solidFill>
                  <a:srgbClr val="2F7F80"/>
                </a:solidFill>
                <a:latin typeface="Calibri"/>
              </a:rPr>
              <a:t>02 · MỤC TIÊU, NỘI DUNG, Ý NGHĨA</a:t>
            </a:r>
          </a:p>
        </p:txBody>
      </p:sp>
      <p:sp>
        <p:nvSpPr>
          <p:cNvPr id="4" name="TextBox 3"/>
          <p:cNvSpPr txBox="1"/>
          <p:nvPr/>
        </p:nvSpPr>
        <p:spPr>
          <a:xfrm>
            <a:off x="457200" y="457200"/>
            <a:ext cx="11247120" cy="566928"/>
          </a:xfrm>
          <a:prstGeom prst="rect">
            <a:avLst/>
          </a:prstGeom>
          <a:noFill/>
        </p:spPr>
        <p:txBody>
          <a:bodyPr wrap="square" lIns="45720" rIns="45720" anchor="t"/>
          <a:lstStyle/>
          <a:p>
            <a:pPr algn="l"/>
            <a:r>
              <a:rPr sz="2800" b="1" i="0">
                <a:solidFill>
                  <a:srgbClr val="20242B"/>
                </a:solidFill>
                <a:latin typeface="Calibri"/>
              </a:rPr>
              <a:t>Ý nghĩa của công việc thực tập</a:t>
            </a:r>
          </a:p>
        </p:txBody>
      </p:sp>
      <p:cxnSp>
        <p:nvCxnSpPr>
          <p:cNvPr id="5" name="Connector 4"/>
          <p:cNvCxnSpPr/>
          <p:nvPr/>
        </p:nvCxnSpPr>
        <p:spPr>
          <a:xfrm>
            <a:off x="457200" y="6446520"/>
            <a:ext cx="11274552" cy="0"/>
          </a:xfrm>
          <a:prstGeom prst="line">
            <a:avLst/>
          </a:prstGeom>
          <a:ln w="9525">
            <a:solidFill>
              <a:srgbClr val="D9DEE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92240"/>
            <a:ext cx="8229600" cy="274320"/>
          </a:xfrm>
          <a:prstGeom prst="rect">
            <a:avLst/>
          </a:prstGeom>
          <a:noFill/>
        </p:spPr>
        <p:txBody>
          <a:bodyPr wrap="square" lIns="45720" rIns="45720" anchor="t"/>
          <a:lstStyle/>
          <a:p>
            <a:pPr algn="l"/>
            <a:r>
              <a:rPr sz="1100" b="0" i="0">
                <a:solidFill>
                  <a:srgbClr val="5B6370"/>
                </a:solidFill>
                <a:latin typeface="Calibri"/>
              </a:rPr>
              <a:t>Trần Anh Khoa  ·  Báo cáo thực tập tốt nghiệp  ·  Website Printuz</a:t>
            </a:r>
          </a:p>
        </p:txBody>
      </p:sp>
      <p:sp>
        <p:nvSpPr>
          <p:cNvPr id="7" name="Rounded Rectangle 6"/>
          <p:cNvSpPr/>
          <p:nvPr/>
        </p:nvSpPr>
        <p:spPr>
          <a:xfrm>
            <a:off x="457200" y="1280160"/>
            <a:ext cx="3630168" cy="3931920"/>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426463"/>
            <a:ext cx="3264408" cy="3657600"/>
          </a:xfrm>
          <a:prstGeom prst="rect">
            <a:avLst/>
          </a:prstGeom>
          <a:noFill/>
        </p:spPr>
        <p:txBody>
          <a:bodyPr wrap="square" lIns="45720" rIns="45720" anchor="t"/>
          <a:lstStyle/>
          <a:p>
            <a:r>
              <a:rPr sz="1200" b="1" i="0">
                <a:solidFill>
                  <a:srgbClr val="2F7F80"/>
                </a:solidFill>
                <a:latin typeface="Calibri"/>
              </a:rPr>
              <a:t>ĐỐI VỚI BẢN THÂN</a:t>
            </a:r>
          </a:p>
          <a:p>
            <a:pPr>
              <a:spcBef>
                <a:spcPts val="300"/>
              </a:spcBef>
              <a:spcAft>
                <a:spcPts val="600"/>
              </a:spcAft>
            </a:pPr>
            <a:r>
              <a:rPr sz="1900" b="1" i="0">
                <a:solidFill>
                  <a:srgbClr val="20242B"/>
                </a:solidFill>
                <a:latin typeface="Calibri"/>
              </a:rPr>
              <a:t>Áp dụng kiến thức vào dự án thật</a:t>
            </a:r>
          </a:p>
          <a:p>
            <a:pPr marL="256032" indent="-256032">
              <a:spcAft>
                <a:spcPts val="500"/>
              </a:spcAft>
              <a:buClr>
                <a:srgbClr val="4FA6A6"/>
              </a:buClr>
              <a:buFont typeface="Arial"/>
              <a:buChar char="•"/>
            </a:pPr>
            <a:r>
              <a:rPr sz="1600" b="0" i="0">
                <a:solidFill>
                  <a:srgbClr val="20242B"/>
                </a:solidFill>
                <a:latin typeface="Calibri"/>
              </a:rPr>
              <a:t>Dùng HTML, CSS, Bootstrap, JavaScript cho một website hoàn chỉnh.</a:t>
            </a:r>
          </a:p>
          <a:p>
            <a:pPr marL="256032" indent="-256032">
              <a:spcAft>
                <a:spcPts val="500"/>
              </a:spcAft>
              <a:buClr>
                <a:srgbClr val="4FA6A6"/>
              </a:buClr>
              <a:buFont typeface="Arial"/>
              <a:buChar char="•"/>
            </a:pPr>
            <a:r>
              <a:rPr sz="1600" b="0" i="0">
                <a:solidFill>
                  <a:srgbClr val="20242B"/>
                </a:solidFill>
                <a:latin typeface="Calibri"/>
              </a:rPr>
              <a:t>Hiểu tác phong và quy trình làm việc tại doanh nghiệp.</a:t>
            </a:r>
          </a:p>
          <a:p>
            <a:pPr marL="256032" indent="-256032">
              <a:spcAft>
                <a:spcPts val="500"/>
              </a:spcAft>
              <a:buClr>
                <a:srgbClr val="4FA6A6"/>
              </a:buClr>
              <a:buFont typeface="Arial"/>
              <a:buChar char="•"/>
            </a:pPr>
            <a:r>
              <a:rPr sz="1600" b="0" i="0">
                <a:solidFill>
                  <a:srgbClr val="20242B"/>
                </a:solidFill>
                <a:latin typeface="Calibri"/>
              </a:rPr>
              <a:t>Có kinh nghiệm thực tế, tự tin hơn cho nghề nghiệp sau tốt nghiệp.</a:t>
            </a:r>
          </a:p>
        </p:txBody>
      </p:sp>
      <p:sp>
        <p:nvSpPr>
          <p:cNvPr id="9" name="Rounded Rectangle 8"/>
          <p:cNvSpPr/>
          <p:nvPr/>
        </p:nvSpPr>
        <p:spPr>
          <a:xfrm>
            <a:off x="4279392" y="1280160"/>
            <a:ext cx="3630168" cy="3931920"/>
          </a:xfrm>
          <a:prstGeom prst="roundRect">
            <a:avLst>
              <a:gd name="adj" fmla="val 6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62272" y="1426463"/>
            <a:ext cx="3264408" cy="3657600"/>
          </a:xfrm>
          <a:prstGeom prst="rect">
            <a:avLst/>
          </a:prstGeom>
          <a:noFill/>
        </p:spPr>
        <p:txBody>
          <a:bodyPr wrap="square" lIns="45720" rIns="45720" anchor="t"/>
          <a:lstStyle/>
          <a:p>
            <a:r>
              <a:rPr sz="1200" b="1" i="0">
                <a:solidFill>
                  <a:srgbClr val="2F7F80"/>
                </a:solidFill>
                <a:latin typeface="Calibri"/>
              </a:rPr>
              <a:t>ĐỐI VỚI DOANH NGHIỆP</a:t>
            </a:r>
          </a:p>
          <a:p>
            <a:pPr>
              <a:spcBef>
                <a:spcPts val="300"/>
              </a:spcBef>
              <a:spcAft>
                <a:spcPts val="600"/>
              </a:spcAft>
            </a:pPr>
            <a:r>
              <a:rPr sz="1900" b="1" i="0">
                <a:solidFill>
                  <a:srgbClr val="20242B"/>
                </a:solidFill>
                <a:latin typeface="Calibri"/>
              </a:rPr>
              <a:t>Giao diện nền tảng cho Printuz</a:t>
            </a:r>
          </a:p>
          <a:p>
            <a:pPr marL="256032" indent="-256032">
              <a:spcAft>
                <a:spcPts val="500"/>
              </a:spcAft>
              <a:buClr>
                <a:srgbClr val="4FA6A6"/>
              </a:buClr>
              <a:buFont typeface="Arial"/>
              <a:buChar char="•"/>
            </a:pPr>
            <a:r>
              <a:rPr sz="1600" b="0" i="0">
                <a:solidFill>
                  <a:srgbClr val="20242B"/>
                </a:solidFill>
                <a:latin typeface="Calibri"/>
              </a:rPr>
              <a:t>Phiên bản giao diện mới, hiện đại, thống nhất thương hiệu.</a:t>
            </a:r>
          </a:p>
          <a:p>
            <a:pPr marL="256032" indent="-256032">
              <a:spcAft>
                <a:spcPts val="500"/>
              </a:spcAft>
              <a:buClr>
                <a:srgbClr val="4FA6A6"/>
              </a:buClr>
              <a:buFont typeface="Arial"/>
              <a:buChar char="•"/>
            </a:pPr>
            <a:r>
              <a:rPr sz="1600" b="0" i="0">
                <a:solidFill>
                  <a:srgbClr val="20242B"/>
                </a:solidFill>
                <a:latin typeface="Calibri"/>
              </a:rPr>
              <a:t>Dùng làm bản demo để trình bày và định hướng phát triển.</a:t>
            </a:r>
          </a:p>
          <a:p>
            <a:pPr marL="256032" indent="-256032">
              <a:spcAft>
                <a:spcPts val="500"/>
              </a:spcAft>
              <a:buClr>
                <a:srgbClr val="4FA6A6"/>
              </a:buClr>
              <a:buFont typeface="Arial"/>
              <a:buChar char="•"/>
            </a:pPr>
            <a:r>
              <a:rPr sz="1600" b="0" i="0">
                <a:solidFill>
                  <a:srgbClr val="20242B"/>
                </a:solidFill>
                <a:latin typeface="Calibri"/>
              </a:rPr>
              <a:t>Là nền để tích hợp dữ liệu động và chức năng nghiệp vụ sau này.</a:t>
            </a:r>
          </a:p>
        </p:txBody>
      </p:sp>
      <p:sp>
        <p:nvSpPr>
          <p:cNvPr id="11" name="Rounded Rectangle 10"/>
          <p:cNvSpPr/>
          <p:nvPr/>
        </p:nvSpPr>
        <p:spPr>
          <a:xfrm>
            <a:off x="8101583" y="1280160"/>
            <a:ext cx="3630168" cy="3931920"/>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84463" y="1426463"/>
            <a:ext cx="3264408" cy="3657600"/>
          </a:xfrm>
          <a:prstGeom prst="rect">
            <a:avLst/>
          </a:prstGeom>
          <a:noFill/>
        </p:spPr>
        <p:txBody>
          <a:bodyPr wrap="square" lIns="45720" rIns="45720" anchor="t"/>
          <a:lstStyle/>
          <a:p>
            <a:r>
              <a:rPr sz="1200" b="1" i="0">
                <a:solidFill>
                  <a:srgbClr val="2F7F80"/>
                </a:solidFill>
                <a:latin typeface="Calibri"/>
              </a:rPr>
              <a:t>ĐỐI VỚI NGƯỜI DÙNG</a:t>
            </a:r>
          </a:p>
          <a:p>
            <a:pPr>
              <a:spcBef>
                <a:spcPts val="300"/>
              </a:spcBef>
              <a:spcAft>
                <a:spcPts val="600"/>
              </a:spcAft>
            </a:pPr>
            <a:r>
              <a:rPr sz="1900" b="1" i="0">
                <a:solidFill>
                  <a:srgbClr val="20242B"/>
                </a:solidFill>
                <a:latin typeface="Calibri"/>
              </a:rPr>
              <a:t>Tìm thông tin nhanh và dễ hơn</a:t>
            </a:r>
          </a:p>
          <a:p>
            <a:pPr marL="256032" indent="-256032">
              <a:spcAft>
                <a:spcPts val="500"/>
              </a:spcAft>
              <a:buClr>
                <a:srgbClr val="4FA6A6"/>
              </a:buClr>
              <a:buFont typeface="Arial"/>
              <a:buChar char="•"/>
            </a:pPr>
            <a:r>
              <a:rPr sz="1600" b="0" i="0">
                <a:solidFill>
                  <a:srgbClr val="20242B"/>
                </a:solidFill>
                <a:latin typeface="Calibri"/>
              </a:rPr>
              <a:t>Tiếp cận nhanh dịch vụ, sản phẩm, hướng dẫn, chính sách, tin tức.</a:t>
            </a:r>
          </a:p>
          <a:p>
            <a:pPr marL="256032" indent="-256032">
              <a:spcAft>
                <a:spcPts val="500"/>
              </a:spcAft>
              <a:buClr>
                <a:srgbClr val="4FA6A6"/>
              </a:buClr>
              <a:buFont typeface="Arial"/>
              <a:buChar char="•"/>
            </a:pPr>
            <a:r>
              <a:rPr sz="1600" b="0" i="0">
                <a:solidFill>
                  <a:srgbClr val="20242B"/>
                </a:solidFill>
                <a:latin typeface="Calibri"/>
              </a:rPr>
              <a:t>Dùng được trên máy tính và điện thoại.</a:t>
            </a:r>
          </a:p>
          <a:p>
            <a:pPr marL="256032" indent="-256032">
              <a:spcAft>
                <a:spcPts val="500"/>
              </a:spcAft>
              <a:buClr>
                <a:srgbClr val="4FA6A6"/>
              </a:buClr>
              <a:buFont typeface="Arial"/>
              <a:buChar char="•"/>
            </a:pPr>
            <a:r>
              <a:rPr sz="1600" b="0" i="0">
                <a:solidFill>
                  <a:srgbClr val="20242B"/>
                </a:solidFill>
                <a:latin typeface="Calibri"/>
              </a:rPr>
              <a:t>Giao diện chuyên nghiệp giúp tăng nhận diện và sự tin cậy.</a:t>
            </a:r>
          </a:p>
        </p:txBody>
      </p:sp>
      <p:sp>
        <p:nvSpPr>
          <p:cNvPr id="13" name="Rounded Rectangle 12"/>
          <p:cNvSpPr/>
          <p:nvPr/>
        </p:nvSpPr>
        <p:spPr>
          <a:xfrm>
            <a:off x="457200" y="5440680"/>
            <a:ext cx="11274552" cy="777240"/>
          </a:xfrm>
          <a:prstGeom prst="roundRect">
            <a:avLst>
              <a:gd name="adj" fmla="val 6000"/>
            </a:avLst>
          </a:prstGeom>
          <a:solidFill>
            <a:srgbClr val="4F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5440680"/>
            <a:ext cx="10881360" cy="777240"/>
          </a:xfrm>
          <a:prstGeom prst="rect">
            <a:avLst/>
          </a:prstGeom>
          <a:noFill/>
        </p:spPr>
        <p:txBody>
          <a:bodyPr wrap="square" lIns="45720" rIns="45720" anchor="ctr"/>
          <a:lstStyle/>
          <a:p>
            <a:pPr algn="l"/>
            <a:r>
              <a:rPr sz="1600" b="1" i="0">
                <a:solidFill>
                  <a:srgbClr val="FFFFFF"/>
                </a:solidFill>
                <a:latin typeface="Calibri"/>
              </a:rPr>
              <a:t>Kỳ thực tập vừa đáp ứng yêu cầu của học phần, vừa tạo ra một sản phẩm có giá trị thực tế cho doanh nghiệp.</a:t>
            </a:r>
          </a:p>
        </p:txBody>
      </p:sp>
      <p:sp>
        <p:nvSpPr>
          <p:cNvPr id="15" name="TextBox 14"/>
          <p:cNvSpPr txBox="1"/>
          <p:nvPr/>
        </p:nvSpPr>
        <p:spPr>
          <a:xfrm>
            <a:off x="10332720" y="6492240"/>
            <a:ext cx="1399032" cy="274320"/>
          </a:xfrm>
          <a:prstGeom prst="rect">
            <a:avLst/>
          </a:prstGeom>
          <a:noFill/>
        </p:spPr>
        <p:txBody>
          <a:bodyPr wrap="square" lIns="45720" rIns="45720" anchor="t"/>
          <a:lstStyle/>
          <a:p>
            <a:pPr algn="r"/>
            <a:r>
              <a:rPr sz="1100" b="0" i="0">
                <a:solidFill>
                  <a:srgbClr val="5B6370"/>
                </a:solidFill>
                <a:latin typeface="Calibri"/>
              </a:rPr>
              <a:t>8 / 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4F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
            <a:ext cx="8229600" cy="274320"/>
          </a:xfrm>
          <a:prstGeom prst="rect">
            <a:avLst/>
          </a:prstGeom>
          <a:noFill/>
        </p:spPr>
        <p:txBody>
          <a:bodyPr wrap="square" lIns="45720" rIns="45720" anchor="t"/>
          <a:lstStyle/>
          <a:p>
            <a:pPr algn="l"/>
            <a:r>
              <a:rPr sz="1200" b="1" i="0">
                <a:solidFill>
                  <a:srgbClr val="2F7F80"/>
                </a:solidFill>
                <a:latin typeface="Calibri"/>
              </a:rPr>
              <a:t>03 · VỊ TRÍ CÔNG VIỆC THỰC TẬP</a:t>
            </a:r>
          </a:p>
        </p:txBody>
      </p:sp>
      <p:sp>
        <p:nvSpPr>
          <p:cNvPr id="4" name="TextBox 3"/>
          <p:cNvSpPr txBox="1"/>
          <p:nvPr/>
        </p:nvSpPr>
        <p:spPr>
          <a:xfrm>
            <a:off x="457200" y="457200"/>
            <a:ext cx="11247120" cy="566928"/>
          </a:xfrm>
          <a:prstGeom prst="rect">
            <a:avLst/>
          </a:prstGeom>
          <a:noFill/>
        </p:spPr>
        <p:txBody>
          <a:bodyPr wrap="square" lIns="45720" rIns="45720" anchor="t"/>
          <a:lstStyle/>
          <a:p>
            <a:pPr algn="l"/>
            <a:r>
              <a:rPr sz="2800" b="1" i="0">
                <a:solidFill>
                  <a:srgbClr val="20242B"/>
                </a:solidFill>
                <a:latin typeface="Calibri"/>
              </a:rPr>
              <a:t>Thông tin vị trí thực tập</a:t>
            </a:r>
          </a:p>
        </p:txBody>
      </p:sp>
      <p:cxnSp>
        <p:nvCxnSpPr>
          <p:cNvPr id="5" name="Connector 4"/>
          <p:cNvCxnSpPr/>
          <p:nvPr/>
        </p:nvCxnSpPr>
        <p:spPr>
          <a:xfrm>
            <a:off x="457200" y="6446520"/>
            <a:ext cx="11274552" cy="0"/>
          </a:xfrm>
          <a:prstGeom prst="line">
            <a:avLst/>
          </a:prstGeom>
          <a:ln w="9525">
            <a:solidFill>
              <a:srgbClr val="D9DEE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92240"/>
            <a:ext cx="8229600" cy="274320"/>
          </a:xfrm>
          <a:prstGeom prst="rect">
            <a:avLst/>
          </a:prstGeom>
          <a:noFill/>
        </p:spPr>
        <p:txBody>
          <a:bodyPr wrap="square" lIns="45720" rIns="45720" anchor="t"/>
          <a:lstStyle/>
          <a:p>
            <a:pPr algn="l"/>
            <a:r>
              <a:rPr sz="1100" b="0" i="0">
                <a:solidFill>
                  <a:srgbClr val="5B6370"/>
                </a:solidFill>
                <a:latin typeface="Calibri"/>
              </a:rPr>
              <a:t>Trần Anh Khoa  ·  Báo cáo thực tập tốt nghiệp  ·  Website Printuz</a:t>
            </a:r>
          </a:p>
        </p:txBody>
      </p:sp>
      <p:graphicFrame>
        <p:nvGraphicFramePr>
          <p:cNvPr id="7" name="Table 6"/>
          <p:cNvGraphicFramePr>
            <a:graphicFrameLocks noGrp="1"/>
          </p:cNvGraphicFramePr>
          <p:nvPr/>
        </p:nvGraphicFramePr>
        <p:xfrm>
          <a:off x="457200" y="1280160"/>
          <a:ext cx="5715000" cy="3968496"/>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3703320">
                  <a:extLst>
                    <a:ext uri="{9D8B030D-6E8A-4147-A177-3AD203B41FA5}">
                      <a16:colId xmlns:a16="http://schemas.microsoft.com/office/drawing/2014/main" val="20001"/>
                    </a:ext>
                  </a:extLst>
                </a:gridCol>
              </a:tblGrid>
              <a:tr h="566928">
                <a:tc>
                  <a:txBody>
                    <a:bodyPr/>
                    <a:lstStyle/>
                    <a:p>
                      <a:r>
                        <a:rPr sz="1400" b="1" i="0">
                          <a:solidFill>
                            <a:srgbClr val="FFFFFF"/>
                          </a:solidFill>
                          <a:latin typeface="Calibri"/>
                        </a:rPr>
                        <a:t>Hạng mục</a:t>
                      </a:r>
                    </a:p>
                  </a:txBody>
                  <a:tcPr marL="73152" marR="73152" marT="27432" marB="27432" anchor="ctr">
                    <a:solidFill>
                      <a:srgbClr val="4FA6A6"/>
                    </a:solidFill>
                  </a:tcPr>
                </a:tc>
                <a:tc>
                  <a:txBody>
                    <a:bodyPr/>
                    <a:lstStyle/>
                    <a:p>
                      <a:r>
                        <a:rPr sz="1400" b="1" i="0">
                          <a:solidFill>
                            <a:srgbClr val="FFFFFF"/>
                          </a:solidFill>
                          <a:latin typeface="Calibri"/>
                        </a:rPr>
                        <a:t>Thông tin</a:t>
                      </a:r>
                    </a:p>
                  </a:txBody>
                  <a:tcPr marL="73152" marR="73152" marT="27432" marB="27432" anchor="ctr">
                    <a:solidFill>
                      <a:srgbClr val="4FA6A6"/>
                    </a:solidFill>
                  </a:tcPr>
                </a:tc>
                <a:extLst>
                  <a:ext uri="{0D108BD9-81ED-4DB2-BD59-A6C34878D82A}">
                    <a16:rowId xmlns:a16="http://schemas.microsoft.com/office/drawing/2014/main" val="10000"/>
                  </a:ext>
                </a:extLst>
              </a:tr>
              <a:tr h="566928">
                <a:tc>
                  <a:txBody>
                    <a:bodyPr/>
                    <a:lstStyle/>
                    <a:p>
                      <a:r>
                        <a:rPr sz="1400" b="1" i="0">
                          <a:solidFill>
                            <a:srgbClr val="20242B"/>
                          </a:solidFill>
                          <a:latin typeface="Calibri"/>
                        </a:rPr>
                        <a:t>Vị trí</a:t>
                      </a:r>
                    </a:p>
                  </a:txBody>
                  <a:tcPr marL="73152" marR="73152" marT="27432" marB="27432" anchor="ctr">
                    <a:solidFill>
                      <a:srgbClr val="FFFFFF"/>
                    </a:solidFill>
                  </a:tcPr>
                </a:tc>
                <a:tc>
                  <a:txBody>
                    <a:bodyPr/>
                    <a:lstStyle/>
                    <a:p>
                      <a:r>
                        <a:rPr sz="1400" b="0" i="0">
                          <a:solidFill>
                            <a:srgbClr val="20242B"/>
                          </a:solidFill>
                          <a:latin typeface="Calibri"/>
                        </a:rPr>
                        <a:t>Thực tập sinh lập trình giao diện website (Frontend)</a:t>
                      </a:r>
                    </a:p>
                  </a:txBody>
                  <a:tcPr marL="73152" marR="73152" marT="27432" marB="27432" anchor="ctr">
                    <a:solidFill>
                      <a:srgbClr val="FFFFFF"/>
                    </a:solidFill>
                  </a:tcPr>
                </a:tc>
                <a:extLst>
                  <a:ext uri="{0D108BD9-81ED-4DB2-BD59-A6C34878D82A}">
                    <a16:rowId xmlns:a16="http://schemas.microsoft.com/office/drawing/2014/main" val="10001"/>
                  </a:ext>
                </a:extLst>
              </a:tr>
              <a:tr h="566928">
                <a:tc>
                  <a:txBody>
                    <a:bodyPr/>
                    <a:lstStyle/>
                    <a:p>
                      <a:r>
                        <a:rPr sz="1400" b="1" i="0">
                          <a:solidFill>
                            <a:srgbClr val="20242B"/>
                          </a:solidFill>
                          <a:latin typeface="Calibri"/>
                        </a:rPr>
                        <a:t>Bộ phận</a:t>
                      </a:r>
                    </a:p>
                  </a:txBody>
                  <a:tcPr marL="73152" marR="73152" marT="27432" marB="27432" anchor="ctr">
                    <a:solidFill>
                      <a:srgbClr val="F4F6F7"/>
                    </a:solidFill>
                  </a:tcPr>
                </a:tc>
                <a:tc>
                  <a:txBody>
                    <a:bodyPr/>
                    <a:lstStyle/>
                    <a:p>
                      <a:r>
                        <a:rPr sz="1400" b="0" i="0">
                          <a:solidFill>
                            <a:srgbClr val="20242B"/>
                          </a:solidFill>
                          <a:latin typeface="Calibri"/>
                        </a:rPr>
                        <a:t>Nhóm kỹ thuật</a:t>
                      </a:r>
                    </a:p>
                  </a:txBody>
                  <a:tcPr marL="73152" marR="73152" marT="27432" marB="27432" anchor="ctr">
                    <a:solidFill>
                      <a:srgbClr val="F4F6F7"/>
                    </a:solidFill>
                  </a:tcPr>
                </a:tc>
                <a:extLst>
                  <a:ext uri="{0D108BD9-81ED-4DB2-BD59-A6C34878D82A}">
                    <a16:rowId xmlns:a16="http://schemas.microsoft.com/office/drawing/2014/main" val="10002"/>
                  </a:ext>
                </a:extLst>
              </a:tr>
              <a:tr h="566928">
                <a:tc>
                  <a:txBody>
                    <a:bodyPr/>
                    <a:lstStyle/>
                    <a:p>
                      <a:r>
                        <a:rPr sz="1400" b="1" i="0">
                          <a:solidFill>
                            <a:srgbClr val="20242B"/>
                          </a:solidFill>
                          <a:latin typeface="Calibri"/>
                        </a:rPr>
                        <a:t>Người hướng dẫn</a:t>
                      </a:r>
                    </a:p>
                  </a:txBody>
                  <a:tcPr marL="73152" marR="73152" marT="27432" marB="27432" anchor="ctr">
                    <a:solidFill>
                      <a:srgbClr val="FFFFFF"/>
                    </a:solidFill>
                  </a:tcPr>
                </a:tc>
                <a:tc>
                  <a:txBody>
                    <a:bodyPr/>
                    <a:lstStyle/>
                    <a:p>
                      <a:r>
                        <a:rPr sz="1400" b="0" i="0">
                          <a:solidFill>
                            <a:srgbClr val="20242B"/>
                          </a:solidFill>
                          <a:latin typeface="Calibri"/>
                        </a:rPr>
                        <a:t>Anh Trần Thế Phú</a:t>
                      </a:r>
                    </a:p>
                  </a:txBody>
                  <a:tcPr marL="73152" marR="73152" marT="27432" marB="27432" anchor="ctr">
                    <a:solidFill>
                      <a:srgbClr val="FFFFFF"/>
                    </a:solidFill>
                  </a:tcPr>
                </a:tc>
                <a:extLst>
                  <a:ext uri="{0D108BD9-81ED-4DB2-BD59-A6C34878D82A}">
                    <a16:rowId xmlns:a16="http://schemas.microsoft.com/office/drawing/2014/main" val="10003"/>
                  </a:ext>
                </a:extLst>
              </a:tr>
              <a:tr h="566928">
                <a:tc>
                  <a:txBody>
                    <a:bodyPr/>
                    <a:lstStyle/>
                    <a:p>
                      <a:r>
                        <a:rPr sz="1400" b="1" i="0">
                          <a:solidFill>
                            <a:srgbClr val="20242B"/>
                          </a:solidFill>
                          <a:latin typeface="Calibri"/>
                        </a:rPr>
                        <a:t>Thời gian</a:t>
                      </a:r>
                    </a:p>
                  </a:txBody>
                  <a:tcPr marL="73152" marR="73152" marT="27432" marB="27432" anchor="ctr">
                    <a:solidFill>
                      <a:srgbClr val="F4F6F7"/>
                    </a:solidFill>
                  </a:tcPr>
                </a:tc>
                <a:tc>
                  <a:txBody>
                    <a:bodyPr/>
                    <a:lstStyle/>
                    <a:p>
                      <a:r>
                        <a:rPr sz="1400" b="0" i="0">
                          <a:solidFill>
                            <a:srgbClr val="20242B"/>
                          </a:solidFill>
                          <a:latin typeface="Calibri"/>
                        </a:rPr>
                        <a:t>12 tuần, từ 06/07/2026 đến 27/09/2026</a:t>
                      </a:r>
                    </a:p>
                  </a:txBody>
                  <a:tcPr marL="73152" marR="73152" marT="27432" marB="27432" anchor="ctr">
                    <a:solidFill>
                      <a:srgbClr val="F4F6F7"/>
                    </a:solidFill>
                  </a:tcPr>
                </a:tc>
                <a:extLst>
                  <a:ext uri="{0D108BD9-81ED-4DB2-BD59-A6C34878D82A}">
                    <a16:rowId xmlns:a16="http://schemas.microsoft.com/office/drawing/2014/main" val="10004"/>
                  </a:ext>
                </a:extLst>
              </a:tr>
              <a:tr h="566928">
                <a:tc>
                  <a:txBody>
                    <a:bodyPr/>
                    <a:lstStyle/>
                    <a:p>
                      <a:r>
                        <a:rPr sz="1400" b="1" i="0">
                          <a:solidFill>
                            <a:srgbClr val="20242B"/>
                          </a:solidFill>
                          <a:latin typeface="Calibri"/>
                        </a:rPr>
                        <a:t>Dự án được giao</a:t>
                      </a:r>
                    </a:p>
                  </a:txBody>
                  <a:tcPr marL="73152" marR="73152" marT="27432" marB="27432" anchor="ctr">
                    <a:solidFill>
                      <a:srgbClr val="FFFFFF"/>
                    </a:solidFill>
                  </a:tcPr>
                </a:tc>
                <a:tc>
                  <a:txBody>
                    <a:bodyPr/>
                    <a:lstStyle/>
                    <a:p>
                      <a:r>
                        <a:rPr sz="1400" b="0" i="0">
                          <a:solidFill>
                            <a:srgbClr val="20242B"/>
                          </a:solidFill>
                          <a:latin typeface="Calibri"/>
                        </a:rPr>
                        <a:t>Giao diện website giới thiệu dịch vụ Printuz LTD</a:t>
                      </a:r>
                    </a:p>
                  </a:txBody>
                  <a:tcPr marL="73152" marR="73152" marT="27432" marB="27432" anchor="ctr">
                    <a:solidFill>
                      <a:srgbClr val="FFFFFF"/>
                    </a:solidFill>
                  </a:tcPr>
                </a:tc>
                <a:extLst>
                  <a:ext uri="{0D108BD9-81ED-4DB2-BD59-A6C34878D82A}">
                    <a16:rowId xmlns:a16="http://schemas.microsoft.com/office/drawing/2014/main" val="10005"/>
                  </a:ext>
                </a:extLst>
              </a:tr>
              <a:tr h="566928">
                <a:tc>
                  <a:txBody>
                    <a:bodyPr/>
                    <a:lstStyle/>
                    <a:p>
                      <a:r>
                        <a:rPr sz="1400" b="1" i="0">
                          <a:solidFill>
                            <a:srgbClr val="20242B"/>
                          </a:solidFill>
                          <a:latin typeface="Calibri"/>
                        </a:rPr>
                        <a:t>Hình thức làm việc</a:t>
                      </a:r>
                    </a:p>
                  </a:txBody>
                  <a:tcPr marL="73152" marR="73152" marT="27432" marB="27432" anchor="ctr">
                    <a:solidFill>
                      <a:srgbClr val="F4F6F7"/>
                    </a:solidFill>
                  </a:tcPr>
                </a:tc>
                <a:tc>
                  <a:txBody>
                    <a:bodyPr/>
                    <a:lstStyle/>
                    <a:p>
                      <a:r>
                        <a:rPr sz="1400" b="0" i="0">
                          <a:solidFill>
                            <a:srgbClr val="20242B"/>
                          </a:solidFill>
                          <a:latin typeface="Calibri"/>
                        </a:rPr>
                        <a:t>Làm trong nhóm, có giám sát và hướng dẫn của mentor</a:t>
                      </a:r>
                    </a:p>
                  </a:txBody>
                  <a:tcPr marL="73152" marR="73152" marT="27432" marB="27432" anchor="ctr">
                    <a:solidFill>
                      <a:srgbClr val="F4F6F7"/>
                    </a:solidFill>
                  </a:tcPr>
                </a:tc>
                <a:extLst>
                  <a:ext uri="{0D108BD9-81ED-4DB2-BD59-A6C34878D82A}">
                    <a16:rowId xmlns:a16="http://schemas.microsoft.com/office/drawing/2014/main" val="10006"/>
                  </a:ext>
                </a:extLst>
              </a:tr>
            </a:tbl>
          </a:graphicData>
        </a:graphic>
      </p:graphicFrame>
      <p:sp>
        <p:nvSpPr>
          <p:cNvPr id="8" name="Rounded Rectangle 7"/>
          <p:cNvSpPr/>
          <p:nvPr/>
        </p:nvSpPr>
        <p:spPr>
          <a:xfrm>
            <a:off x="6400800" y="1280160"/>
            <a:ext cx="5330952" cy="2331720"/>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0" y="1426463"/>
            <a:ext cx="4965192" cy="2057400"/>
          </a:xfrm>
          <a:prstGeom prst="rect">
            <a:avLst/>
          </a:prstGeom>
          <a:noFill/>
        </p:spPr>
        <p:txBody>
          <a:bodyPr wrap="square" lIns="45720" rIns="45720" anchor="t"/>
          <a:lstStyle/>
          <a:p>
            <a:pPr>
              <a:spcAft>
                <a:spcPts val="800"/>
              </a:spcAft>
            </a:pPr>
            <a:r>
              <a:rPr sz="1200" b="1" i="0">
                <a:solidFill>
                  <a:srgbClr val="2F7F80"/>
                </a:solidFill>
                <a:latin typeface="Calibri"/>
              </a:rPr>
              <a:t>GIỚI THIỆU CHUNG VỀ VỊ TRÍ</a:t>
            </a:r>
          </a:p>
          <a:p>
            <a:pPr marL="256032" indent="-256032">
              <a:spcAft>
                <a:spcPts val="500"/>
              </a:spcAft>
              <a:buClr>
                <a:srgbClr val="4FA6A6"/>
              </a:buClr>
              <a:buFont typeface="Arial"/>
              <a:buChar char="•"/>
            </a:pPr>
            <a:r>
              <a:rPr sz="1700" b="0" i="0">
                <a:solidFill>
                  <a:srgbClr val="20242B"/>
                </a:solidFill>
                <a:latin typeface="Calibri"/>
              </a:rPr>
              <a:t>Xây dựng phần giao diện mà người dùng trực tiếp nhìn thấy và tương tác.</a:t>
            </a:r>
          </a:p>
          <a:p>
            <a:pPr marL="256032" indent="-256032">
              <a:spcAft>
                <a:spcPts val="500"/>
              </a:spcAft>
              <a:buClr>
                <a:srgbClr val="4FA6A6"/>
              </a:buClr>
              <a:buFont typeface="Arial"/>
              <a:buChar char="•"/>
            </a:pPr>
            <a:r>
              <a:rPr sz="1700" b="0" i="0">
                <a:solidFill>
                  <a:srgbClr val="20242B"/>
                </a:solidFill>
                <a:latin typeface="Calibri"/>
              </a:rPr>
              <a:t>Chuyển yêu cầu và thiết kế thành trang web có cấu trúc rõ ràng, dễ dùng, phù hợp nhiều thiết bị.</a:t>
            </a:r>
          </a:p>
        </p:txBody>
      </p:sp>
      <p:sp>
        <p:nvSpPr>
          <p:cNvPr id="10" name="Rounded Rectangle 9"/>
          <p:cNvSpPr/>
          <p:nvPr/>
        </p:nvSpPr>
        <p:spPr>
          <a:xfrm>
            <a:off x="6400800" y="3794760"/>
            <a:ext cx="5330952" cy="2377440"/>
          </a:xfrm>
          <a:prstGeom prst="roundRect">
            <a:avLst>
              <a:gd name="adj" fmla="val 6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0" y="3941064"/>
            <a:ext cx="4965192" cy="2103120"/>
          </a:xfrm>
          <a:prstGeom prst="rect">
            <a:avLst/>
          </a:prstGeom>
          <a:noFill/>
        </p:spPr>
        <p:txBody>
          <a:bodyPr wrap="square" lIns="45720" rIns="45720" anchor="t"/>
          <a:lstStyle/>
          <a:p>
            <a:pPr>
              <a:spcAft>
                <a:spcPts val="800"/>
              </a:spcAft>
            </a:pPr>
            <a:r>
              <a:rPr sz="1200" b="1" i="0">
                <a:solidFill>
                  <a:srgbClr val="2F7F80"/>
                </a:solidFill>
                <a:latin typeface="Calibri"/>
              </a:rPr>
              <a:t>ĐẶC ĐIỂM CÔNG VIỆC</a:t>
            </a:r>
          </a:p>
          <a:p>
            <a:pPr marL="256032" indent="-256032">
              <a:spcAft>
                <a:spcPts val="500"/>
              </a:spcAft>
              <a:buClr>
                <a:srgbClr val="4FA6A6"/>
              </a:buClr>
              <a:buFont typeface="Arial"/>
              <a:buChar char="•"/>
            </a:pPr>
            <a:r>
              <a:rPr sz="1700" b="0" i="0">
                <a:solidFill>
                  <a:srgbClr val="20242B"/>
                </a:solidFill>
                <a:latin typeface="Calibri"/>
              </a:rPr>
              <a:t>Vừa cần kiến thức lập trình web, vừa cần khả năng quan sát và xử lý giao diện.</a:t>
            </a:r>
          </a:p>
          <a:p>
            <a:pPr marL="256032" indent="-256032">
              <a:spcAft>
                <a:spcPts val="500"/>
              </a:spcAft>
              <a:buClr>
                <a:srgbClr val="4FA6A6"/>
              </a:buClr>
              <a:buFont typeface="Arial"/>
              <a:buChar char="•"/>
            </a:pPr>
            <a:r>
              <a:rPr sz="1700" b="0" i="0">
                <a:solidFill>
                  <a:srgbClr val="20242B"/>
                </a:solidFill>
                <a:latin typeface="Calibri"/>
              </a:rPr>
              <a:t>Làm theo vòng: tìm hiểu yêu cầu, xây dựng giao diện, kiểm tra hoạt động, sửa lỗi phát sinh.</a:t>
            </a:r>
          </a:p>
        </p:txBody>
      </p:sp>
      <p:sp>
        <p:nvSpPr>
          <p:cNvPr id="12" name="TextBox 11"/>
          <p:cNvSpPr txBox="1"/>
          <p:nvPr/>
        </p:nvSpPr>
        <p:spPr>
          <a:xfrm>
            <a:off x="10332720" y="6492240"/>
            <a:ext cx="1399032" cy="274320"/>
          </a:xfrm>
          <a:prstGeom prst="rect">
            <a:avLst/>
          </a:prstGeom>
          <a:noFill/>
        </p:spPr>
        <p:txBody>
          <a:bodyPr wrap="square" lIns="45720" rIns="45720" anchor="t"/>
          <a:lstStyle/>
          <a:p>
            <a:pPr algn="r"/>
            <a:r>
              <a:rPr sz="1100" b="0" i="0">
                <a:solidFill>
                  <a:srgbClr val="5B6370"/>
                </a:solidFill>
                <a:latin typeface="Calibri"/>
              </a:rPr>
              <a:t>9 / 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4F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
            <a:ext cx="8229600" cy="274320"/>
          </a:xfrm>
          <a:prstGeom prst="rect">
            <a:avLst/>
          </a:prstGeom>
          <a:noFill/>
        </p:spPr>
        <p:txBody>
          <a:bodyPr wrap="square" lIns="45720" rIns="45720" anchor="t"/>
          <a:lstStyle/>
          <a:p>
            <a:pPr algn="l"/>
            <a:r>
              <a:rPr sz="1200" b="1" i="0">
                <a:solidFill>
                  <a:srgbClr val="2F7F80"/>
                </a:solidFill>
                <a:latin typeface="Calibri"/>
              </a:rPr>
              <a:t>03 · VỊ TRÍ CÔNG VIỆC THỰC TẬP</a:t>
            </a:r>
          </a:p>
        </p:txBody>
      </p:sp>
      <p:sp>
        <p:nvSpPr>
          <p:cNvPr id="4" name="TextBox 3"/>
          <p:cNvSpPr txBox="1"/>
          <p:nvPr/>
        </p:nvSpPr>
        <p:spPr>
          <a:xfrm>
            <a:off x="457200" y="457200"/>
            <a:ext cx="11247120" cy="566928"/>
          </a:xfrm>
          <a:prstGeom prst="rect">
            <a:avLst/>
          </a:prstGeom>
          <a:noFill/>
        </p:spPr>
        <p:txBody>
          <a:bodyPr wrap="square" lIns="45720" rIns="45720" anchor="t"/>
          <a:lstStyle/>
          <a:p>
            <a:pPr algn="l"/>
            <a:r>
              <a:rPr sz="2800" b="1" i="0">
                <a:solidFill>
                  <a:srgbClr val="20242B"/>
                </a:solidFill>
                <a:latin typeface="Calibri"/>
              </a:rPr>
              <a:t>Yêu cầu đối với thực tập sinh</a:t>
            </a:r>
          </a:p>
        </p:txBody>
      </p:sp>
      <p:cxnSp>
        <p:nvCxnSpPr>
          <p:cNvPr id="5" name="Connector 4"/>
          <p:cNvCxnSpPr/>
          <p:nvPr/>
        </p:nvCxnSpPr>
        <p:spPr>
          <a:xfrm>
            <a:off x="457200" y="6446520"/>
            <a:ext cx="11274552" cy="0"/>
          </a:xfrm>
          <a:prstGeom prst="line">
            <a:avLst/>
          </a:prstGeom>
          <a:ln w="9525">
            <a:solidFill>
              <a:srgbClr val="D9DEE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92240"/>
            <a:ext cx="8229600" cy="274320"/>
          </a:xfrm>
          <a:prstGeom prst="rect">
            <a:avLst/>
          </a:prstGeom>
          <a:noFill/>
        </p:spPr>
        <p:txBody>
          <a:bodyPr wrap="square" lIns="45720" rIns="45720" anchor="t"/>
          <a:lstStyle/>
          <a:p>
            <a:pPr algn="l"/>
            <a:r>
              <a:rPr sz="1100" b="0" i="0">
                <a:solidFill>
                  <a:srgbClr val="5B6370"/>
                </a:solidFill>
                <a:latin typeface="Calibri"/>
              </a:rPr>
              <a:t>Trần Anh Khoa  ·  Báo cáo thực tập tốt nghiệp  ·  Website Printuz</a:t>
            </a:r>
          </a:p>
        </p:txBody>
      </p:sp>
      <p:sp>
        <p:nvSpPr>
          <p:cNvPr id="7" name="Rounded Rectangle 6"/>
          <p:cNvSpPr/>
          <p:nvPr/>
        </p:nvSpPr>
        <p:spPr>
          <a:xfrm>
            <a:off x="457200" y="1280160"/>
            <a:ext cx="3611880" cy="3931920"/>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426463"/>
            <a:ext cx="3246120" cy="3657600"/>
          </a:xfrm>
          <a:prstGeom prst="rect">
            <a:avLst/>
          </a:prstGeom>
          <a:noFill/>
        </p:spPr>
        <p:txBody>
          <a:bodyPr wrap="square" lIns="45720" rIns="45720" anchor="t"/>
          <a:lstStyle/>
          <a:p>
            <a:r>
              <a:rPr sz="1200" b="1" i="0">
                <a:solidFill>
                  <a:srgbClr val="2F7F80"/>
                </a:solidFill>
                <a:latin typeface="Calibri"/>
              </a:rPr>
              <a:t>VỀ KIẾN THỨC</a:t>
            </a:r>
          </a:p>
          <a:p>
            <a:pPr>
              <a:spcBef>
                <a:spcPts val="300"/>
              </a:spcBef>
              <a:spcAft>
                <a:spcPts val="600"/>
              </a:spcAft>
            </a:pPr>
            <a:r>
              <a:rPr sz="1900" b="1" i="0">
                <a:solidFill>
                  <a:srgbClr val="20242B"/>
                </a:solidFill>
                <a:latin typeface="Calibri"/>
              </a:rPr>
              <a:t>Nền tảng lập trình web</a:t>
            </a:r>
          </a:p>
          <a:p>
            <a:pPr marL="256032" indent="-256032">
              <a:spcAft>
                <a:spcPts val="500"/>
              </a:spcAft>
              <a:buClr>
                <a:srgbClr val="4FA6A6"/>
              </a:buClr>
              <a:buFont typeface="Arial"/>
              <a:buChar char="•"/>
            </a:pPr>
            <a:r>
              <a:rPr sz="1500" b="0" i="0">
                <a:solidFill>
                  <a:srgbClr val="20242B"/>
                </a:solidFill>
                <a:latin typeface="Calibri"/>
              </a:rPr>
              <a:t>Kiến thức cơ bản về lập trình website.</a:t>
            </a:r>
          </a:p>
          <a:p>
            <a:pPr marL="256032" indent="-256032">
              <a:spcAft>
                <a:spcPts val="500"/>
              </a:spcAft>
              <a:buClr>
                <a:srgbClr val="4FA6A6"/>
              </a:buClr>
              <a:buFont typeface="Arial"/>
              <a:buChar char="•"/>
            </a:pPr>
            <a:r>
              <a:rPr sz="1500" b="0" i="0">
                <a:solidFill>
                  <a:srgbClr val="20242B"/>
                </a:solidFill>
                <a:latin typeface="Calibri"/>
              </a:rPr>
              <a:t>Nắm được HTML, CSS, Bootstrap và JavaScript.</a:t>
            </a:r>
          </a:p>
          <a:p>
            <a:pPr marL="256032" indent="-256032">
              <a:spcAft>
                <a:spcPts val="500"/>
              </a:spcAft>
              <a:buClr>
                <a:srgbClr val="4FA6A6"/>
              </a:buClr>
              <a:buFont typeface="Arial"/>
              <a:buChar char="•"/>
            </a:pPr>
            <a:r>
              <a:rPr sz="1500" b="0" i="0">
                <a:solidFill>
                  <a:srgbClr val="20242B"/>
                </a:solidFill>
                <a:latin typeface="Calibri"/>
              </a:rPr>
              <a:t>Hiểu khái niệm cơ bản về giao diện người dùng (UI) và trải nghiệm người dùng (UX).</a:t>
            </a:r>
          </a:p>
        </p:txBody>
      </p:sp>
      <p:sp>
        <p:nvSpPr>
          <p:cNvPr id="9" name="Rounded Rectangle 8"/>
          <p:cNvSpPr/>
          <p:nvPr/>
        </p:nvSpPr>
        <p:spPr>
          <a:xfrm>
            <a:off x="4288536" y="1280160"/>
            <a:ext cx="3611880" cy="3931920"/>
          </a:xfrm>
          <a:prstGeom prst="roundRect">
            <a:avLst>
              <a:gd name="adj" fmla="val 6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71416" y="1426463"/>
            <a:ext cx="3246120" cy="3657600"/>
          </a:xfrm>
          <a:prstGeom prst="rect">
            <a:avLst/>
          </a:prstGeom>
          <a:noFill/>
        </p:spPr>
        <p:txBody>
          <a:bodyPr wrap="square" lIns="45720" rIns="45720" anchor="t"/>
          <a:lstStyle/>
          <a:p>
            <a:r>
              <a:rPr sz="1200" b="1" i="0">
                <a:solidFill>
                  <a:srgbClr val="2F7F80"/>
                </a:solidFill>
                <a:latin typeface="Calibri"/>
              </a:rPr>
              <a:t>VỀ KỸ NĂNG</a:t>
            </a:r>
          </a:p>
          <a:p>
            <a:pPr>
              <a:spcBef>
                <a:spcPts val="300"/>
              </a:spcBef>
              <a:spcAft>
                <a:spcPts val="600"/>
              </a:spcAft>
            </a:pPr>
            <a:r>
              <a:rPr sz="1900" b="1" i="0">
                <a:solidFill>
                  <a:srgbClr val="20242B"/>
                </a:solidFill>
                <a:latin typeface="Calibri"/>
              </a:rPr>
              <a:t>Làm được và làm có trách nhiệm</a:t>
            </a:r>
          </a:p>
          <a:p>
            <a:pPr marL="256032" indent="-256032">
              <a:spcAft>
                <a:spcPts val="500"/>
              </a:spcAft>
              <a:buClr>
                <a:srgbClr val="4FA6A6"/>
              </a:buClr>
              <a:buFont typeface="Arial"/>
              <a:buChar char="•"/>
            </a:pPr>
            <a:r>
              <a:rPr sz="1500" b="0" i="0">
                <a:solidFill>
                  <a:srgbClr val="20242B"/>
                </a:solidFill>
                <a:latin typeface="Calibri"/>
              </a:rPr>
              <a:t>Xây dựng được giao diện website.</a:t>
            </a:r>
          </a:p>
          <a:p>
            <a:pPr marL="256032" indent="-256032">
              <a:spcAft>
                <a:spcPts val="500"/>
              </a:spcAft>
              <a:buClr>
                <a:srgbClr val="4FA6A6"/>
              </a:buClr>
              <a:buFont typeface="Arial"/>
              <a:buChar char="•"/>
            </a:pPr>
            <a:r>
              <a:rPr sz="1500" b="0" i="0">
                <a:solidFill>
                  <a:srgbClr val="20242B"/>
                </a:solidFill>
                <a:latin typeface="Calibri"/>
              </a:rPr>
              <a:t>Biết kiểm tra và sửa lỗi giao diện.</a:t>
            </a:r>
          </a:p>
          <a:p>
            <a:pPr marL="256032" indent="-256032">
              <a:spcAft>
                <a:spcPts val="500"/>
              </a:spcAft>
              <a:buClr>
                <a:srgbClr val="4FA6A6"/>
              </a:buClr>
              <a:buFont typeface="Arial"/>
              <a:buChar char="•"/>
            </a:pPr>
            <a:r>
              <a:rPr sz="1500" b="0" i="0">
                <a:solidFill>
                  <a:srgbClr val="20242B"/>
                </a:solidFill>
                <a:latin typeface="Calibri"/>
              </a:rPr>
              <a:t>Tự học, tự tìm tài liệu.</a:t>
            </a:r>
          </a:p>
          <a:p>
            <a:pPr marL="256032" indent="-256032">
              <a:spcAft>
                <a:spcPts val="500"/>
              </a:spcAft>
              <a:buClr>
                <a:srgbClr val="4FA6A6"/>
              </a:buClr>
              <a:buFont typeface="Arial"/>
              <a:buChar char="•"/>
            </a:pPr>
            <a:r>
              <a:rPr sz="1500" b="0" i="0">
                <a:solidFill>
                  <a:srgbClr val="20242B"/>
                </a:solidFill>
                <a:latin typeface="Calibri"/>
              </a:rPr>
              <a:t>Có tinh thần trách nhiệm với công việc được giao.</a:t>
            </a:r>
          </a:p>
        </p:txBody>
      </p:sp>
      <p:sp>
        <p:nvSpPr>
          <p:cNvPr id="11" name="Rounded Rectangle 10"/>
          <p:cNvSpPr/>
          <p:nvPr/>
        </p:nvSpPr>
        <p:spPr>
          <a:xfrm>
            <a:off x="8119872" y="1280160"/>
            <a:ext cx="3611880" cy="3931920"/>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02752" y="1426463"/>
            <a:ext cx="3246120" cy="3657600"/>
          </a:xfrm>
          <a:prstGeom prst="rect">
            <a:avLst/>
          </a:prstGeom>
          <a:noFill/>
        </p:spPr>
        <p:txBody>
          <a:bodyPr wrap="square" lIns="45720" rIns="45720" anchor="t"/>
          <a:lstStyle/>
          <a:p>
            <a:r>
              <a:rPr sz="1200" b="1" i="0">
                <a:solidFill>
                  <a:srgbClr val="2F7F80"/>
                </a:solidFill>
                <a:latin typeface="Calibri"/>
              </a:rPr>
              <a:t>CÁCH EM ĐÁP ỨNG</a:t>
            </a:r>
          </a:p>
          <a:p>
            <a:pPr>
              <a:spcBef>
                <a:spcPts val="300"/>
              </a:spcBef>
              <a:spcAft>
                <a:spcPts val="600"/>
              </a:spcAft>
            </a:pPr>
            <a:r>
              <a:rPr sz="1900" b="1" i="0">
                <a:solidFill>
                  <a:srgbClr val="20242B"/>
                </a:solidFill>
                <a:latin typeface="Calibri"/>
              </a:rPr>
              <a:t>Chuẩn bị trong kỳ thực tập</a:t>
            </a:r>
          </a:p>
          <a:p>
            <a:pPr marL="256032" indent="-256032">
              <a:spcAft>
                <a:spcPts val="500"/>
              </a:spcAft>
              <a:buClr>
                <a:srgbClr val="4FA6A6"/>
              </a:buClr>
              <a:buFont typeface="Arial"/>
              <a:buChar char="•"/>
            </a:pPr>
            <a:r>
              <a:rPr sz="1500" b="0" i="0">
                <a:solidFill>
                  <a:srgbClr val="20242B"/>
                </a:solidFill>
                <a:latin typeface="Calibri"/>
              </a:rPr>
              <a:t>Tuần 3 dành riêng để tìm hiểu các thành phần và cách dùng Bootstrap.</a:t>
            </a:r>
          </a:p>
          <a:p>
            <a:pPr marL="256032" indent="-256032">
              <a:spcAft>
                <a:spcPts val="500"/>
              </a:spcAft>
              <a:buClr>
                <a:srgbClr val="4FA6A6"/>
              </a:buClr>
              <a:buFont typeface="Arial"/>
              <a:buChar char="•"/>
            </a:pPr>
            <a:r>
              <a:rPr sz="1500" b="0" i="0">
                <a:solidFill>
                  <a:srgbClr val="20242B"/>
                </a:solidFill>
                <a:latin typeface="Calibri"/>
              </a:rPr>
              <a:t>Tra cứu tài liệu MDN Web Docs và tài liệu chính thức của Bootstrap 5.</a:t>
            </a:r>
          </a:p>
          <a:p>
            <a:pPr marL="256032" indent="-256032">
              <a:spcAft>
                <a:spcPts val="500"/>
              </a:spcAft>
              <a:buClr>
                <a:srgbClr val="4FA6A6"/>
              </a:buClr>
              <a:buFont typeface="Arial"/>
              <a:buChar char="•"/>
            </a:pPr>
            <a:r>
              <a:rPr sz="1500" b="0" i="0">
                <a:solidFill>
                  <a:srgbClr val="20242B"/>
                </a:solidFill>
                <a:latin typeface="Calibri"/>
              </a:rPr>
              <a:t>Dùng công cụ AI để tự học và xử lý vấn đề phát sinh.</a:t>
            </a:r>
          </a:p>
          <a:p>
            <a:pPr marL="256032" indent="-256032">
              <a:spcAft>
                <a:spcPts val="500"/>
              </a:spcAft>
              <a:buClr>
                <a:srgbClr val="4FA6A6"/>
              </a:buClr>
              <a:buFont typeface="Arial"/>
              <a:buChar char="•"/>
            </a:pPr>
            <a:r>
              <a:rPr sz="1500" b="0" i="0">
                <a:solidFill>
                  <a:srgbClr val="20242B"/>
                </a:solidFill>
                <a:latin typeface="Calibri"/>
              </a:rPr>
              <a:t>Hỏi lại người hướng dẫn khi yêu cầu chưa rõ.</a:t>
            </a:r>
          </a:p>
        </p:txBody>
      </p:sp>
      <p:sp>
        <p:nvSpPr>
          <p:cNvPr id="13" name="Rounded Rectangle 12"/>
          <p:cNvSpPr/>
          <p:nvPr/>
        </p:nvSpPr>
        <p:spPr>
          <a:xfrm>
            <a:off x="457200" y="5440680"/>
            <a:ext cx="11274552" cy="777240"/>
          </a:xfrm>
          <a:prstGeom prst="roundRect">
            <a:avLst>
              <a:gd name="adj" fmla="val 6000"/>
            </a:avLst>
          </a:prstGeom>
          <a:solidFill>
            <a:srgbClr val="4F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5440680"/>
            <a:ext cx="10881360" cy="777240"/>
          </a:xfrm>
          <a:prstGeom prst="rect">
            <a:avLst/>
          </a:prstGeom>
          <a:noFill/>
        </p:spPr>
        <p:txBody>
          <a:bodyPr wrap="square" lIns="45720" rIns="45720" anchor="ctr"/>
          <a:lstStyle/>
          <a:p>
            <a:pPr algn="l"/>
            <a:r>
              <a:rPr sz="1600" b="1" i="0">
                <a:solidFill>
                  <a:srgbClr val="FFFFFF"/>
                </a:solidFill>
                <a:latin typeface="Calibri"/>
              </a:rPr>
              <a:t>Yêu cầu chung: tìm hiểu yêu cầu, xây dựng giao diện, kiểm tra hoạt động và điều chỉnh lỗi phát sinh.</a:t>
            </a:r>
          </a:p>
        </p:txBody>
      </p:sp>
      <p:sp>
        <p:nvSpPr>
          <p:cNvPr id="15" name="TextBox 14"/>
          <p:cNvSpPr txBox="1"/>
          <p:nvPr/>
        </p:nvSpPr>
        <p:spPr>
          <a:xfrm>
            <a:off x="10332720" y="6492240"/>
            <a:ext cx="1399032" cy="274320"/>
          </a:xfrm>
          <a:prstGeom prst="rect">
            <a:avLst/>
          </a:prstGeom>
          <a:noFill/>
        </p:spPr>
        <p:txBody>
          <a:bodyPr wrap="square" lIns="45720" rIns="45720" anchor="t"/>
          <a:lstStyle/>
          <a:p>
            <a:pPr algn="r"/>
            <a:r>
              <a:rPr sz="1100" b="0" i="0">
                <a:solidFill>
                  <a:srgbClr val="5B6370"/>
                </a:solidFill>
                <a:latin typeface="Calibri"/>
              </a:rPr>
              <a:t>10 / 26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4F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
            <a:ext cx="8229600" cy="274320"/>
          </a:xfrm>
          <a:prstGeom prst="rect">
            <a:avLst/>
          </a:prstGeom>
          <a:noFill/>
        </p:spPr>
        <p:txBody>
          <a:bodyPr wrap="square" lIns="45720" rIns="45720" anchor="t"/>
          <a:lstStyle/>
          <a:p>
            <a:pPr algn="l"/>
            <a:r>
              <a:rPr sz="1200" b="1" i="0">
                <a:solidFill>
                  <a:srgbClr val="2F7F80"/>
                </a:solidFill>
                <a:latin typeface="Calibri"/>
              </a:rPr>
              <a:t>03 · VỊ TRÍ CÔNG VIỆC THỰC TẬP</a:t>
            </a:r>
          </a:p>
        </p:txBody>
      </p:sp>
      <p:sp>
        <p:nvSpPr>
          <p:cNvPr id="4" name="TextBox 3"/>
          <p:cNvSpPr txBox="1"/>
          <p:nvPr/>
        </p:nvSpPr>
        <p:spPr>
          <a:xfrm>
            <a:off x="457200" y="457200"/>
            <a:ext cx="11247120" cy="566928"/>
          </a:xfrm>
          <a:prstGeom prst="rect">
            <a:avLst/>
          </a:prstGeom>
          <a:noFill/>
        </p:spPr>
        <p:txBody>
          <a:bodyPr wrap="square" lIns="45720" rIns="45720" anchor="t"/>
          <a:lstStyle/>
          <a:p>
            <a:pPr algn="l"/>
            <a:r>
              <a:rPr sz="2800" b="1" i="0">
                <a:solidFill>
                  <a:srgbClr val="20242B"/>
                </a:solidFill>
                <a:latin typeface="Calibri"/>
              </a:rPr>
              <a:t>Nhiệm vụ được giao và cách phối hợp</a:t>
            </a:r>
          </a:p>
        </p:txBody>
      </p:sp>
      <p:cxnSp>
        <p:nvCxnSpPr>
          <p:cNvPr id="5" name="Connector 4"/>
          <p:cNvCxnSpPr/>
          <p:nvPr/>
        </p:nvCxnSpPr>
        <p:spPr>
          <a:xfrm>
            <a:off x="457200" y="6446520"/>
            <a:ext cx="11274552" cy="0"/>
          </a:xfrm>
          <a:prstGeom prst="line">
            <a:avLst/>
          </a:prstGeom>
          <a:ln w="9525">
            <a:solidFill>
              <a:srgbClr val="D9DEE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92240"/>
            <a:ext cx="8229600" cy="274320"/>
          </a:xfrm>
          <a:prstGeom prst="rect">
            <a:avLst/>
          </a:prstGeom>
          <a:noFill/>
        </p:spPr>
        <p:txBody>
          <a:bodyPr wrap="square" lIns="45720" rIns="45720" anchor="t"/>
          <a:lstStyle/>
          <a:p>
            <a:pPr algn="l"/>
            <a:r>
              <a:rPr sz="1100" b="0" i="0">
                <a:solidFill>
                  <a:srgbClr val="5B6370"/>
                </a:solidFill>
                <a:latin typeface="Calibri"/>
              </a:rPr>
              <a:t>Trần Anh Khoa  ·  Báo cáo thực tập tốt nghiệp  ·  Website Printuz</a:t>
            </a:r>
          </a:p>
        </p:txBody>
      </p:sp>
      <p:sp>
        <p:nvSpPr>
          <p:cNvPr id="7" name="TextBox 6"/>
          <p:cNvSpPr txBox="1"/>
          <p:nvPr/>
        </p:nvSpPr>
        <p:spPr>
          <a:xfrm>
            <a:off x="457200" y="1280160"/>
            <a:ext cx="5760720" cy="4937760"/>
          </a:xfrm>
          <a:prstGeom prst="rect">
            <a:avLst/>
          </a:prstGeom>
          <a:noFill/>
        </p:spPr>
        <p:txBody>
          <a:bodyPr wrap="square" lIns="45720" rIns="45720" anchor="t"/>
          <a:lstStyle/>
          <a:p>
            <a:pPr>
              <a:spcAft>
                <a:spcPts val="800"/>
              </a:spcAft>
            </a:pPr>
            <a:r>
              <a:rPr sz="1200" b="1" i="0">
                <a:solidFill>
                  <a:srgbClr val="2F7F80"/>
                </a:solidFill>
                <a:latin typeface="Calibri"/>
              </a:rPr>
              <a:t>NHIỆM VỤ ĐƯỢC GIAO</a:t>
            </a:r>
          </a:p>
          <a:p>
            <a:pPr marL="256032" indent="-256032">
              <a:spcAft>
                <a:spcPts val="800"/>
              </a:spcAft>
              <a:buClr>
                <a:srgbClr val="4FA6A6"/>
              </a:buClr>
              <a:buFont typeface="Arial"/>
              <a:buChar char="•"/>
            </a:pPr>
            <a:r>
              <a:rPr sz="1600" b="0" i="0">
                <a:solidFill>
                  <a:srgbClr val="20242B"/>
                </a:solidFill>
                <a:latin typeface="Calibri"/>
              </a:rPr>
              <a:t>Tìm hiểu yêu cầu của giao diện website.</a:t>
            </a:r>
          </a:p>
          <a:p>
            <a:pPr marL="256032" indent="-256032">
              <a:spcAft>
                <a:spcPts val="800"/>
              </a:spcAft>
              <a:buClr>
                <a:srgbClr val="4FA6A6"/>
              </a:buClr>
              <a:buFont typeface="Arial"/>
              <a:buChar char="•"/>
            </a:pPr>
            <a:r>
              <a:rPr sz="1600" b="0" i="0">
                <a:solidFill>
                  <a:srgbClr val="20242B"/>
                </a:solidFill>
                <a:latin typeface="Calibri"/>
              </a:rPr>
              <a:t>Xây dựng giao diện bằng HTML, CSS và JavaScript.</a:t>
            </a:r>
          </a:p>
          <a:p>
            <a:pPr marL="256032" indent="-256032">
              <a:spcAft>
                <a:spcPts val="800"/>
              </a:spcAft>
              <a:buClr>
                <a:srgbClr val="4FA6A6"/>
              </a:buClr>
              <a:buFont typeface="Arial"/>
              <a:buChar char="•"/>
            </a:pPr>
            <a:r>
              <a:rPr sz="1600" b="0" i="0">
                <a:solidFill>
                  <a:srgbClr val="20242B"/>
                </a:solidFill>
                <a:latin typeface="Calibri"/>
              </a:rPr>
              <a:t>Điều chỉnh bố cục và hiển thị các thành phần trên website.</a:t>
            </a:r>
          </a:p>
          <a:p>
            <a:pPr marL="256032" indent="-256032">
              <a:spcAft>
                <a:spcPts val="800"/>
              </a:spcAft>
              <a:buClr>
                <a:srgbClr val="4FA6A6"/>
              </a:buClr>
              <a:buFont typeface="Arial"/>
              <a:buChar char="•"/>
            </a:pPr>
            <a:r>
              <a:rPr sz="1600" b="0" i="0">
                <a:solidFill>
                  <a:srgbClr val="20242B"/>
                </a:solidFill>
                <a:latin typeface="Calibri"/>
              </a:rPr>
              <a:t>Kiểm tra hiển thị trên các kích thước màn hình khác nhau.</a:t>
            </a:r>
          </a:p>
          <a:p>
            <a:pPr marL="256032" indent="-256032">
              <a:spcAft>
                <a:spcPts val="800"/>
              </a:spcAft>
              <a:buClr>
                <a:srgbClr val="4FA6A6"/>
              </a:buClr>
              <a:buFont typeface="Arial"/>
              <a:buChar char="•"/>
            </a:pPr>
            <a:r>
              <a:rPr sz="1600" b="0" i="0">
                <a:solidFill>
                  <a:srgbClr val="20242B"/>
                </a:solidFill>
                <a:latin typeface="Calibri"/>
              </a:rPr>
              <a:t>Phát hiện và sửa lỗi giao diện.</a:t>
            </a:r>
          </a:p>
          <a:p>
            <a:pPr marL="256032" indent="-256032">
              <a:spcAft>
                <a:spcPts val="800"/>
              </a:spcAft>
              <a:buClr>
                <a:srgbClr val="4FA6A6"/>
              </a:buClr>
              <a:buFont typeface="Arial"/>
              <a:buChar char="•"/>
            </a:pPr>
            <a:r>
              <a:rPr sz="1600" b="0" i="0">
                <a:solidFill>
                  <a:srgbClr val="20242B"/>
                </a:solidFill>
                <a:latin typeface="Calibri"/>
              </a:rPr>
              <a:t>Cập nhật, hoàn thiện giao diện theo yêu cầu của người hướng dẫn.</a:t>
            </a:r>
          </a:p>
          <a:p>
            <a:pPr marL="256032" indent="-256032">
              <a:spcAft>
                <a:spcPts val="800"/>
              </a:spcAft>
              <a:buClr>
                <a:srgbClr val="4FA6A6"/>
              </a:buClr>
              <a:buFont typeface="Arial"/>
              <a:buChar char="•"/>
            </a:pPr>
            <a:r>
              <a:rPr sz="1600" b="0" i="0">
                <a:solidFill>
                  <a:srgbClr val="20242B"/>
                </a:solidFill>
                <a:latin typeface="Calibri"/>
              </a:rPr>
              <a:t>Báo cáo tiến độ, trao đổi kết quả công việc.</a:t>
            </a:r>
          </a:p>
        </p:txBody>
      </p:sp>
      <p:sp>
        <p:nvSpPr>
          <p:cNvPr id="8" name="Rounded Rectangle 7"/>
          <p:cNvSpPr/>
          <p:nvPr/>
        </p:nvSpPr>
        <p:spPr>
          <a:xfrm>
            <a:off x="6492240" y="1280160"/>
            <a:ext cx="5239512" cy="4892040"/>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20840" y="1417320"/>
            <a:ext cx="4846320" cy="274320"/>
          </a:xfrm>
          <a:prstGeom prst="rect">
            <a:avLst/>
          </a:prstGeom>
          <a:noFill/>
        </p:spPr>
        <p:txBody>
          <a:bodyPr wrap="square" lIns="45720" rIns="45720" anchor="t"/>
          <a:lstStyle/>
          <a:p>
            <a:pPr algn="l"/>
            <a:r>
              <a:rPr sz="1200" b="1" i="0">
                <a:solidFill>
                  <a:srgbClr val="2F7F80"/>
                </a:solidFill>
                <a:latin typeface="Calibri"/>
              </a:rPr>
              <a:t>CÁCH PHỐI HỢP VỚI NGƯỜI HƯỚNG DẪN</a:t>
            </a:r>
          </a:p>
        </p:txBody>
      </p:sp>
      <p:sp>
        <p:nvSpPr>
          <p:cNvPr id="10" name="Rounded Rectangle 9"/>
          <p:cNvSpPr/>
          <p:nvPr/>
        </p:nvSpPr>
        <p:spPr>
          <a:xfrm>
            <a:off x="6720840" y="1828800"/>
            <a:ext cx="4800600" cy="530352"/>
          </a:xfrm>
          <a:prstGeom prst="roundRect">
            <a:avLst>
              <a:gd name="adj" fmla="val 20000"/>
            </a:avLst>
          </a:prstGeom>
          <a:solidFill>
            <a:srgbClr val="4F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12280" y="1828800"/>
            <a:ext cx="4617720" cy="530352"/>
          </a:xfrm>
          <a:prstGeom prst="rect">
            <a:avLst/>
          </a:prstGeom>
          <a:noFill/>
        </p:spPr>
        <p:txBody>
          <a:bodyPr wrap="square" lIns="45720" rIns="45720" anchor="ctr"/>
          <a:lstStyle/>
          <a:p>
            <a:pPr algn="ctr"/>
            <a:r>
              <a:rPr sz="1500" b="1" i="0">
                <a:solidFill>
                  <a:srgbClr val="FFFFFF"/>
                </a:solidFill>
                <a:latin typeface="Calibri"/>
              </a:rPr>
              <a:t>Nhận nhiệm vụ từ anh Trần Thế Phú</a:t>
            </a:r>
          </a:p>
        </p:txBody>
      </p:sp>
      <p:cxnSp>
        <p:nvCxnSpPr>
          <p:cNvPr id="12" name="Connector 11"/>
          <p:cNvCxnSpPr/>
          <p:nvPr/>
        </p:nvCxnSpPr>
        <p:spPr>
          <a:xfrm>
            <a:off x="9116568" y="2359152"/>
            <a:ext cx="0" cy="155448"/>
          </a:xfrm>
          <a:prstGeom prst="line">
            <a:avLst/>
          </a:prstGeom>
          <a:ln w="19050">
            <a:solidFill>
              <a:srgbClr val="2F7F8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720840" y="2514600"/>
            <a:ext cx="4800600" cy="530352"/>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12280" y="2514600"/>
            <a:ext cx="4617720" cy="530352"/>
          </a:xfrm>
          <a:prstGeom prst="rect">
            <a:avLst/>
          </a:prstGeom>
          <a:noFill/>
        </p:spPr>
        <p:txBody>
          <a:bodyPr wrap="square" lIns="45720" rIns="45720" anchor="ctr"/>
          <a:lstStyle/>
          <a:p>
            <a:pPr algn="ctr"/>
            <a:r>
              <a:rPr sz="1500" b="1" i="0">
                <a:solidFill>
                  <a:srgbClr val="2F7F80"/>
                </a:solidFill>
                <a:latin typeface="Calibri"/>
              </a:rPr>
              <a:t>Tìm hiểu yêu cầu</a:t>
            </a:r>
          </a:p>
        </p:txBody>
      </p:sp>
      <p:cxnSp>
        <p:nvCxnSpPr>
          <p:cNvPr id="15" name="Connector 14"/>
          <p:cNvCxnSpPr/>
          <p:nvPr/>
        </p:nvCxnSpPr>
        <p:spPr>
          <a:xfrm>
            <a:off x="9116568" y="3044952"/>
            <a:ext cx="0" cy="155448"/>
          </a:xfrm>
          <a:prstGeom prst="line">
            <a:avLst/>
          </a:prstGeom>
          <a:ln w="19050">
            <a:solidFill>
              <a:srgbClr val="2F7F8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720840" y="3200400"/>
            <a:ext cx="4800600" cy="530352"/>
          </a:xfrm>
          <a:prstGeom prst="roundRect">
            <a:avLst>
              <a:gd name="adj" fmla="val 20000"/>
            </a:avLst>
          </a:prstGeom>
          <a:solidFill>
            <a:srgbClr val="4F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12280" y="3200400"/>
            <a:ext cx="4617720" cy="530352"/>
          </a:xfrm>
          <a:prstGeom prst="rect">
            <a:avLst/>
          </a:prstGeom>
          <a:noFill/>
        </p:spPr>
        <p:txBody>
          <a:bodyPr wrap="square" lIns="45720" rIns="45720" anchor="ctr"/>
          <a:lstStyle/>
          <a:p>
            <a:pPr algn="ctr"/>
            <a:r>
              <a:rPr sz="1500" b="1" i="0">
                <a:solidFill>
                  <a:srgbClr val="FFFFFF"/>
                </a:solidFill>
                <a:latin typeface="Calibri"/>
              </a:rPr>
              <a:t>Thực hiện công việc</a:t>
            </a:r>
          </a:p>
        </p:txBody>
      </p:sp>
      <p:cxnSp>
        <p:nvCxnSpPr>
          <p:cNvPr id="18" name="Connector 17"/>
          <p:cNvCxnSpPr/>
          <p:nvPr/>
        </p:nvCxnSpPr>
        <p:spPr>
          <a:xfrm>
            <a:off x="9116568" y="3730752"/>
            <a:ext cx="0" cy="155448"/>
          </a:xfrm>
          <a:prstGeom prst="line">
            <a:avLst/>
          </a:prstGeom>
          <a:ln w="19050">
            <a:solidFill>
              <a:srgbClr val="2F7F80"/>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720840" y="3886200"/>
            <a:ext cx="4800600" cy="530352"/>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12280" y="3886200"/>
            <a:ext cx="4617720" cy="530352"/>
          </a:xfrm>
          <a:prstGeom prst="rect">
            <a:avLst/>
          </a:prstGeom>
          <a:noFill/>
        </p:spPr>
        <p:txBody>
          <a:bodyPr wrap="square" lIns="45720" rIns="45720" anchor="ctr"/>
          <a:lstStyle/>
          <a:p>
            <a:pPr algn="ctr"/>
            <a:r>
              <a:rPr sz="1500" b="1" i="0">
                <a:solidFill>
                  <a:srgbClr val="2F7F80"/>
                </a:solidFill>
                <a:latin typeface="Calibri"/>
              </a:rPr>
              <a:t>Tự kiểm tra kết quả</a:t>
            </a:r>
          </a:p>
        </p:txBody>
      </p:sp>
      <p:cxnSp>
        <p:nvCxnSpPr>
          <p:cNvPr id="21" name="Connector 20"/>
          <p:cNvCxnSpPr/>
          <p:nvPr/>
        </p:nvCxnSpPr>
        <p:spPr>
          <a:xfrm>
            <a:off x="9116568" y="4416552"/>
            <a:ext cx="0" cy="155448"/>
          </a:xfrm>
          <a:prstGeom prst="line">
            <a:avLst/>
          </a:prstGeom>
          <a:ln w="19050">
            <a:solidFill>
              <a:srgbClr val="2F7F80"/>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720840" y="4572000"/>
            <a:ext cx="4800600" cy="530352"/>
          </a:xfrm>
          <a:prstGeom prst="roundRect">
            <a:avLst>
              <a:gd name="adj" fmla="val 20000"/>
            </a:avLst>
          </a:prstGeom>
          <a:solidFill>
            <a:srgbClr val="4F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12280" y="4572000"/>
            <a:ext cx="4617720" cy="530352"/>
          </a:xfrm>
          <a:prstGeom prst="rect">
            <a:avLst/>
          </a:prstGeom>
          <a:noFill/>
        </p:spPr>
        <p:txBody>
          <a:bodyPr wrap="square" lIns="45720" rIns="45720" anchor="ctr"/>
          <a:lstStyle/>
          <a:p>
            <a:pPr algn="ctr"/>
            <a:r>
              <a:rPr sz="1500" b="1" i="0">
                <a:solidFill>
                  <a:srgbClr val="FFFFFF"/>
                </a:solidFill>
                <a:latin typeface="Calibri"/>
              </a:rPr>
              <a:t>Trao đổi lại khi chưa rõ, điều chỉnh theo góp ý</a:t>
            </a:r>
          </a:p>
        </p:txBody>
      </p:sp>
      <p:cxnSp>
        <p:nvCxnSpPr>
          <p:cNvPr id="24" name="Connector 23"/>
          <p:cNvCxnSpPr/>
          <p:nvPr/>
        </p:nvCxnSpPr>
        <p:spPr>
          <a:xfrm>
            <a:off x="9116568" y="5102352"/>
            <a:ext cx="0" cy="155448"/>
          </a:xfrm>
          <a:prstGeom prst="line">
            <a:avLst/>
          </a:prstGeom>
          <a:ln w="19050">
            <a:solidFill>
              <a:srgbClr val="2F7F8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720840" y="5257800"/>
            <a:ext cx="4800600" cy="530352"/>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812280" y="5257800"/>
            <a:ext cx="4617720" cy="530352"/>
          </a:xfrm>
          <a:prstGeom prst="rect">
            <a:avLst/>
          </a:prstGeom>
          <a:noFill/>
        </p:spPr>
        <p:txBody>
          <a:bodyPr wrap="square" lIns="45720" rIns="45720" anchor="ctr"/>
          <a:lstStyle/>
          <a:p>
            <a:pPr algn="ctr"/>
            <a:r>
              <a:rPr sz="1500" b="1" i="0">
                <a:solidFill>
                  <a:srgbClr val="2F7F80"/>
                </a:solidFill>
                <a:latin typeface="Calibri"/>
              </a:rPr>
              <a:t>Báo cáo tiến độ</a:t>
            </a:r>
          </a:p>
        </p:txBody>
      </p:sp>
      <p:sp>
        <p:nvSpPr>
          <p:cNvPr id="27" name="TextBox 26"/>
          <p:cNvSpPr txBox="1"/>
          <p:nvPr/>
        </p:nvSpPr>
        <p:spPr>
          <a:xfrm>
            <a:off x="10332720" y="6492240"/>
            <a:ext cx="1399032" cy="274320"/>
          </a:xfrm>
          <a:prstGeom prst="rect">
            <a:avLst/>
          </a:prstGeom>
          <a:noFill/>
        </p:spPr>
        <p:txBody>
          <a:bodyPr wrap="square" lIns="45720" rIns="45720" anchor="t"/>
          <a:lstStyle/>
          <a:p>
            <a:pPr algn="r"/>
            <a:r>
              <a:rPr sz="1100" b="0" i="0">
                <a:solidFill>
                  <a:srgbClr val="5B6370"/>
                </a:solidFill>
                <a:latin typeface="Calibri"/>
              </a:rPr>
              <a:t>11 / 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4F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
            <a:ext cx="8229600" cy="274320"/>
          </a:xfrm>
          <a:prstGeom prst="rect">
            <a:avLst/>
          </a:prstGeom>
          <a:noFill/>
        </p:spPr>
        <p:txBody>
          <a:bodyPr wrap="square" lIns="45720" rIns="45720" anchor="t"/>
          <a:lstStyle/>
          <a:p>
            <a:pPr algn="l"/>
            <a:r>
              <a:rPr sz="1200" b="1" i="0">
                <a:solidFill>
                  <a:srgbClr val="2F7F80"/>
                </a:solidFill>
                <a:latin typeface="Calibri"/>
              </a:rPr>
              <a:t>04 · KẾ HOẠCH VÀ TIẾN ĐỘ</a:t>
            </a:r>
          </a:p>
        </p:txBody>
      </p:sp>
      <p:sp>
        <p:nvSpPr>
          <p:cNvPr id="4" name="TextBox 3"/>
          <p:cNvSpPr txBox="1"/>
          <p:nvPr/>
        </p:nvSpPr>
        <p:spPr>
          <a:xfrm>
            <a:off x="457200" y="457200"/>
            <a:ext cx="11247120" cy="566928"/>
          </a:xfrm>
          <a:prstGeom prst="rect">
            <a:avLst/>
          </a:prstGeom>
          <a:noFill/>
        </p:spPr>
        <p:txBody>
          <a:bodyPr wrap="square" lIns="45720" rIns="45720" anchor="t"/>
          <a:lstStyle/>
          <a:p>
            <a:pPr algn="l"/>
            <a:r>
              <a:rPr sz="2800" b="1" i="0">
                <a:solidFill>
                  <a:srgbClr val="20242B"/>
                </a:solidFill>
                <a:latin typeface="Calibri"/>
              </a:rPr>
              <a:t>Kế hoạch thực tập: bốn giai đoạn</a:t>
            </a:r>
          </a:p>
        </p:txBody>
      </p:sp>
      <p:cxnSp>
        <p:nvCxnSpPr>
          <p:cNvPr id="5" name="Connector 4"/>
          <p:cNvCxnSpPr/>
          <p:nvPr/>
        </p:nvCxnSpPr>
        <p:spPr>
          <a:xfrm>
            <a:off x="457200" y="6446520"/>
            <a:ext cx="11274552" cy="0"/>
          </a:xfrm>
          <a:prstGeom prst="line">
            <a:avLst/>
          </a:prstGeom>
          <a:ln w="9525">
            <a:solidFill>
              <a:srgbClr val="D9DEE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92240"/>
            <a:ext cx="8229600" cy="274320"/>
          </a:xfrm>
          <a:prstGeom prst="rect">
            <a:avLst/>
          </a:prstGeom>
          <a:noFill/>
        </p:spPr>
        <p:txBody>
          <a:bodyPr wrap="square" lIns="45720" rIns="45720" anchor="t"/>
          <a:lstStyle/>
          <a:p>
            <a:pPr algn="l"/>
            <a:r>
              <a:rPr sz="1100" b="0" i="0">
                <a:solidFill>
                  <a:srgbClr val="5B6370"/>
                </a:solidFill>
                <a:latin typeface="Calibri"/>
              </a:rPr>
              <a:t>Trần Anh Khoa  ·  Báo cáo thực tập tốt nghiệp  ·  Website Printuz</a:t>
            </a:r>
          </a:p>
        </p:txBody>
      </p:sp>
      <p:cxnSp>
        <p:nvCxnSpPr>
          <p:cNvPr id="7" name="Connector 6"/>
          <p:cNvCxnSpPr/>
          <p:nvPr/>
        </p:nvCxnSpPr>
        <p:spPr>
          <a:xfrm>
            <a:off x="731520" y="1572768"/>
            <a:ext cx="10698480" cy="0"/>
          </a:xfrm>
          <a:prstGeom prst="line">
            <a:avLst/>
          </a:prstGeom>
          <a:ln w="31750">
            <a:solidFill>
              <a:srgbClr val="4FA6A6"/>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673352" y="1417320"/>
            <a:ext cx="310896" cy="310896"/>
          </a:xfrm>
          <a:prstGeom prst="ellipse">
            <a:avLst/>
          </a:prstGeom>
          <a:solidFill>
            <a:srgbClr val="4F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57200" y="1874519"/>
            <a:ext cx="2670048" cy="4343400"/>
          </a:xfrm>
          <a:prstGeom prst="roundRect">
            <a:avLst>
              <a:gd name="adj" fmla="val 6000"/>
            </a:avLst>
          </a:prstGeom>
          <a:solidFill>
            <a:srgbClr val="E3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1965960"/>
            <a:ext cx="2377440" cy="274320"/>
          </a:xfrm>
          <a:prstGeom prst="rect">
            <a:avLst/>
          </a:prstGeom>
          <a:noFill/>
        </p:spPr>
        <p:txBody>
          <a:bodyPr wrap="square" lIns="45720" rIns="45720" anchor="t"/>
          <a:lstStyle/>
          <a:p>
            <a:pPr algn="l"/>
            <a:r>
              <a:rPr sz="1200" b="1" i="0">
                <a:solidFill>
                  <a:srgbClr val="2F7F80"/>
                </a:solidFill>
                <a:latin typeface="Calibri"/>
              </a:rPr>
              <a:t>GIAI ĐOẠN 1</a:t>
            </a:r>
          </a:p>
        </p:txBody>
      </p:sp>
      <p:sp>
        <p:nvSpPr>
          <p:cNvPr id="11" name="TextBox 10"/>
          <p:cNvSpPr txBox="1"/>
          <p:nvPr/>
        </p:nvSpPr>
        <p:spPr>
          <a:xfrm>
            <a:off x="594360" y="2212848"/>
            <a:ext cx="2377440" cy="365760"/>
          </a:xfrm>
          <a:prstGeom prst="rect">
            <a:avLst/>
          </a:prstGeom>
          <a:noFill/>
        </p:spPr>
        <p:txBody>
          <a:bodyPr wrap="square" lIns="45720" rIns="45720" anchor="t"/>
          <a:lstStyle/>
          <a:p>
            <a:pPr algn="l"/>
            <a:r>
              <a:rPr sz="2000" b="1" i="0">
                <a:solidFill>
                  <a:srgbClr val="20242B"/>
                </a:solidFill>
                <a:latin typeface="Calibri"/>
              </a:rPr>
              <a:t>Tuần 1 – 3</a:t>
            </a:r>
          </a:p>
        </p:txBody>
      </p:sp>
      <p:sp>
        <p:nvSpPr>
          <p:cNvPr id="12" name="TextBox 11"/>
          <p:cNvSpPr txBox="1"/>
          <p:nvPr/>
        </p:nvSpPr>
        <p:spPr>
          <a:xfrm>
            <a:off x="594360" y="2587752"/>
            <a:ext cx="2377440" cy="274320"/>
          </a:xfrm>
          <a:prstGeom prst="rect">
            <a:avLst/>
          </a:prstGeom>
          <a:noFill/>
        </p:spPr>
        <p:txBody>
          <a:bodyPr wrap="square" lIns="45720" rIns="45720" anchor="t"/>
          <a:lstStyle/>
          <a:p>
            <a:pPr algn="l"/>
            <a:r>
              <a:rPr sz="1300" b="0" i="0">
                <a:solidFill>
                  <a:srgbClr val="5B6370"/>
                </a:solidFill>
                <a:latin typeface="Calibri"/>
              </a:rPr>
              <a:t>06/07 – 26/07</a:t>
            </a:r>
          </a:p>
        </p:txBody>
      </p:sp>
      <p:sp>
        <p:nvSpPr>
          <p:cNvPr id="13" name="TextBox 12"/>
          <p:cNvSpPr txBox="1"/>
          <p:nvPr/>
        </p:nvSpPr>
        <p:spPr>
          <a:xfrm>
            <a:off x="594360" y="2880360"/>
            <a:ext cx="2423160" cy="594360"/>
          </a:xfrm>
          <a:prstGeom prst="rect">
            <a:avLst/>
          </a:prstGeom>
          <a:noFill/>
        </p:spPr>
        <p:txBody>
          <a:bodyPr wrap="square" lIns="45720" rIns="45720" anchor="t"/>
          <a:lstStyle/>
          <a:p>
            <a:pPr algn="l"/>
            <a:r>
              <a:rPr sz="1600" b="1" i="0">
                <a:solidFill>
                  <a:srgbClr val="2F7F80"/>
                </a:solidFill>
                <a:latin typeface="Calibri"/>
              </a:rPr>
              <a:t>Nghiên cứu, phân tích yêu cầu</a:t>
            </a:r>
          </a:p>
        </p:txBody>
      </p:sp>
      <p:sp>
        <p:nvSpPr>
          <p:cNvPr id="14" name="TextBox 13"/>
          <p:cNvSpPr txBox="1"/>
          <p:nvPr/>
        </p:nvSpPr>
        <p:spPr>
          <a:xfrm>
            <a:off x="548640" y="3474720"/>
            <a:ext cx="2514600" cy="1783080"/>
          </a:xfrm>
          <a:prstGeom prst="rect">
            <a:avLst/>
          </a:prstGeom>
          <a:noFill/>
        </p:spPr>
        <p:txBody>
          <a:bodyPr wrap="square" lIns="45720" rIns="45720" anchor="t"/>
          <a:lstStyle/>
          <a:p>
            <a:pPr marL="256032" indent="-256032">
              <a:spcAft>
                <a:spcPts val="300"/>
              </a:spcAft>
              <a:buClr>
                <a:srgbClr val="4FA6A6"/>
              </a:buClr>
              <a:buFont typeface="Arial"/>
              <a:buChar char="•"/>
            </a:pPr>
            <a:r>
              <a:rPr sz="1300" b="0" i="0">
                <a:solidFill>
                  <a:srgbClr val="20242B"/>
                </a:solidFill>
                <a:latin typeface="Calibri"/>
              </a:rPr>
              <a:t>Tìm hiểu lĩnh vực fulfillment, khách hàng mục tiêu.</a:t>
            </a:r>
          </a:p>
          <a:p>
            <a:pPr marL="256032" indent="-256032">
              <a:spcAft>
                <a:spcPts val="300"/>
              </a:spcAft>
              <a:buClr>
                <a:srgbClr val="4FA6A6"/>
              </a:buClr>
              <a:buFont typeface="Arial"/>
              <a:buChar char="•"/>
            </a:pPr>
            <a:r>
              <a:rPr sz="1300" b="0" i="0">
                <a:solidFill>
                  <a:srgbClr val="20242B"/>
                </a:solidFill>
                <a:latin typeface="Calibri"/>
              </a:rPr>
              <a:t>Khảo sát bố cục, màu sắc, cấu trúc website Printuz.</a:t>
            </a:r>
          </a:p>
          <a:p>
            <a:pPr marL="256032" indent="-256032">
              <a:spcAft>
                <a:spcPts val="300"/>
              </a:spcAft>
              <a:buClr>
                <a:srgbClr val="4FA6A6"/>
              </a:buClr>
              <a:buFont typeface="Arial"/>
              <a:buChar char="•"/>
            </a:pPr>
            <a:r>
              <a:rPr sz="1300" b="0" i="0">
                <a:solidFill>
                  <a:srgbClr val="20242B"/>
                </a:solidFill>
                <a:latin typeface="Calibri"/>
              </a:rPr>
              <a:t>Tìm hiểu Bootstrap.</a:t>
            </a:r>
          </a:p>
        </p:txBody>
      </p:sp>
      <p:sp>
        <p:nvSpPr>
          <p:cNvPr id="15" name="Rounded Rectangle 14"/>
          <p:cNvSpPr/>
          <p:nvPr/>
        </p:nvSpPr>
        <p:spPr>
          <a:xfrm>
            <a:off x="566928" y="5303520"/>
            <a:ext cx="2450592" cy="777240"/>
          </a:xfrm>
          <a:prstGeom prst="roundRect">
            <a:avLst>
              <a:gd name="adj" fmla="val 10000"/>
            </a:avLst>
          </a:prstGeom>
          <a:solidFill>
            <a:srgbClr val="FFFFFF"/>
          </a:solid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5330952"/>
            <a:ext cx="2331720" cy="731520"/>
          </a:xfrm>
          <a:prstGeom prst="rect">
            <a:avLst/>
          </a:prstGeom>
          <a:noFill/>
        </p:spPr>
        <p:txBody>
          <a:bodyPr wrap="square" lIns="45720" rIns="45720" anchor="ctr"/>
          <a:lstStyle/>
          <a:p>
            <a:pPr>
              <a:spcAft>
                <a:spcPts val="0"/>
              </a:spcAft>
            </a:pPr>
            <a:r>
              <a:rPr sz="1200" b="1" i="0">
                <a:solidFill>
                  <a:srgbClr val="20242B"/>
                </a:solidFill>
                <a:latin typeface="Calibri"/>
              </a:rPr>
              <a:t>Kết quả: </a:t>
            </a:r>
            <a:r>
              <a:rPr sz="1200" b="0" i="0">
                <a:solidFill>
                  <a:srgbClr val="20242B"/>
                </a:solidFill>
                <a:latin typeface="Calibri"/>
              </a:rPr>
              <a:t>Định hướng thiết kế và danh sách trang cần làm.</a:t>
            </a:r>
          </a:p>
        </p:txBody>
      </p:sp>
      <p:sp>
        <p:nvSpPr>
          <p:cNvPr id="17" name="Oval 16"/>
          <p:cNvSpPr/>
          <p:nvPr/>
        </p:nvSpPr>
        <p:spPr>
          <a:xfrm>
            <a:off x="4507992" y="1417320"/>
            <a:ext cx="310896" cy="310896"/>
          </a:xfrm>
          <a:prstGeom prst="ellipse">
            <a:avLst/>
          </a:prstGeom>
          <a:solidFill>
            <a:srgbClr val="2F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3291840" y="1874519"/>
            <a:ext cx="2670048" cy="4343400"/>
          </a:xfrm>
          <a:prstGeom prst="roundRect">
            <a:avLst>
              <a:gd name="adj" fmla="val 6000"/>
            </a:avLst>
          </a:prstGeom>
          <a:solidFill>
            <a:srgbClr val="EAF3F3"/>
          </a:solid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29000" y="1965960"/>
            <a:ext cx="2377440" cy="274320"/>
          </a:xfrm>
          <a:prstGeom prst="rect">
            <a:avLst/>
          </a:prstGeom>
          <a:noFill/>
        </p:spPr>
        <p:txBody>
          <a:bodyPr wrap="square" lIns="45720" rIns="45720" anchor="t"/>
          <a:lstStyle/>
          <a:p>
            <a:pPr algn="l"/>
            <a:r>
              <a:rPr sz="1200" b="1" i="0">
                <a:solidFill>
                  <a:srgbClr val="2F7F80"/>
                </a:solidFill>
                <a:latin typeface="Calibri"/>
              </a:rPr>
              <a:t>GIAI ĐOẠN 2</a:t>
            </a:r>
          </a:p>
        </p:txBody>
      </p:sp>
      <p:sp>
        <p:nvSpPr>
          <p:cNvPr id="20" name="TextBox 19"/>
          <p:cNvSpPr txBox="1"/>
          <p:nvPr/>
        </p:nvSpPr>
        <p:spPr>
          <a:xfrm>
            <a:off x="3429000" y="2212848"/>
            <a:ext cx="2377440" cy="365760"/>
          </a:xfrm>
          <a:prstGeom prst="rect">
            <a:avLst/>
          </a:prstGeom>
          <a:noFill/>
        </p:spPr>
        <p:txBody>
          <a:bodyPr wrap="square" lIns="45720" rIns="45720" anchor="t"/>
          <a:lstStyle/>
          <a:p>
            <a:pPr algn="l"/>
            <a:r>
              <a:rPr sz="2000" b="1" i="0">
                <a:solidFill>
                  <a:srgbClr val="20242B"/>
                </a:solidFill>
                <a:latin typeface="Calibri"/>
              </a:rPr>
              <a:t>Tuần 4 – 8</a:t>
            </a:r>
          </a:p>
        </p:txBody>
      </p:sp>
      <p:sp>
        <p:nvSpPr>
          <p:cNvPr id="21" name="TextBox 20"/>
          <p:cNvSpPr txBox="1"/>
          <p:nvPr/>
        </p:nvSpPr>
        <p:spPr>
          <a:xfrm>
            <a:off x="3429000" y="2587752"/>
            <a:ext cx="2377440" cy="274320"/>
          </a:xfrm>
          <a:prstGeom prst="rect">
            <a:avLst/>
          </a:prstGeom>
          <a:noFill/>
        </p:spPr>
        <p:txBody>
          <a:bodyPr wrap="square" lIns="45720" rIns="45720" anchor="t"/>
          <a:lstStyle/>
          <a:p>
            <a:pPr algn="l"/>
            <a:r>
              <a:rPr sz="1300" b="0" i="0">
                <a:solidFill>
                  <a:srgbClr val="5B6370"/>
                </a:solidFill>
                <a:latin typeface="Calibri"/>
              </a:rPr>
              <a:t>27/07 – 30/08</a:t>
            </a:r>
          </a:p>
        </p:txBody>
      </p:sp>
      <p:sp>
        <p:nvSpPr>
          <p:cNvPr id="22" name="TextBox 21"/>
          <p:cNvSpPr txBox="1"/>
          <p:nvPr/>
        </p:nvSpPr>
        <p:spPr>
          <a:xfrm>
            <a:off x="3429000" y="2880360"/>
            <a:ext cx="2423160" cy="594360"/>
          </a:xfrm>
          <a:prstGeom prst="rect">
            <a:avLst/>
          </a:prstGeom>
          <a:noFill/>
        </p:spPr>
        <p:txBody>
          <a:bodyPr wrap="square" lIns="45720" rIns="45720" anchor="t"/>
          <a:lstStyle/>
          <a:p>
            <a:pPr algn="l"/>
            <a:r>
              <a:rPr sz="1600" b="1" i="0">
                <a:solidFill>
                  <a:srgbClr val="2F7F80"/>
                </a:solidFill>
                <a:latin typeface="Calibri"/>
              </a:rPr>
              <a:t>Xây dựng giao diện</a:t>
            </a:r>
          </a:p>
        </p:txBody>
      </p:sp>
      <p:sp>
        <p:nvSpPr>
          <p:cNvPr id="23" name="TextBox 22"/>
          <p:cNvSpPr txBox="1"/>
          <p:nvPr/>
        </p:nvSpPr>
        <p:spPr>
          <a:xfrm>
            <a:off x="3383280" y="3474720"/>
            <a:ext cx="2514600" cy="1783080"/>
          </a:xfrm>
          <a:prstGeom prst="rect">
            <a:avLst/>
          </a:prstGeom>
          <a:noFill/>
        </p:spPr>
        <p:txBody>
          <a:bodyPr wrap="square" lIns="45720" rIns="45720" anchor="t"/>
          <a:lstStyle/>
          <a:p>
            <a:pPr marL="256032" indent="-256032">
              <a:spcAft>
                <a:spcPts val="300"/>
              </a:spcAft>
              <a:buClr>
                <a:srgbClr val="4FA6A6"/>
              </a:buClr>
              <a:buFont typeface="Arial"/>
              <a:buChar char="•"/>
            </a:pPr>
            <a:r>
              <a:rPr sz="1300" b="0" i="0">
                <a:solidFill>
                  <a:srgbClr val="20242B"/>
                </a:solidFill>
                <a:latin typeface="Calibri"/>
              </a:rPr>
              <a:t>Header, menu, footer, trang chủ.</a:t>
            </a:r>
          </a:p>
          <a:p>
            <a:pPr marL="256032" indent="-256032">
              <a:spcAft>
                <a:spcPts val="300"/>
              </a:spcAft>
              <a:buClr>
                <a:srgbClr val="4FA6A6"/>
              </a:buClr>
              <a:buFont typeface="Arial"/>
              <a:buChar char="•"/>
            </a:pPr>
            <a:r>
              <a:rPr sz="1300" b="0" i="0">
                <a:solidFill>
                  <a:srgbClr val="20242B"/>
                </a:solidFill>
                <a:latin typeface="Calibri"/>
              </a:rPr>
              <a:t>Catalog, chi tiết sản phẩm, giới thiệu, liên hệ, blog.</a:t>
            </a:r>
          </a:p>
          <a:p>
            <a:pPr marL="256032" indent="-256032">
              <a:spcAft>
                <a:spcPts val="300"/>
              </a:spcAft>
              <a:buClr>
                <a:srgbClr val="4FA6A6"/>
              </a:buClr>
              <a:buFont typeface="Arial"/>
              <a:buChar char="•"/>
            </a:pPr>
            <a:r>
              <a:rPr sz="1300" b="0" i="0">
                <a:solidFill>
                  <a:srgbClr val="20242B"/>
                </a:solidFill>
                <a:latin typeface="Calibri"/>
              </a:rPr>
              <a:t>Responsive bằng Bootstrap.</a:t>
            </a:r>
          </a:p>
        </p:txBody>
      </p:sp>
      <p:sp>
        <p:nvSpPr>
          <p:cNvPr id="24" name="Rounded Rectangle 23"/>
          <p:cNvSpPr/>
          <p:nvPr/>
        </p:nvSpPr>
        <p:spPr>
          <a:xfrm>
            <a:off x="3401568" y="5303520"/>
            <a:ext cx="2450592" cy="777240"/>
          </a:xfrm>
          <a:prstGeom prst="roundRect">
            <a:avLst>
              <a:gd name="adj" fmla="val 10000"/>
            </a:avLst>
          </a:prstGeom>
          <a:solidFill>
            <a:srgbClr val="FFFFFF"/>
          </a:solid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474720" y="5330952"/>
            <a:ext cx="2331720" cy="731520"/>
          </a:xfrm>
          <a:prstGeom prst="rect">
            <a:avLst/>
          </a:prstGeom>
          <a:noFill/>
        </p:spPr>
        <p:txBody>
          <a:bodyPr wrap="square" lIns="45720" rIns="45720" anchor="ctr"/>
          <a:lstStyle/>
          <a:p>
            <a:pPr>
              <a:spcAft>
                <a:spcPts val="0"/>
              </a:spcAft>
            </a:pPr>
            <a:r>
              <a:rPr sz="1200" b="1" i="0">
                <a:solidFill>
                  <a:srgbClr val="20242B"/>
                </a:solidFill>
                <a:latin typeface="Calibri"/>
              </a:rPr>
              <a:t>Kết quả: </a:t>
            </a:r>
            <a:r>
              <a:rPr sz="1200" b="0" i="0">
                <a:solidFill>
                  <a:srgbClr val="20242B"/>
                </a:solidFill>
                <a:latin typeface="Calibri"/>
              </a:rPr>
              <a:t>Các trang chính của website.</a:t>
            </a:r>
          </a:p>
        </p:txBody>
      </p:sp>
      <p:sp>
        <p:nvSpPr>
          <p:cNvPr id="26" name="Oval 25"/>
          <p:cNvSpPr/>
          <p:nvPr/>
        </p:nvSpPr>
        <p:spPr>
          <a:xfrm>
            <a:off x="7342632" y="1417320"/>
            <a:ext cx="310896" cy="310896"/>
          </a:xfrm>
          <a:prstGeom prst="ellipse">
            <a:avLst/>
          </a:prstGeom>
          <a:solidFill>
            <a:srgbClr val="4F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126480" y="1874519"/>
            <a:ext cx="2670048" cy="4343400"/>
          </a:xfrm>
          <a:prstGeom prst="roundRect">
            <a:avLst>
              <a:gd name="adj" fmla="val 6000"/>
            </a:avLst>
          </a:prstGeom>
          <a:solidFill>
            <a:srgbClr val="FD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63640" y="1965960"/>
            <a:ext cx="2377440" cy="274320"/>
          </a:xfrm>
          <a:prstGeom prst="rect">
            <a:avLst/>
          </a:prstGeom>
          <a:noFill/>
        </p:spPr>
        <p:txBody>
          <a:bodyPr wrap="square" lIns="45720" rIns="45720" anchor="t"/>
          <a:lstStyle/>
          <a:p>
            <a:pPr algn="l"/>
            <a:r>
              <a:rPr sz="1200" b="1" i="0">
                <a:solidFill>
                  <a:srgbClr val="2F7F80"/>
                </a:solidFill>
                <a:latin typeface="Calibri"/>
              </a:rPr>
              <a:t>GIAI ĐOẠN 3</a:t>
            </a:r>
          </a:p>
        </p:txBody>
      </p:sp>
      <p:sp>
        <p:nvSpPr>
          <p:cNvPr id="29" name="TextBox 28"/>
          <p:cNvSpPr txBox="1"/>
          <p:nvPr/>
        </p:nvSpPr>
        <p:spPr>
          <a:xfrm>
            <a:off x="6263640" y="2212848"/>
            <a:ext cx="2377440" cy="365760"/>
          </a:xfrm>
          <a:prstGeom prst="rect">
            <a:avLst/>
          </a:prstGeom>
          <a:noFill/>
        </p:spPr>
        <p:txBody>
          <a:bodyPr wrap="square" lIns="45720" rIns="45720" anchor="t"/>
          <a:lstStyle/>
          <a:p>
            <a:pPr algn="l"/>
            <a:r>
              <a:rPr sz="2000" b="1" i="0">
                <a:solidFill>
                  <a:srgbClr val="20242B"/>
                </a:solidFill>
                <a:latin typeface="Calibri"/>
              </a:rPr>
              <a:t>Tuần 9 – 10</a:t>
            </a:r>
          </a:p>
        </p:txBody>
      </p:sp>
      <p:sp>
        <p:nvSpPr>
          <p:cNvPr id="30" name="TextBox 29"/>
          <p:cNvSpPr txBox="1"/>
          <p:nvPr/>
        </p:nvSpPr>
        <p:spPr>
          <a:xfrm>
            <a:off x="6263640" y="2587752"/>
            <a:ext cx="2377440" cy="274320"/>
          </a:xfrm>
          <a:prstGeom prst="rect">
            <a:avLst/>
          </a:prstGeom>
          <a:noFill/>
        </p:spPr>
        <p:txBody>
          <a:bodyPr wrap="square" lIns="45720" rIns="45720" anchor="t"/>
          <a:lstStyle/>
          <a:p>
            <a:pPr algn="l"/>
            <a:r>
              <a:rPr sz="1300" b="0" i="0">
                <a:solidFill>
                  <a:srgbClr val="5B6370"/>
                </a:solidFill>
                <a:latin typeface="Calibri"/>
              </a:rPr>
              <a:t>31/08 – 13/09</a:t>
            </a:r>
          </a:p>
        </p:txBody>
      </p:sp>
      <p:sp>
        <p:nvSpPr>
          <p:cNvPr id="31" name="TextBox 30"/>
          <p:cNvSpPr txBox="1"/>
          <p:nvPr/>
        </p:nvSpPr>
        <p:spPr>
          <a:xfrm>
            <a:off x="6263640" y="2880360"/>
            <a:ext cx="2423160" cy="594360"/>
          </a:xfrm>
          <a:prstGeom prst="rect">
            <a:avLst/>
          </a:prstGeom>
          <a:noFill/>
        </p:spPr>
        <p:txBody>
          <a:bodyPr wrap="square" lIns="45720" rIns="45720" anchor="t"/>
          <a:lstStyle/>
          <a:p>
            <a:pPr algn="l"/>
            <a:r>
              <a:rPr sz="1600" b="1" i="0">
                <a:solidFill>
                  <a:srgbClr val="2F7F80"/>
                </a:solidFill>
                <a:latin typeface="Calibri"/>
              </a:rPr>
              <a:t>Hoàn thiện và kiểm thử</a:t>
            </a:r>
          </a:p>
        </p:txBody>
      </p:sp>
      <p:sp>
        <p:nvSpPr>
          <p:cNvPr id="32" name="TextBox 31"/>
          <p:cNvSpPr txBox="1"/>
          <p:nvPr/>
        </p:nvSpPr>
        <p:spPr>
          <a:xfrm>
            <a:off x="6217920" y="3474720"/>
            <a:ext cx="2514600" cy="1783080"/>
          </a:xfrm>
          <a:prstGeom prst="rect">
            <a:avLst/>
          </a:prstGeom>
          <a:noFill/>
        </p:spPr>
        <p:txBody>
          <a:bodyPr wrap="square" lIns="45720" rIns="45720" anchor="t"/>
          <a:lstStyle/>
          <a:p>
            <a:pPr marL="256032" indent="-256032">
              <a:spcAft>
                <a:spcPts val="300"/>
              </a:spcAft>
              <a:buClr>
                <a:srgbClr val="4FA6A6"/>
              </a:buClr>
              <a:buFont typeface="Arial"/>
              <a:buChar char="•"/>
            </a:pPr>
            <a:r>
              <a:rPr sz="1300" b="0" i="0">
                <a:solidFill>
                  <a:srgbClr val="20242B"/>
                </a:solidFill>
                <a:latin typeface="Calibri"/>
              </a:rPr>
              <a:t>Rà soát bố cục, màu, font, khoảng cách, hiệu ứng.</a:t>
            </a:r>
          </a:p>
          <a:p>
            <a:pPr marL="256032" indent="-256032">
              <a:spcAft>
                <a:spcPts val="300"/>
              </a:spcAft>
              <a:buClr>
                <a:srgbClr val="4FA6A6"/>
              </a:buClr>
              <a:buFont typeface="Arial"/>
              <a:buChar char="•"/>
            </a:pPr>
            <a:r>
              <a:rPr sz="1300" b="0" i="0">
                <a:solidFill>
                  <a:srgbClr val="20242B"/>
                </a:solidFill>
                <a:latin typeface="Calibri"/>
              </a:rPr>
              <a:t>Sửa lỗi theo góp ý.</a:t>
            </a:r>
          </a:p>
          <a:p>
            <a:pPr marL="256032" indent="-256032">
              <a:spcAft>
                <a:spcPts val="300"/>
              </a:spcAft>
              <a:buClr>
                <a:srgbClr val="4FA6A6"/>
              </a:buClr>
              <a:buFont typeface="Arial"/>
              <a:buChar char="•"/>
            </a:pPr>
            <a:r>
              <a:rPr sz="1300" b="0" i="0">
                <a:solidFill>
                  <a:srgbClr val="20242B"/>
                </a:solidFill>
                <a:latin typeface="Calibri"/>
              </a:rPr>
              <a:t>Báo cáo người hướng dẫn.</a:t>
            </a:r>
          </a:p>
        </p:txBody>
      </p:sp>
      <p:sp>
        <p:nvSpPr>
          <p:cNvPr id="33" name="Rounded Rectangle 32"/>
          <p:cNvSpPr/>
          <p:nvPr/>
        </p:nvSpPr>
        <p:spPr>
          <a:xfrm>
            <a:off x="6236208" y="5303520"/>
            <a:ext cx="2450592" cy="777240"/>
          </a:xfrm>
          <a:prstGeom prst="roundRect">
            <a:avLst>
              <a:gd name="adj" fmla="val 10000"/>
            </a:avLst>
          </a:prstGeom>
          <a:solidFill>
            <a:srgbClr val="FFFFFF"/>
          </a:solid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309360" y="5330952"/>
            <a:ext cx="2331720" cy="731520"/>
          </a:xfrm>
          <a:prstGeom prst="rect">
            <a:avLst/>
          </a:prstGeom>
          <a:noFill/>
        </p:spPr>
        <p:txBody>
          <a:bodyPr wrap="square" lIns="45720" rIns="45720" anchor="ctr"/>
          <a:lstStyle/>
          <a:p>
            <a:pPr>
              <a:spcAft>
                <a:spcPts val="0"/>
              </a:spcAft>
            </a:pPr>
            <a:r>
              <a:rPr sz="1200" b="1" i="0">
                <a:solidFill>
                  <a:srgbClr val="20242B"/>
                </a:solidFill>
                <a:latin typeface="Calibri"/>
              </a:rPr>
              <a:t>Kết quả: </a:t>
            </a:r>
            <a:r>
              <a:rPr sz="1200" b="0" i="0">
                <a:solidFill>
                  <a:srgbClr val="20242B"/>
                </a:solidFill>
                <a:latin typeface="Calibri"/>
              </a:rPr>
              <a:t>Bản demo website hoàn chỉnh.</a:t>
            </a:r>
          </a:p>
        </p:txBody>
      </p:sp>
      <p:sp>
        <p:nvSpPr>
          <p:cNvPr id="35" name="Oval 34"/>
          <p:cNvSpPr/>
          <p:nvPr/>
        </p:nvSpPr>
        <p:spPr>
          <a:xfrm>
            <a:off x="10177272" y="1417320"/>
            <a:ext cx="310896" cy="310896"/>
          </a:xfrm>
          <a:prstGeom prst="ellipse">
            <a:avLst/>
          </a:prstGeom>
          <a:solidFill>
            <a:srgbClr val="2F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8961120" y="1874519"/>
            <a:ext cx="2670048" cy="4343400"/>
          </a:xfrm>
          <a:prstGeom prst="roundRect">
            <a:avLst>
              <a:gd name="adj" fmla="val 6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098280" y="1965960"/>
            <a:ext cx="2377440" cy="274320"/>
          </a:xfrm>
          <a:prstGeom prst="rect">
            <a:avLst/>
          </a:prstGeom>
          <a:noFill/>
        </p:spPr>
        <p:txBody>
          <a:bodyPr wrap="square" lIns="45720" rIns="45720" anchor="t"/>
          <a:lstStyle/>
          <a:p>
            <a:pPr algn="l"/>
            <a:r>
              <a:rPr sz="1200" b="1" i="0">
                <a:solidFill>
                  <a:srgbClr val="2F7F80"/>
                </a:solidFill>
                <a:latin typeface="Calibri"/>
              </a:rPr>
              <a:t>GIAI ĐOẠN 4</a:t>
            </a:r>
          </a:p>
        </p:txBody>
      </p:sp>
      <p:sp>
        <p:nvSpPr>
          <p:cNvPr id="38" name="TextBox 37"/>
          <p:cNvSpPr txBox="1"/>
          <p:nvPr/>
        </p:nvSpPr>
        <p:spPr>
          <a:xfrm>
            <a:off x="9098280" y="2212848"/>
            <a:ext cx="2377440" cy="365760"/>
          </a:xfrm>
          <a:prstGeom prst="rect">
            <a:avLst/>
          </a:prstGeom>
          <a:noFill/>
        </p:spPr>
        <p:txBody>
          <a:bodyPr wrap="square" lIns="45720" rIns="45720" anchor="t"/>
          <a:lstStyle/>
          <a:p>
            <a:pPr algn="l"/>
            <a:r>
              <a:rPr sz="2000" b="1" i="0">
                <a:solidFill>
                  <a:srgbClr val="20242B"/>
                </a:solidFill>
                <a:latin typeface="Calibri"/>
              </a:rPr>
              <a:t>Tuần 11 – 12</a:t>
            </a:r>
          </a:p>
        </p:txBody>
      </p:sp>
      <p:sp>
        <p:nvSpPr>
          <p:cNvPr id="39" name="TextBox 38"/>
          <p:cNvSpPr txBox="1"/>
          <p:nvPr/>
        </p:nvSpPr>
        <p:spPr>
          <a:xfrm>
            <a:off x="9098280" y="2587752"/>
            <a:ext cx="2377440" cy="274320"/>
          </a:xfrm>
          <a:prstGeom prst="rect">
            <a:avLst/>
          </a:prstGeom>
          <a:noFill/>
        </p:spPr>
        <p:txBody>
          <a:bodyPr wrap="square" lIns="45720" rIns="45720" anchor="t"/>
          <a:lstStyle/>
          <a:p>
            <a:pPr algn="l"/>
            <a:r>
              <a:rPr sz="1300" b="0" i="0">
                <a:solidFill>
                  <a:srgbClr val="5B6370"/>
                </a:solidFill>
                <a:latin typeface="Calibri"/>
              </a:rPr>
              <a:t>14/09 – 27/09</a:t>
            </a:r>
          </a:p>
        </p:txBody>
      </p:sp>
      <p:sp>
        <p:nvSpPr>
          <p:cNvPr id="40" name="TextBox 39"/>
          <p:cNvSpPr txBox="1"/>
          <p:nvPr/>
        </p:nvSpPr>
        <p:spPr>
          <a:xfrm>
            <a:off x="9098280" y="2880360"/>
            <a:ext cx="2423160" cy="594360"/>
          </a:xfrm>
          <a:prstGeom prst="rect">
            <a:avLst/>
          </a:prstGeom>
          <a:noFill/>
        </p:spPr>
        <p:txBody>
          <a:bodyPr wrap="square" lIns="45720" rIns="45720" anchor="t"/>
          <a:lstStyle/>
          <a:p>
            <a:pPr algn="l"/>
            <a:r>
              <a:rPr sz="1600" b="1" i="0">
                <a:solidFill>
                  <a:srgbClr val="2F7F80"/>
                </a:solidFill>
                <a:latin typeface="Calibri"/>
              </a:rPr>
              <a:t>Viết báo cáo</a:t>
            </a:r>
          </a:p>
        </p:txBody>
      </p:sp>
      <p:sp>
        <p:nvSpPr>
          <p:cNvPr id="41" name="TextBox 40"/>
          <p:cNvSpPr txBox="1"/>
          <p:nvPr/>
        </p:nvSpPr>
        <p:spPr>
          <a:xfrm>
            <a:off x="9052560" y="3474720"/>
            <a:ext cx="2514600" cy="1783080"/>
          </a:xfrm>
          <a:prstGeom prst="rect">
            <a:avLst/>
          </a:prstGeom>
          <a:noFill/>
        </p:spPr>
        <p:txBody>
          <a:bodyPr wrap="square" lIns="45720" rIns="45720" anchor="t"/>
          <a:lstStyle/>
          <a:p>
            <a:pPr marL="256032" indent="-256032">
              <a:spcAft>
                <a:spcPts val="300"/>
              </a:spcAft>
              <a:buClr>
                <a:srgbClr val="4FA6A6"/>
              </a:buClr>
              <a:buFont typeface="Arial"/>
              <a:buChar char="•"/>
            </a:pPr>
            <a:r>
              <a:rPr sz="1300" b="0" i="0">
                <a:solidFill>
                  <a:srgbClr val="20242B"/>
                </a:solidFill>
                <a:latin typeface="Calibri"/>
              </a:rPr>
              <a:t>Tổng hợp nội dung.</a:t>
            </a:r>
          </a:p>
          <a:p>
            <a:pPr marL="256032" indent="-256032">
              <a:spcAft>
                <a:spcPts val="300"/>
              </a:spcAft>
              <a:buClr>
                <a:srgbClr val="4FA6A6"/>
              </a:buClr>
              <a:buFont typeface="Arial"/>
              <a:buChar char="•"/>
            </a:pPr>
            <a:r>
              <a:rPr sz="1300" b="0" i="0">
                <a:solidFill>
                  <a:srgbClr val="20242B"/>
                </a:solidFill>
                <a:latin typeface="Calibri"/>
              </a:rPr>
              <a:t>Viết, rà soát báo cáo.</a:t>
            </a:r>
          </a:p>
          <a:p>
            <a:pPr marL="256032" indent="-256032">
              <a:spcAft>
                <a:spcPts val="300"/>
              </a:spcAft>
              <a:buClr>
                <a:srgbClr val="4FA6A6"/>
              </a:buClr>
              <a:buFont typeface="Arial"/>
              <a:buChar char="•"/>
            </a:pPr>
            <a:r>
              <a:rPr sz="1300" b="0" i="0">
                <a:solidFill>
                  <a:srgbClr val="20242B"/>
                </a:solidFill>
                <a:latin typeface="Calibri"/>
              </a:rPr>
              <a:t>Hoàn tất theo yêu cầu của trường.</a:t>
            </a:r>
          </a:p>
        </p:txBody>
      </p:sp>
      <p:sp>
        <p:nvSpPr>
          <p:cNvPr id="42" name="Rounded Rectangle 41"/>
          <p:cNvSpPr/>
          <p:nvPr/>
        </p:nvSpPr>
        <p:spPr>
          <a:xfrm>
            <a:off x="9070848" y="5303520"/>
            <a:ext cx="2450592" cy="777240"/>
          </a:xfrm>
          <a:prstGeom prst="roundRect">
            <a:avLst>
              <a:gd name="adj" fmla="val 10000"/>
            </a:avLst>
          </a:prstGeom>
          <a:solidFill>
            <a:srgbClr val="FFFFFF"/>
          </a:solid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144000" y="5330952"/>
            <a:ext cx="2331720" cy="731520"/>
          </a:xfrm>
          <a:prstGeom prst="rect">
            <a:avLst/>
          </a:prstGeom>
          <a:noFill/>
        </p:spPr>
        <p:txBody>
          <a:bodyPr wrap="square" lIns="45720" rIns="45720" anchor="ctr"/>
          <a:lstStyle/>
          <a:p>
            <a:pPr>
              <a:spcAft>
                <a:spcPts val="0"/>
              </a:spcAft>
            </a:pPr>
            <a:r>
              <a:rPr sz="1200" b="1" i="0">
                <a:solidFill>
                  <a:srgbClr val="20242B"/>
                </a:solidFill>
                <a:latin typeface="Calibri"/>
              </a:rPr>
              <a:t>Kết quả: </a:t>
            </a:r>
            <a:r>
              <a:rPr sz="1200" b="0" i="0">
                <a:solidFill>
                  <a:srgbClr val="20242B"/>
                </a:solidFill>
                <a:latin typeface="Calibri"/>
              </a:rPr>
              <a:t>Báo cáo thực tập.</a:t>
            </a:r>
          </a:p>
        </p:txBody>
      </p:sp>
      <p:sp>
        <p:nvSpPr>
          <p:cNvPr id="44" name="TextBox 43"/>
          <p:cNvSpPr txBox="1"/>
          <p:nvPr/>
        </p:nvSpPr>
        <p:spPr>
          <a:xfrm>
            <a:off x="10332720" y="6492240"/>
            <a:ext cx="1399032" cy="274320"/>
          </a:xfrm>
          <a:prstGeom prst="rect">
            <a:avLst/>
          </a:prstGeom>
          <a:noFill/>
        </p:spPr>
        <p:txBody>
          <a:bodyPr wrap="square" lIns="45720" rIns="45720" anchor="t"/>
          <a:lstStyle/>
          <a:p>
            <a:pPr algn="r"/>
            <a:r>
              <a:rPr sz="1100" b="0" i="0">
                <a:solidFill>
                  <a:srgbClr val="5B6370"/>
                </a:solidFill>
                <a:latin typeface="Calibri"/>
              </a:rPr>
              <a:t>12 / 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4F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
            <a:ext cx="8229600" cy="274320"/>
          </a:xfrm>
          <a:prstGeom prst="rect">
            <a:avLst/>
          </a:prstGeom>
          <a:noFill/>
        </p:spPr>
        <p:txBody>
          <a:bodyPr wrap="square" lIns="45720" rIns="45720" anchor="t"/>
          <a:lstStyle/>
          <a:p>
            <a:pPr algn="l"/>
            <a:r>
              <a:rPr sz="1200" b="1" i="0">
                <a:solidFill>
                  <a:srgbClr val="2F7F80"/>
                </a:solidFill>
                <a:latin typeface="Calibri"/>
              </a:rPr>
              <a:t>04 · KẾ HOẠCH VÀ TIẾN ĐỘ</a:t>
            </a:r>
          </a:p>
        </p:txBody>
      </p:sp>
      <p:sp>
        <p:nvSpPr>
          <p:cNvPr id="4" name="TextBox 3"/>
          <p:cNvSpPr txBox="1"/>
          <p:nvPr/>
        </p:nvSpPr>
        <p:spPr>
          <a:xfrm>
            <a:off x="457200" y="457200"/>
            <a:ext cx="11247120" cy="566928"/>
          </a:xfrm>
          <a:prstGeom prst="rect">
            <a:avLst/>
          </a:prstGeom>
          <a:noFill/>
        </p:spPr>
        <p:txBody>
          <a:bodyPr wrap="square" lIns="45720" rIns="45720" anchor="t"/>
          <a:lstStyle/>
          <a:p>
            <a:pPr algn="l"/>
            <a:r>
              <a:rPr sz="2800" b="1" i="0">
                <a:solidFill>
                  <a:srgbClr val="20242B"/>
                </a:solidFill>
                <a:latin typeface="Calibri"/>
              </a:rPr>
              <a:t>Nhật ký thực tập 12 tuần</a:t>
            </a:r>
          </a:p>
        </p:txBody>
      </p:sp>
      <p:cxnSp>
        <p:nvCxnSpPr>
          <p:cNvPr id="5" name="Connector 4"/>
          <p:cNvCxnSpPr/>
          <p:nvPr/>
        </p:nvCxnSpPr>
        <p:spPr>
          <a:xfrm>
            <a:off x="457200" y="6446520"/>
            <a:ext cx="11274552" cy="0"/>
          </a:xfrm>
          <a:prstGeom prst="line">
            <a:avLst/>
          </a:prstGeom>
          <a:ln w="9525">
            <a:solidFill>
              <a:srgbClr val="D9DEE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92240"/>
            <a:ext cx="8229600" cy="274320"/>
          </a:xfrm>
          <a:prstGeom prst="rect">
            <a:avLst/>
          </a:prstGeom>
          <a:noFill/>
        </p:spPr>
        <p:txBody>
          <a:bodyPr wrap="square" lIns="45720" rIns="45720" anchor="t"/>
          <a:lstStyle/>
          <a:p>
            <a:pPr algn="l"/>
            <a:r>
              <a:rPr sz="1100" b="0" i="0">
                <a:solidFill>
                  <a:srgbClr val="5B6370"/>
                </a:solidFill>
                <a:latin typeface="Calibri"/>
              </a:rPr>
              <a:t>Trần Anh Khoa  ·  Báo cáo thực tập tốt nghiệp  ·  Website Printuz</a:t>
            </a:r>
          </a:p>
        </p:txBody>
      </p:sp>
      <p:graphicFrame>
        <p:nvGraphicFramePr>
          <p:cNvPr id="7" name="Table 6"/>
          <p:cNvGraphicFramePr>
            <a:graphicFrameLocks noGrp="1"/>
          </p:cNvGraphicFramePr>
          <p:nvPr/>
        </p:nvGraphicFramePr>
        <p:xfrm>
          <a:off x="457200" y="1143000"/>
          <a:ext cx="11274552" cy="4754880"/>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gridCol w="6199632">
                  <a:extLst>
                    <a:ext uri="{9D8B030D-6E8A-4147-A177-3AD203B41FA5}">
                      <a16:colId xmlns:a16="http://schemas.microsoft.com/office/drawing/2014/main" val="20003"/>
                    </a:ext>
                  </a:extLst>
                </a:gridCol>
              </a:tblGrid>
              <a:tr h="365760">
                <a:tc>
                  <a:txBody>
                    <a:bodyPr/>
                    <a:lstStyle/>
                    <a:p>
                      <a:r>
                        <a:rPr sz="1300" b="1" i="0">
                          <a:solidFill>
                            <a:srgbClr val="FFFFFF"/>
                          </a:solidFill>
                          <a:latin typeface="Calibri"/>
                        </a:rPr>
                        <a:t>Tuần</a:t>
                      </a:r>
                    </a:p>
                  </a:txBody>
                  <a:tcPr marL="73152" marR="73152" marT="27432" marB="27432" anchor="ctr">
                    <a:solidFill>
                      <a:srgbClr val="4FA6A6"/>
                    </a:solidFill>
                  </a:tcPr>
                </a:tc>
                <a:tc>
                  <a:txBody>
                    <a:bodyPr/>
                    <a:lstStyle/>
                    <a:p>
                      <a:r>
                        <a:rPr sz="1300" b="1" i="0">
                          <a:solidFill>
                            <a:srgbClr val="FFFFFF"/>
                          </a:solidFill>
                          <a:latin typeface="Calibri"/>
                        </a:rPr>
                        <a:t>Thời gian</a:t>
                      </a:r>
                    </a:p>
                  </a:txBody>
                  <a:tcPr marL="73152" marR="73152" marT="27432" marB="27432" anchor="ctr">
                    <a:solidFill>
                      <a:srgbClr val="4FA6A6"/>
                    </a:solidFill>
                  </a:tcPr>
                </a:tc>
                <a:tc>
                  <a:txBody>
                    <a:bodyPr/>
                    <a:lstStyle/>
                    <a:p>
                      <a:r>
                        <a:rPr sz="1300" b="1" i="0">
                          <a:solidFill>
                            <a:srgbClr val="FFFFFF"/>
                          </a:solidFill>
                          <a:latin typeface="Calibri"/>
                        </a:rPr>
                        <a:t>Công việc được giao</a:t>
                      </a:r>
                    </a:p>
                  </a:txBody>
                  <a:tcPr marL="73152" marR="73152" marT="27432" marB="27432" anchor="ctr">
                    <a:solidFill>
                      <a:srgbClr val="4FA6A6"/>
                    </a:solidFill>
                  </a:tcPr>
                </a:tc>
                <a:tc>
                  <a:txBody>
                    <a:bodyPr/>
                    <a:lstStyle/>
                    <a:p>
                      <a:r>
                        <a:rPr sz="1300" b="1" i="0">
                          <a:solidFill>
                            <a:srgbClr val="FFFFFF"/>
                          </a:solidFill>
                          <a:latin typeface="Calibri"/>
                        </a:rPr>
                        <a:t>Nội dung chính</a:t>
                      </a:r>
                    </a:p>
                  </a:txBody>
                  <a:tcPr marL="73152" marR="73152" marT="27432" marB="27432" anchor="ctr">
                    <a:solidFill>
                      <a:srgbClr val="4FA6A6"/>
                    </a:solidFill>
                  </a:tcPr>
                </a:tc>
                <a:extLst>
                  <a:ext uri="{0D108BD9-81ED-4DB2-BD59-A6C34878D82A}">
                    <a16:rowId xmlns:a16="http://schemas.microsoft.com/office/drawing/2014/main" val="10000"/>
                  </a:ext>
                </a:extLst>
              </a:tr>
              <a:tr h="365760">
                <a:tc>
                  <a:txBody>
                    <a:bodyPr/>
                    <a:lstStyle/>
                    <a:p>
                      <a:r>
                        <a:rPr sz="1300" b="1" i="0">
                          <a:solidFill>
                            <a:srgbClr val="20242B"/>
                          </a:solidFill>
                          <a:latin typeface="Calibri"/>
                        </a:rPr>
                        <a:t>1</a:t>
                      </a:r>
                    </a:p>
                  </a:txBody>
                  <a:tcPr marL="73152" marR="73152" marT="27432" marB="27432" anchor="ctr">
                    <a:solidFill>
                      <a:srgbClr val="E3F1F1"/>
                    </a:solidFill>
                  </a:tcPr>
                </a:tc>
                <a:tc>
                  <a:txBody>
                    <a:bodyPr/>
                    <a:lstStyle/>
                    <a:p>
                      <a:r>
                        <a:rPr sz="1300" b="0" i="0">
                          <a:solidFill>
                            <a:srgbClr val="20242B"/>
                          </a:solidFill>
                          <a:latin typeface="Calibri"/>
                        </a:rPr>
                        <a:t>06/07 – 12/07</a:t>
                      </a:r>
                    </a:p>
                  </a:txBody>
                  <a:tcPr marL="73152" marR="73152" marT="27432" marB="27432" anchor="ctr">
                    <a:solidFill>
                      <a:srgbClr val="E3F1F1"/>
                    </a:solidFill>
                  </a:tcPr>
                </a:tc>
                <a:tc>
                  <a:txBody>
                    <a:bodyPr/>
                    <a:lstStyle/>
                    <a:p>
                      <a:r>
                        <a:rPr sz="1300" b="0" i="0">
                          <a:solidFill>
                            <a:srgbClr val="20242B"/>
                          </a:solidFill>
                          <a:latin typeface="Calibri"/>
                        </a:rPr>
                        <a:t>Tìm hiểu website Printuz</a:t>
                      </a:r>
                    </a:p>
                  </a:txBody>
                  <a:tcPr marL="73152" marR="73152" marT="27432" marB="27432" anchor="ctr">
                    <a:solidFill>
                      <a:srgbClr val="E3F1F1"/>
                    </a:solidFill>
                  </a:tcPr>
                </a:tc>
                <a:tc>
                  <a:txBody>
                    <a:bodyPr/>
                    <a:lstStyle/>
                    <a:p>
                      <a:r>
                        <a:rPr sz="1300" b="0" i="0">
                          <a:solidFill>
                            <a:srgbClr val="20242B"/>
                          </a:solidFill>
                          <a:latin typeface="Calibri"/>
                        </a:rPr>
                        <a:t>Nắm bắt yêu cầu và định hướng của kỳ thực tập</a:t>
                      </a:r>
                    </a:p>
                  </a:txBody>
                  <a:tcPr marL="73152" marR="73152" marT="27432" marB="27432" anchor="ctr">
                    <a:solidFill>
                      <a:srgbClr val="E3F1F1"/>
                    </a:solidFill>
                  </a:tcPr>
                </a:tc>
                <a:extLst>
                  <a:ext uri="{0D108BD9-81ED-4DB2-BD59-A6C34878D82A}">
                    <a16:rowId xmlns:a16="http://schemas.microsoft.com/office/drawing/2014/main" val="10001"/>
                  </a:ext>
                </a:extLst>
              </a:tr>
              <a:tr h="365760">
                <a:tc>
                  <a:txBody>
                    <a:bodyPr/>
                    <a:lstStyle/>
                    <a:p>
                      <a:r>
                        <a:rPr sz="1300" b="1" i="0">
                          <a:solidFill>
                            <a:srgbClr val="20242B"/>
                          </a:solidFill>
                          <a:latin typeface="Calibri"/>
                        </a:rPr>
                        <a:t>2</a:t>
                      </a:r>
                    </a:p>
                  </a:txBody>
                  <a:tcPr marL="73152" marR="73152" marT="27432" marB="27432" anchor="ctr">
                    <a:solidFill>
                      <a:srgbClr val="E3F1F1"/>
                    </a:solidFill>
                  </a:tcPr>
                </a:tc>
                <a:tc>
                  <a:txBody>
                    <a:bodyPr/>
                    <a:lstStyle/>
                    <a:p>
                      <a:r>
                        <a:rPr sz="1300" b="0" i="0">
                          <a:solidFill>
                            <a:srgbClr val="20242B"/>
                          </a:solidFill>
                          <a:latin typeface="Calibri"/>
                        </a:rPr>
                        <a:t>13/07 – 19/07</a:t>
                      </a:r>
                    </a:p>
                  </a:txBody>
                  <a:tcPr marL="73152" marR="73152" marT="27432" marB="27432" anchor="ctr">
                    <a:solidFill>
                      <a:srgbClr val="E3F1F1"/>
                    </a:solidFill>
                  </a:tcPr>
                </a:tc>
                <a:tc>
                  <a:txBody>
                    <a:bodyPr/>
                    <a:lstStyle/>
                    <a:p>
                      <a:r>
                        <a:rPr sz="1300" b="0" i="0">
                          <a:solidFill>
                            <a:srgbClr val="20242B"/>
                          </a:solidFill>
                          <a:latin typeface="Calibri"/>
                        </a:rPr>
                        <a:t>Phân tích giao diện</a:t>
                      </a:r>
                    </a:p>
                  </a:txBody>
                  <a:tcPr marL="73152" marR="73152" marT="27432" marB="27432" anchor="ctr">
                    <a:solidFill>
                      <a:srgbClr val="E3F1F1"/>
                    </a:solidFill>
                  </a:tcPr>
                </a:tc>
                <a:tc>
                  <a:txBody>
                    <a:bodyPr/>
                    <a:lstStyle/>
                    <a:p>
                      <a:r>
                        <a:rPr sz="1300" b="0" i="0">
                          <a:solidFill>
                            <a:srgbClr val="20242B"/>
                          </a:solidFill>
                          <a:latin typeface="Calibri"/>
                        </a:rPr>
                        <a:t>Khảo sát cấu trúc, các trang chính, danh mục sản phẩm; xác định phạm vi</a:t>
                      </a:r>
                    </a:p>
                  </a:txBody>
                  <a:tcPr marL="73152" marR="73152" marT="27432" marB="27432" anchor="ctr">
                    <a:solidFill>
                      <a:srgbClr val="E3F1F1"/>
                    </a:solidFill>
                  </a:tcPr>
                </a:tc>
                <a:extLst>
                  <a:ext uri="{0D108BD9-81ED-4DB2-BD59-A6C34878D82A}">
                    <a16:rowId xmlns:a16="http://schemas.microsoft.com/office/drawing/2014/main" val="10002"/>
                  </a:ext>
                </a:extLst>
              </a:tr>
              <a:tr h="365760">
                <a:tc>
                  <a:txBody>
                    <a:bodyPr/>
                    <a:lstStyle/>
                    <a:p>
                      <a:r>
                        <a:rPr sz="1300" b="1" i="0">
                          <a:solidFill>
                            <a:srgbClr val="20242B"/>
                          </a:solidFill>
                          <a:latin typeface="Calibri"/>
                        </a:rPr>
                        <a:t>3</a:t>
                      </a:r>
                    </a:p>
                  </a:txBody>
                  <a:tcPr marL="73152" marR="73152" marT="27432" marB="27432" anchor="ctr">
                    <a:solidFill>
                      <a:srgbClr val="E3F1F1"/>
                    </a:solidFill>
                  </a:tcPr>
                </a:tc>
                <a:tc>
                  <a:txBody>
                    <a:bodyPr/>
                    <a:lstStyle/>
                    <a:p>
                      <a:r>
                        <a:rPr sz="1300" b="0" i="0">
                          <a:solidFill>
                            <a:srgbClr val="20242B"/>
                          </a:solidFill>
                          <a:latin typeface="Calibri"/>
                        </a:rPr>
                        <a:t>20/07 – 26/07</a:t>
                      </a:r>
                    </a:p>
                  </a:txBody>
                  <a:tcPr marL="73152" marR="73152" marT="27432" marB="27432" anchor="ctr">
                    <a:solidFill>
                      <a:srgbClr val="E3F1F1"/>
                    </a:solidFill>
                  </a:tcPr>
                </a:tc>
                <a:tc>
                  <a:txBody>
                    <a:bodyPr/>
                    <a:lstStyle/>
                    <a:p>
                      <a:r>
                        <a:rPr sz="1300" b="0" i="0">
                          <a:solidFill>
                            <a:srgbClr val="20242B"/>
                          </a:solidFill>
                          <a:latin typeface="Calibri"/>
                        </a:rPr>
                        <a:t>Tìm hiểu Bootstrap</a:t>
                      </a:r>
                    </a:p>
                  </a:txBody>
                  <a:tcPr marL="73152" marR="73152" marT="27432" marB="27432" anchor="ctr">
                    <a:solidFill>
                      <a:srgbClr val="E3F1F1"/>
                    </a:solidFill>
                  </a:tcPr>
                </a:tc>
                <a:tc>
                  <a:txBody>
                    <a:bodyPr/>
                    <a:lstStyle/>
                    <a:p>
                      <a:r>
                        <a:rPr sz="1300" b="0" i="0">
                          <a:solidFill>
                            <a:srgbClr val="20242B"/>
                          </a:solidFill>
                          <a:latin typeface="Calibri"/>
                        </a:rPr>
                        <a:t>Các thành phần và cách dùng Bootstrap trong thiết kế giao diện</a:t>
                      </a:r>
                    </a:p>
                  </a:txBody>
                  <a:tcPr marL="73152" marR="73152" marT="27432" marB="27432" anchor="ctr">
                    <a:solidFill>
                      <a:srgbClr val="E3F1F1"/>
                    </a:solidFill>
                  </a:tcPr>
                </a:tc>
                <a:extLst>
                  <a:ext uri="{0D108BD9-81ED-4DB2-BD59-A6C34878D82A}">
                    <a16:rowId xmlns:a16="http://schemas.microsoft.com/office/drawing/2014/main" val="10003"/>
                  </a:ext>
                </a:extLst>
              </a:tr>
              <a:tr h="365760">
                <a:tc>
                  <a:txBody>
                    <a:bodyPr/>
                    <a:lstStyle/>
                    <a:p>
                      <a:r>
                        <a:rPr sz="1300" b="1" i="0">
                          <a:solidFill>
                            <a:srgbClr val="20242B"/>
                          </a:solidFill>
                          <a:latin typeface="Calibri"/>
                        </a:rPr>
                        <a:t>4</a:t>
                      </a:r>
                    </a:p>
                  </a:txBody>
                  <a:tcPr marL="73152" marR="73152" marT="27432" marB="27432" anchor="ctr">
                    <a:solidFill>
                      <a:srgbClr val="FFFFFF"/>
                    </a:solidFill>
                  </a:tcPr>
                </a:tc>
                <a:tc>
                  <a:txBody>
                    <a:bodyPr/>
                    <a:lstStyle/>
                    <a:p>
                      <a:r>
                        <a:rPr sz="1300" b="0" i="0">
                          <a:solidFill>
                            <a:srgbClr val="20242B"/>
                          </a:solidFill>
                          <a:latin typeface="Calibri"/>
                        </a:rPr>
                        <a:t>27/07 – 02/08</a:t>
                      </a:r>
                    </a:p>
                  </a:txBody>
                  <a:tcPr marL="73152" marR="73152" marT="27432" marB="27432" anchor="ctr">
                    <a:solidFill>
                      <a:srgbClr val="FFFFFF"/>
                    </a:solidFill>
                  </a:tcPr>
                </a:tc>
                <a:tc>
                  <a:txBody>
                    <a:bodyPr/>
                    <a:lstStyle/>
                    <a:p>
                      <a:r>
                        <a:rPr sz="1300" b="0" i="0">
                          <a:solidFill>
                            <a:srgbClr val="20242B"/>
                          </a:solidFill>
                          <a:latin typeface="Calibri"/>
                        </a:rPr>
                        <a:t>Giao diện chung, trang chủ</a:t>
                      </a:r>
                    </a:p>
                  </a:txBody>
                  <a:tcPr marL="73152" marR="73152" marT="27432" marB="27432" anchor="ctr">
                    <a:solidFill>
                      <a:srgbClr val="FFFFFF"/>
                    </a:solidFill>
                  </a:tcPr>
                </a:tc>
                <a:tc>
                  <a:txBody>
                    <a:bodyPr/>
                    <a:lstStyle/>
                    <a:p>
                      <a:r>
                        <a:rPr sz="1300" b="0" i="0">
                          <a:solidFill>
                            <a:srgbClr val="20242B"/>
                          </a:solidFill>
                          <a:latin typeface="Calibri"/>
                        </a:rPr>
                        <a:t>Header, Navigation, Footer; hoàn thiện trang chủ</a:t>
                      </a:r>
                    </a:p>
                  </a:txBody>
                  <a:tcPr marL="73152" marR="73152" marT="27432" marB="27432" anchor="ctr">
                    <a:solidFill>
                      <a:srgbClr val="FFFFFF"/>
                    </a:solidFill>
                  </a:tcPr>
                </a:tc>
                <a:extLst>
                  <a:ext uri="{0D108BD9-81ED-4DB2-BD59-A6C34878D82A}">
                    <a16:rowId xmlns:a16="http://schemas.microsoft.com/office/drawing/2014/main" val="10004"/>
                  </a:ext>
                </a:extLst>
              </a:tr>
              <a:tr h="365760">
                <a:tc>
                  <a:txBody>
                    <a:bodyPr/>
                    <a:lstStyle/>
                    <a:p>
                      <a:r>
                        <a:rPr sz="1300" b="1" i="0">
                          <a:solidFill>
                            <a:srgbClr val="20242B"/>
                          </a:solidFill>
                          <a:latin typeface="Calibri"/>
                        </a:rPr>
                        <a:t>5</a:t>
                      </a:r>
                    </a:p>
                  </a:txBody>
                  <a:tcPr marL="73152" marR="73152" marT="27432" marB="27432" anchor="ctr">
                    <a:solidFill>
                      <a:srgbClr val="FFFFFF"/>
                    </a:solidFill>
                  </a:tcPr>
                </a:tc>
                <a:tc>
                  <a:txBody>
                    <a:bodyPr/>
                    <a:lstStyle/>
                    <a:p>
                      <a:r>
                        <a:rPr sz="1300" b="0" i="0">
                          <a:solidFill>
                            <a:srgbClr val="20242B"/>
                          </a:solidFill>
                          <a:latin typeface="Calibri"/>
                        </a:rPr>
                        <a:t>03/08 – 09/08</a:t>
                      </a:r>
                    </a:p>
                  </a:txBody>
                  <a:tcPr marL="73152" marR="73152" marT="27432" marB="27432" anchor="ctr">
                    <a:solidFill>
                      <a:srgbClr val="FFFFFF"/>
                    </a:solidFill>
                  </a:tcPr>
                </a:tc>
                <a:tc>
                  <a:txBody>
                    <a:bodyPr/>
                    <a:lstStyle/>
                    <a:p>
                      <a:r>
                        <a:rPr sz="1300" b="0" i="0">
                          <a:solidFill>
                            <a:srgbClr val="20242B"/>
                          </a:solidFill>
                          <a:latin typeface="Calibri"/>
                        </a:rPr>
                        <a:t>Catalog và Shop</a:t>
                      </a:r>
                    </a:p>
                  </a:txBody>
                  <a:tcPr marL="73152" marR="73152" marT="27432" marB="27432" anchor="ctr">
                    <a:solidFill>
                      <a:srgbClr val="FFFFFF"/>
                    </a:solidFill>
                  </a:tcPr>
                </a:tc>
                <a:tc>
                  <a:txBody>
                    <a:bodyPr/>
                    <a:lstStyle/>
                    <a:p>
                      <a:r>
                        <a:rPr sz="1300" b="0" i="0">
                          <a:solidFill>
                            <a:srgbClr val="20242B"/>
                          </a:solidFill>
                          <a:latin typeface="Calibri"/>
                        </a:rPr>
                        <a:t>Danh mục, thẻ sản phẩm; trang chi tiết sản phẩm</a:t>
                      </a:r>
                    </a:p>
                  </a:txBody>
                  <a:tcPr marL="73152" marR="73152" marT="27432" marB="27432" anchor="ctr">
                    <a:solidFill>
                      <a:srgbClr val="FFFFFF"/>
                    </a:solidFill>
                  </a:tcPr>
                </a:tc>
                <a:extLst>
                  <a:ext uri="{0D108BD9-81ED-4DB2-BD59-A6C34878D82A}">
                    <a16:rowId xmlns:a16="http://schemas.microsoft.com/office/drawing/2014/main" val="10005"/>
                  </a:ext>
                </a:extLst>
              </a:tr>
              <a:tr h="365760">
                <a:tc>
                  <a:txBody>
                    <a:bodyPr/>
                    <a:lstStyle/>
                    <a:p>
                      <a:r>
                        <a:rPr sz="1300" b="1" i="0">
                          <a:solidFill>
                            <a:srgbClr val="20242B"/>
                          </a:solidFill>
                          <a:latin typeface="Calibri"/>
                        </a:rPr>
                        <a:t>6</a:t>
                      </a:r>
                    </a:p>
                  </a:txBody>
                  <a:tcPr marL="73152" marR="73152" marT="27432" marB="27432" anchor="ctr">
                    <a:solidFill>
                      <a:srgbClr val="FFFFFF"/>
                    </a:solidFill>
                  </a:tcPr>
                </a:tc>
                <a:tc>
                  <a:txBody>
                    <a:bodyPr/>
                    <a:lstStyle/>
                    <a:p>
                      <a:r>
                        <a:rPr sz="1300" b="0" i="0">
                          <a:solidFill>
                            <a:srgbClr val="20242B"/>
                          </a:solidFill>
                          <a:latin typeface="Calibri"/>
                        </a:rPr>
                        <a:t>10/08 – 16/08</a:t>
                      </a:r>
                    </a:p>
                  </a:txBody>
                  <a:tcPr marL="73152" marR="73152" marT="27432" marB="27432" anchor="ctr">
                    <a:solidFill>
                      <a:srgbClr val="FFFFFF"/>
                    </a:solidFill>
                  </a:tcPr>
                </a:tc>
                <a:tc>
                  <a:txBody>
                    <a:bodyPr/>
                    <a:lstStyle/>
                    <a:p>
                      <a:r>
                        <a:rPr sz="1300" b="0" i="0">
                          <a:solidFill>
                            <a:srgbClr val="20242B"/>
                          </a:solidFill>
                          <a:latin typeface="Calibri"/>
                        </a:rPr>
                        <a:t>About và Contact</a:t>
                      </a:r>
                    </a:p>
                  </a:txBody>
                  <a:tcPr marL="73152" marR="73152" marT="27432" marB="27432" anchor="ctr">
                    <a:solidFill>
                      <a:srgbClr val="FFFFFF"/>
                    </a:solidFill>
                  </a:tcPr>
                </a:tc>
                <a:tc>
                  <a:txBody>
                    <a:bodyPr/>
                    <a:lstStyle/>
                    <a:p>
                      <a:r>
                        <a:rPr sz="1300" b="0" i="0">
                          <a:solidFill>
                            <a:srgbClr val="20242B"/>
                          </a:solidFill>
                          <a:latin typeface="Calibri"/>
                        </a:rPr>
                        <a:t>Trang giới thiệu, liên hệ; nội dung, hình ảnh, biểu mẫu</a:t>
                      </a:r>
                    </a:p>
                  </a:txBody>
                  <a:tcPr marL="73152" marR="73152" marT="27432" marB="27432" anchor="ctr">
                    <a:solidFill>
                      <a:srgbClr val="FFFFFF"/>
                    </a:solidFill>
                  </a:tcPr>
                </a:tc>
                <a:extLst>
                  <a:ext uri="{0D108BD9-81ED-4DB2-BD59-A6C34878D82A}">
                    <a16:rowId xmlns:a16="http://schemas.microsoft.com/office/drawing/2014/main" val="10006"/>
                  </a:ext>
                </a:extLst>
              </a:tr>
              <a:tr h="365760">
                <a:tc>
                  <a:txBody>
                    <a:bodyPr/>
                    <a:lstStyle/>
                    <a:p>
                      <a:r>
                        <a:rPr sz="1300" b="1" i="0">
                          <a:solidFill>
                            <a:srgbClr val="20242B"/>
                          </a:solidFill>
                          <a:latin typeface="Calibri"/>
                        </a:rPr>
                        <a:t>7</a:t>
                      </a:r>
                    </a:p>
                  </a:txBody>
                  <a:tcPr marL="73152" marR="73152" marT="27432" marB="27432" anchor="ctr">
                    <a:solidFill>
                      <a:srgbClr val="FFFFFF"/>
                    </a:solidFill>
                  </a:tcPr>
                </a:tc>
                <a:tc>
                  <a:txBody>
                    <a:bodyPr/>
                    <a:lstStyle/>
                    <a:p>
                      <a:r>
                        <a:rPr sz="1300" b="0" i="0">
                          <a:solidFill>
                            <a:srgbClr val="20242B"/>
                          </a:solidFill>
                          <a:latin typeface="Calibri"/>
                        </a:rPr>
                        <a:t>17/08 – 23/08</a:t>
                      </a:r>
                    </a:p>
                  </a:txBody>
                  <a:tcPr marL="73152" marR="73152" marT="27432" marB="27432" anchor="ctr">
                    <a:solidFill>
                      <a:srgbClr val="FFFFFF"/>
                    </a:solidFill>
                  </a:tcPr>
                </a:tc>
                <a:tc>
                  <a:txBody>
                    <a:bodyPr/>
                    <a:lstStyle/>
                    <a:p>
                      <a:r>
                        <a:rPr sz="1300" b="0" i="0">
                          <a:solidFill>
                            <a:srgbClr val="20242B"/>
                          </a:solidFill>
                          <a:latin typeface="Calibri"/>
                        </a:rPr>
                        <a:t>Blog và trang nội dung</a:t>
                      </a:r>
                    </a:p>
                  </a:txBody>
                  <a:tcPr marL="73152" marR="73152" marT="27432" marB="27432" anchor="ctr">
                    <a:solidFill>
                      <a:srgbClr val="FFFFFF"/>
                    </a:solidFill>
                  </a:tcPr>
                </a:tc>
                <a:tc>
                  <a:txBody>
                    <a:bodyPr/>
                    <a:lstStyle/>
                    <a:p>
                      <a:r>
                        <a:rPr sz="1300" b="0" i="0">
                          <a:solidFill>
                            <a:srgbClr val="20242B"/>
                          </a:solidFill>
                          <a:latin typeface="Calibri"/>
                        </a:rPr>
                        <a:t>Danh sách bài viết, trang hiển thị nội dung bài viết</a:t>
                      </a:r>
                    </a:p>
                  </a:txBody>
                  <a:tcPr marL="73152" marR="73152" marT="27432" marB="27432" anchor="ctr">
                    <a:solidFill>
                      <a:srgbClr val="FFFFFF"/>
                    </a:solidFill>
                  </a:tcPr>
                </a:tc>
                <a:extLst>
                  <a:ext uri="{0D108BD9-81ED-4DB2-BD59-A6C34878D82A}">
                    <a16:rowId xmlns:a16="http://schemas.microsoft.com/office/drawing/2014/main" val="10007"/>
                  </a:ext>
                </a:extLst>
              </a:tr>
              <a:tr h="365760">
                <a:tc>
                  <a:txBody>
                    <a:bodyPr/>
                    <a:lstStyle/>
                    <a:p>
                      <a:r>
                        <a:rPr sz="1300" b="1" i="0">
                          <a:solidFill>
                            <a:srgbClr val="20242B"/>
                          </a:solidFill>
                          <a:latin typeface="Calibri"/>
                        </a:rPr>
                        <a:t>8</a:t>
                      </a:r>
                    </a:p>
                  </a:txBody>
                  <a:tcPr marL="73152" marR="73152" marT="27432" marB="27432" anchor="ctr">
                    <a:solidFill>
                      <a:srgbClr val="FFFFFF"/>
                    </a:solidFill>
                  </a:tcPr>
                </a:tc>
                <a:tc>
                  <a:txBody>
                    <a:bodyPr/>
                    <a:lstStyle/>
                    <a:p>
                      <a:r>
                        <a:rPr sz="1300" b="0" i="0">
                          <a:solidFill>
                            <a:srgbClr val="20242B"/>
                          </a:solidFill>
                          <a:latin typeface="Calibri"/>
                        </a:rPr>
                        <a:t>24/08 – 30/08</a:t>
                      </a:r>
                    </a:p>
                  </a:txBody>
                  <a:tcPr marL="73152" marR="73152" marT="27432" marB="27432" anchor="ctr">
                    <a:solidFill>
                      <a:srgbClr val="FFFFFF"/>
                    </a:solidFill>
                  </a:tcPr>
                </a:tc>
                <a:tc>
                  <a:txBody>
                    <a:bodyPr/>
                    <a:lstStyle/>
                    <a:p>
                      <a:r>
                        <a:rPr sz="1300" b="0" i="0">
                          <a:solidFill>
                            <a:srgbClr val="20242B"/>
                          </a:solidFill>
                          <a:latin typeface="Calibri"/>
                        </a:rPr>
                        <a:t>Responsive bằng Bootstrap</a:t>
                      </a:r>
                    </a:p>
                  </a:txBody>
                  <a:tcPr marL="73152" marR="73152" marT="27432" marB="27432" anchor="ctr">
                    <a:solidFill>
                      <a:srgbClr val="FFFFFF"/>
                    </a:solidFill>
                  </a:tcPr>
                </a:tc>
                <a:tc>
                  <a:txBody>
                    <a:bodyPr/>
                    <a:lstStyle/>
                    <a:p>
                      <a:r>
                        <a:rPr sz="1300" b="0" i="0">
                          <a:solidFill>
                            <a:srgbClr val="20242B"/>
                          </a:solidFill>
                          <a:latin typeface="Calibri"/>
                        </a:rPr>
                        <a:t>Grid, breakpoint cho máy tính, máy tính bảng, điện thoại</a:t>
                      </a:r>
                    </a:p>
                  </a:txBody>
                  <a:tcPr marL="73152" marR="73152" marT="27432" marB="27432" anchor="ctr">
                    <a:solidFill>
                      <a:srgbClr val="FFFFFF"/>
                    </a:solidFill>
                  </a:tcPr>
                </a:tc>
                <a:extLst>
                  <a:ext uri="{0D108BD9-81ED-4DB2-BD59-A6C34878D82A}">
                    <a16:rowId xmlns:a16="http://schemas.microsoft.com/office/drawing/2014/main" val="10008"/>
                  </a:ext>
                </a:extLst>
              </a:tr>
              <a:tr h="365760">
                <a:tc>
                  <a:txBody>
                    <a:bodyPr/>
                    <a:lstStyle/>
                    <a:p>
                      <a:r>
                        <a:rPr sz="1300" b="1" i="0">
                          <a:solidFill>
                            <a:srgbClr val="20242B"/>
                          </a:solidFill>
                          <a:latin typeface="Calibri"/>
                        </a:rPr>
                        <a:t>9</a:t>
                      </a:r>
                    </a:p>
                  </a:txBody>
                  <a:tcPr marL="73152" marR="73152" marT="27432" marB="27432" anchor="ctr">
                    <a:solidFill>
                      <a:srgbClr val="FDF0E6"/>
                    </a:solidFill>
                  </a:tcPr>
                </a:tc>
                <a:tc>
                  <a:txBody>
                    <a:bodyPr/>
                    <a:lstStyle/>
                    <a:p>
                      <a:r>
                        <a:rPr sz="1300" b="0" i="0">
                          <a:solidFill>
                            <a:srgbClr val="20242B"/>
                          </a:solidFill>
                          <a:latin typeface="Calibri"/>
                        </a:rPr>
                        <a:t>31/08 – 06/09</a:t>
                      </a:r>
                    </a:p>
                  </a:txBody>
                  <a:tcPr marL="73152" marR="73152" marT="27432" marB="27432" anchor="ctr">
                    <a:solidFill>
                      <a:srgbClr val="FDF0E6"/>
                    </a:solidFill>
                  </a:tcPr>
                </a:tc>
                <a:tc>
                  <a:txBody>
                    <a:bodyPr/>
                    <a:lstStyle/>
                    <a:p>
                      <a:r>
                        <a:rPr sz="1300" b="0" i="0">
                          <a:solidFill>
                            <a:srgbClr val="20242B"/>
                          </a:solidFill>
                          <a:latin typeface="Calibri"/>
                        </a:rPr>
                        <a:t>Kiểm tra và sửa lỗi</a:t>
                      </a:r>
                    </a:p>
                  </a:txBody>
                  <a:tcPr marL="73152" marR="73152" marT="27432" marB="27432" anchor="ctr">
                    <a:solidFill>
                      <a:srgbClr val="FDF0E6"/>
                    </a:solidFill>
                  </a:tcPr>
                </a:tc>
                <a:tc>
                  <a:txBody>
                    <a:bodyPr/>
                    <a:lstStyle/>
                    <a:p>
                      <a:r>
                        <a:rPr sz="1300" b="0" i="0">
                          <a:solidFill>
                            <a:srgbClr val="20242B"/>
                          </a:solidFill>
                          <a:latin typeface="Calibri"/>
                        </a:rPr>
                        <a:t>Bố cục, kích thước, khoảng cách, font, trình duyệt; sửa theo góp ý</a:t>
                      </a:r>
                    </a:p>
                  </a:txBody>
                  <a:tcPr marL="73152" marR="73152" marT="27432" marB="27432" anchor="ctr">
                    <a:solidFill>
                      <a:srgbClr val="FDF0E6"/>
                    </a:solidFill>
                  </a:tcPr>
                </a:tc>
                <a:extLst>
                  <a:ext uri="{0D108BD9-81ED-4DB2-BD59-A6C34878D82A}">
                    <a16:rowId xmlns:a16="http://schemas.microsoft.com/office/drawing/2014/main" val="10009"/>
                  </a:ext>
                </a:extLst>
              </a:tr>
              <a:tr h="365760">
                <a:tc>
                  <a:txBody>
                    <a:bodyPr/>
                    <a:lstStyle/>
                    <a:p>
                      <a:r>
                        <a:rPr sz="1300" b="1" i="0">
                          <a:solidFill>
                            <a:srgbClr val="20242B"/>
                          </a:solidFill>
                          <a:latin typeface="Calibri"/>
                        </a:rPr>
                        <a:t>10</a:t>
                      </a:r>
                    </a:p>
                  </a:txBody>
                  <a:tcPr marL="73152" marR="73152" marT="27432" marB="27432" anchor="ctr">
                    <a:solidFill>
                      <a:srgbClr val="FDF0E6"/>
                    </a:solidFill>
                  </a:tcPr>
                </a:tc>
                <a:tc>
                  <a:txBody>
                    <a:bodyPr/>
                    <a:lstStyle/>
                    <a:p>
                      <a:r>
                        <a:rPr sz="1300" b="0" i="0">
                          <a:solidFill>
                            <a:srgbClr val="20242B"/>
                          </a:solidFill>
                          <a:latin typeface="Calibri"/>
                        </a:rPr>
                        <a:t>07/09 – 13/09</a:t>
                      </a:r>
                    </a:p>
                  </a:txBody>
                  <a:tcPr marL="73152" marR="73152" marT="27432" marB="27432" anchor="ctr">
                    <a:solidFill>
                      <a:srgbClr val="FDF0E6"/>
                    </a:solidFill>
                  </a:tcPr>
                </a:tc>
                <a:tc>
                  <a:txBody>
                    <a:bodyPr/>
                    <a:lstStyle/>
                    <a:p>
                      <a:r>
                        <a:rPr sz="1300" b="0" i="0">
                          <a:solidFill>
                            <a:srgbClr val="20242B"/>
                          </a:solidFill>
                          <a:latin typeface="Calibri"/>
                        </a:rPr>
                        <a:t>Báo cáo người hướng dẫn</a:t>
                      </a:r>
                    </a:p>
                  </a:txBody>
                  <a:tcPr marL="73152" marR="73152" marT="27432" marB="27432" anchor="ctr">
                    <a:solidFill>
                      <a:srgbClr val="FDF0E6"/>
                    </a:solidFill>
                  </a:tcPr>
                </a:tc>
                <a:tc>
                  <a:txBody>
                    <a:bodyPr/>
                    <a:lstStyle/>
                    <a:p>
                      <a:r>
                        <a:rPr sz="1300" b="0" i="0">
                          <a:solidFill>
                            <a:srgbClr val="20242B"/>
                          </a:solidFill>
                          <a:latin typeface="Calibri"/>
                        </a:rPr>
                        <a:t>Hoàn chỉnh các task đã làm để báo cáo</a:t>
                      </a:r>
                    </a:p>
                  </a:txBody>
                  <a:tcPr marL="73152" marR="73152" marT="27432" marB="27432" anchor="ctr">
                    <a:solidFill>
                      <a:srgbClr val="FDF0E6"/>
                    </a:solidFill>
                  </a:tcPr>
                </a:tc>
                <a:extLst>
                  <a:ext uri="{0D108BD9-81ED-4DB2-BD59-A6C34878D82A}">
                    <a16:rowId xmlns:a16="http://schemas.microsoft.com/office/drawing/2014/main" val="10010"/>
                  </a:ext>
                </a:extLst>
              </a:tr>
              <a:tr h="365760">
                <a:tc>
                  <a:txBody>
                    <a:bodyPr/>
                    <a:lstStyle/>
                    <a:p>
                      <a:r>
                        <a:rPr sz="1300" b="1" i="0">
                          <a:solidFill>
                            <a:srgbClr val="20242B"/>
                          </a:solidFill>
                          <a:latin typeface="Calibri"/>
                        </a:rPr>
                        <a:t>11</a:t>
                      </a:r>
                    </a:p>
                  </a:txBody>
                  <a:tcPr marL="73152" marR="73152" marT="27432" marB="27432" anchor="ctr">
                    <a:solidFill>
                      <a:srgbClr val="F1F2F6"/>
                    </a:solidFill>
                  </a:tcPr>
                </a:tc>
                <a:tc>
                  <a:txBody>
                    <a:bodyPr/>
                    <a:lstStyle/>
                    <a:p>
                      <a:r>
                        <a:rPr sz="1300" b="0" i="0">
                          <a:solidFill>
                            <a:srgbClr val="20242B"/>
                          </a:solidFill>
                          <a:latin typeface="Calibri"/>
                        </a:rPr>
                        <a:t>14/09 – 20/09</a:t>
                      </a:r>
                    </a:p>
                  </a:txBody>
                  <a:tcPr marL="73152" marR="73152" marT="27432" marB="27432" anchor="ctr">
                    <a:solidFill>
                      <a:srgbClr val="F1F2F6"/>
                    </a:solidFill>
                  </a:tcPr>
                </a:tc>
                <a:tc>
                  <a:txBody>
                    <a:bodyPr/>
                    <a:lstStyle/>
                    <a:p>
                      <a:r>
                        <a:rPr sz="1300" b="0" i="0">
                          <a:solidFill>
                            <a:srgbClr val="20242B"/>
                          </a:solidFill>
                          <a:latin typeface="Calibri"/>
                        </a:rPr>
                        <a:t>Viết báo cáo</a:t>
                      </a:r>
                    </a:p>
                  </a:txBody>
                  <a:tcPr marL="73152" marR="73152" marT="27432" marB="27432" anchor="ctr">
                    <a:solidFill>
                      <a:srgbClr val="F1F2F6"/>
                    </a:solidFill>
                  </a:tcPr>
                </a:tc>
                <a:tc>
                  <a:txBody>
                    <a:bodyPr/>
                    <a:lstStyle/>
                    <a:p>
                      <a:r>
                        <a:rPr sz="1300" b="0" i="0">
                          <a:solidFill>
                            <a:srgbClr val="20242B"/>
                          </a:solidFill>
                          <a:latin typeface="Calibri"/>
                        </a:rPr>
                        <a:t>Tổng hợp nội dung, viết báo cáo</a:t>
                      </a:r>
                    </a:p>
                  </a:txBody>
                  <a:tcPr marL="73152" marR="73152" marT="27432" marB="27432" anchor="ctr">
                    <a:solidFill>
                      <a:srgbClr val="F1F2F6"/>
                    </a:solidFill>
                  </a:tcPr>
                </a:tc>
                <a:extLst>
                  <a:ext uri="{0D108BD9-81ED-4DB2-BD59-A6C34878D82A}">
                    <a16:rowId xmlns:a16="http://schemas.microsoft.com/office/drawing/2014/main" val="10011"/>
                  </a:ext>
                </a:extLst>
              </a:tr>
              <a:tr h="365760">
                <a:tc>
                  <a:txBody>
                    <a:bodyPr/>
                    <a:lstStyle/>
                    <a:p>
                      <a:r>
                        <a:rPr sz="1300" b="1" i="0">
                          <a:solidFill>
                            <a:srgbClr val="20242B"/>
                          </a:solidFill>
                          <a:latin typeface="Calibri"/>
                        </a:rPr>
                        <a:t>12</a:t>
                      </a:r>
                    </a:p>
                  </a:txBody>
                  <a:tcPr marL="73152" marR="73152" marT="27432" marB="27432" anchor="ctr">
                    <a:solidFill>
                      <a:srgbClr val="F1F2F6"/>
                    </a:solidFill>
                  </a:tcPr>
                </a:tc>
                <a:tc>
                  <a:txBody>
                    <a:bodyPr/>
                    <a:lstStyle/>
                    <a:p>
                      <a:r>
                        <a:rPr sz="1300" b="0" i="0">
                          <a:solidFill>
                            <a:srgbClr val="20242B"/>
                          </a:solidFill>
                          <a:latin typeface="Calibri"/>
                        </a:rPr>
                        <a:t>21/09 – 27/09</a:t>
                      </a:r>
                    </a:p>
                  </a:txBody>
                  <a:tcPr marL="73152" marR="73152" marT="27432" marB="27432" anchor="ctr">
                    <a:solidFill>
                      <a:srgbClr val="F1F2F6"/>
                    </a:solidFill>
                  </a:tcPr>
                </a:tc>
                <a:tc>
                  <a:txBody>
                    <a:bodyPr/>
                    <a:lstStyle/>
                    <a:p>
                      <a:r>
                        <a:rPr sz="1300" b="0" i="0">
                          <a:solidFill>
                            <a:srgbClr val="20242B"/>
                          </a:solidFill>
                          <a:latin typeface="Calibri"/>
                        </a:rPr>
                        <a:t>Viết báo cáo</a:t>
                      </a:r>
                    </a:p>
                  </a:txBody>
                  <a:tcPr marL="73152" marR="73152" marT="27432" marB="27432" anchor="ctr">
                    <a:solidFill>
                      <a:srgbClr val="F1F2F6"/>
                    </a:solidFill>
                  </a:tcPr>
                </a:tc>
                <a:tc>
                  <a:txBody>
                    <a:bodyPr/>
                    <a:lstStyle/>
                    <a:p>
                      <a:r>
                        <a:rPr sz="1300" b="0" i="0">
                          <a:solidFill>
                            <a:srgbClr val="20242B"/>
                          </a:solidFill>
                          <a:latin typeface="Calibri"/>
                        </a:rPr>
                        <a:t>Hoàn tất báo cáo</a:t>
                      </a:r>
                    </a:p>
                  </a:txBody>
                  <a:tcPr marL="73152" marR="73152" marT="27432" marB="27432" anchor="ctr">
                    <a:solidFill>
                      <a:srgbClr val="F1F2F6"/>
                    </a:solidFill>
                  </a:tcPr>
                </a:tc>
                <a:extLst>
                  <a:ext uri="{0D108BD9-81ED-4DB2-BD59-A6C34878D82A}">
                    <a16:rowId xmlns:a16="http://schemas.microsoft.com/office/drawing/2014/main" val="10012"/>
                  </a:ext>
                </a:extLst>
              </a:tr>
            </a:tbl>
          </a:graphicData>
        </a:graphic>
      </p:graphicFrame>
      <p:sp>
        <p:nvSpPr>
          <p:cNvPr id="8" name="Rectangle 7"/>
          <p:cNvSpPr/>
          <p:nvPr/>
        </p:nvSpPr>
        <p:spPr>
          <a:xfrm>
            <a:off x="457200" y="6126480"/>
            <a:ext cx="201168" cy="182880"/>
          </a:xfrm>
          <a:prstGeom prst="rect">
            <a:avLst/>
          </a:prstGeom>
          <a:solidFill>
            <a:srgbClr val="E3F1F1"/>
          </a:solid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3232" y="6062472"/>
            <a:ext cx="1463040" cy="274320"/>
          </a:xfrm>
          <a:prstGeom prst="rect">
            <a:avLst/>
          </a:prstGeom>
          <a:noFill/>
        </p:spPr>
        <p:txBody>
          <a:bodyPr wrap="square" lIns="45720" rIns="45720" anchor="t"/>
          <a:lstStyle/>
          <a:p>
            <a:pPr algn="l"/>
            <a:r>
              <a:rPr sz="1100" b="0" i="0">
                <a:solidFill>
                  <a:srgbClr val="5B6370"/>
                </a:solidFill>
                <a:latin typeface="Calibri"/>
              </a:rPr>
              <a:t>Giai đoạn 1</a:t>
            </a:r>
          </a:p>
        </p:txBody>
      </p:sp>
      <p:sp>
        <p:nvSpPr>
          <p:cNvPr id="10" name="Rectangle 9"/>
          <p:cNvSpPr/>
          <p:nvPr/>
        </p:nvSpPr>
        <p:spPr>
          <a:xfrm>
            <a:off x="2286000" y="6126480"/>
            <a:ext cx="201168" cy="182880"/>
          </a:xfrm>
          <a:prstGeom prst="rect">
            <a:avLst/>
          </a:prstGeom>
          <a:solidFill>
            <a:srgbClr val="FFFFFF"/>
          </a:solid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42032" y="6062472"/>
            <a:ext cx="1463040" cy="274320"/>
          </a:xfrm>
          <a:prstGeom prst="rect">
            <a:avLst/>
          </a:prstGeom>
          <a:noFill/>
        </p:spPr>
        <p:txBody>
          <a:bodyPr wrap="square" lIns="45720" rIns="45720" anchor="t"/>
          <a:lstStyle/>
          <a:p>
            <a:pPr algn="l"/>
            <a:r>
              <a:rPr sz="1100" b="0" i="0">
                <a:solidFill>
                  <a:srgbClr val="5B6370"/>
                </a:solidFill>
                <a:latin typeface="Calibri"/>
              </a:rPr>
              <a:t>Giai đoạn 2</a:t>
            </a:r>
          </a:p>
        </p:txBody>
      </p:sp>
      <p:sp>
        <p:nvSpPr>
          <p:cNvPr id="12" name="Rectangle 11"/>
          <p:cNvSpPr/>
          <p:nvPr/>
        </p:nvSpPr>
        <p:spPr>
          <a:xfrm>
            <a:off x="4114800" y="6126480"/>
            <a:ext cx="201168" cy="182880"/>
          </a:xfrm>
          <a:prstGeom prst="rect">
            <a:avLst/>
          </a:prstGeom>
          <a:solidFill>
            <a:srgbClr val="FDF0E6"/>
          </a:solid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70832" y="6062472"/>
            <a:ext cx="1463040" cy="274320"/>
          </a:xfrm>
          <a:prstGeom prst="rect">
            <a:avLst/>
          </a:prstGeom>
          <a:noFill/>
        </p:spPr>
        <p:txBody>
          <a:bodyPr wrap="square" lIns="45720" rIns="45720" anchor="t"/>
          <a:lstStyle/>
          <a:p>
            <a:pPr algn="l"/>
            <a:r>
              <a:rPr sz="1100" b="0" i="0">
                <a:solidFill>
                  <a:srgbClr val="5B6370"/>
                </a:solidFill>
                <a:latin typeface="Calibri"/>
              </a:rPr>
              <a:t>Giai đoạn 3</a:t>
            </a:r>
          </a:p>
        </p:txBody>
      </p:sp>
      <p:sp>
        <p:nvSpPr>
          <p:cNvPr id="14" name="Rectangle 13"/>
          <p:cNvSpPr/>
          <p:nvPr/>
        </p:nvSpPr>
        <p:spPr>
          <a:xfrm>
            <a:off x="5943600" y="6126480"/>
            <a:ext cx="201168" cy="182880"/>
          </a:xfrm>
          <a:prstGeom prst="rect">
            <a:avLst/>
          </a:prstGeom>
          <a:solidFill>
            <a:srgbClr val="F1F2F6"/>
          </a:solid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199632" y="6062472"/>
            <a:ext cx="1463040" cy="274320"/>
          </a:xfrm>
          <a:prstGeom prst="rect">
            <a:avLst/>
          </a:prstGeom>
          <a:noFill/>
        </p:spPr>
        <p:txBody>
          <a:bodyPr wrap="square" lIns="45720" rIns="45720" anchor="t"/>
          <a:lstStyle/>
          <a:p>
            <a:pPr algn="l"/>
            <a:r>
              <a:rPr sz="1100" b="0" i="0">
                <a:solidFill>
                  <a:srgbClr val="5B6370"/>
                </a:solidFill>
                <a:latin typeface="Calibri"/>
              </a:rPr>
              <a:t>Giai đoạn 4</a:t>
            </a:r>
          </a:p>
        </p:txBody>
      </p:sp>
      <p:sp>
        <p:nvSpPr>
          <p:cNvPr id="16" name="TextBox 15"/>
          <p:cNvSpPr txBox="1"/>
          <p:nvPr/>
        </p:nvSpPr>
        <p:spPr>
          <a:xfrm>
            <a:off x="10332720" y="6492240"/>
            <a:ext cx="1399032" cy="274320"/>
          </a:xfrm>
          <a:prstGeom prst="rect">
            <a:avLst/>
          </a:prstGeom>
          <a:noFill/>
        </p:spPr>
        <p:txBody>
          <a:bodyPr wrap="square" lIns="45720" rIns="45720" anchor="t"/>
          <a:lstStyle/>
          <a:p>
            <a:pPr algn="r"/>
            <a:r>
              <a:rPr sz="1100" b="0" i="0">
                <a:solidFill>
                  <a:srgbClr val="5B6370"/>
                </a:solidFill>
                <a:latin typeface="Calibri"/>
              </a:rPr>
              <a:t>13 / 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4F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
            <a:ext cx="8229600" cy="274320"/>
          </a:xfrm>
          <a:prstGeom prst="rect">
            <a:avLst/>
          </a:prstGeom>
          <a:noFill/>
        </p:spPr>
        <p:txBody>
          <a:bodyPr wrap="square" lIns="45720" rIns="45720" anchor="t"/>
          <a:lstStyle/>
          <a:p>
            <a:pPr algn="l"/>
            <a:r>
              <a:rPr sz="1200" b="1" i="0">
                <a:solidFill>
                  <a:srgbClr val="2F7F80"/>
                </a:solidFill>
                <a:latin typeface="Calibri"/>
              </a:rPr>
              <a:t>05 · PHÂN TÍCH VÀ CÔNG NGHỆ</a:t>
            </a:r>
          </a:p>
        </p:txBody>
      </p:sp>
      <p:sp>
        <p:nvSpPr>
          <p:cNvPr id="4" name="TextBox 3"/>
          <p:cNvSpPr txBox="1"/>
          <p:nvPr/>
        </p:nvSpPr>
        <p:spPr>
          <a:xfrm>
            <a:off x="457200" y="457200"/>
            <a:ext cx="11247120" cy="566928"/>
          </a:xfrm>
          <a:prstGeom prst="rect">
            <a:avLst/>
          </a:prstGeom>
          <a:noFill/>
        </p:spPr>
        <p:txBody>
          <a:bodyPr wrap="square" lIns="45720" rIns="45720" anchor="t"/>
          <a:lstStyle/>
          <a:p>
            <a:pPr algn="l"/>
            <a:r>
              <a:rPr sz="2800" b="1" i="0">
                <a:solidFill>
                  <a:srgbClr val="20242B"/>
                </a:solidFill>
                <a:latin typeface="Calibri"/>
              </a:rPr>
              <a:t>Phân tích thực trạng theo chủ đề thực tập</a:t>
            </a:r>
          </a:p>
        </p:txBody>
      </p:sp>
      <p:cxnSp>
        <p:nvCxnSpPr>
          <p:cNvPr id="5" name="Connector 4"/>
          <p:cNvCxnSpPr/>
          <p:nvPr/>
        </p:nvCxnSpPr>
        <p:spPr>
          <a:xfrm>
            <a:off x="457200" y="6446520"/>
            <a:ext cx="11274552" cy="0"/>
          </a:xfrm>
          <a:prstGeom prst="line">
            <a:avLst/>
          </a:prstGeom>
          <a:ln w="9525">
            <a:solidFill>
              <a:srgbClr val="D9DEE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92240"/>
            <a:ext cx="8229600" cy="274320"/>
          </a:xfrm>
          <a:prstGeom prst="rect">
            <a:avLst/>
          </a:prstGeom>
          <a:noFill/>
        </p:spPr>
        <p:txBody>
          <a:bodyPr wrap="square" lIns="45720" rIns="45720" anchor="t"/>
          <a:lstStyle/>
          <a:p>
            <a:pPr algn="l"/>
            <a:r>
              <a:rPr sz="1100" b="0" i="0">
                <a:solidFill>
                  <a:srgbClr val="5B6370"/>
                </a:solidFill>
                <a:latin typeface="Calibri"/>
              </a:rPr>
              <a:t>Trần Anh Khoa  ·  Báo cáo thực tập tốt nghiệp  ·  Website Printuz</a:t>
            </a:r>
          </a:p>
        </p:txBody>
      </p:sp>
      <p:sp>
        <p:nvSpPr>
          <p:cNvPr id="7" name="Rounded Rectangle 6"/>
          <p:cNvSpPr/>
          <p:nvPr/>
        </p:nvSpPr>
        <p:spPr>
          <a:xfrm>
            <a:off x="457200" y="1280160"/>
            <a:ext cx="3630168" cy="4892040"/>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426463"/>
            <a:ext cx="3264408" cy="4617720"/>
          </a:xfrm>
          <a:prstGeom prst="rect">
            <a:avLst/>
          </a:prstGeom>
          <a:noFill/>
        </p:spPr>
        <p:txBody>
          <a:bodyPr wrap="square" lIns="45720" rIns="45720" anchor="t"/>
          <a:lstStyle/>
          <a:p>
            <a:r>
              <a:rPr sz="1200" b="1" i="0">
                <a:solidFill>
                  <a:srgbClr val="2F7F80"/>
                </a:solidFill>
                <a:latin typeface="Calibri"/>
              </a:rPr>
              <a:t>GIAO DIỆN NGƯỜI DÙNG (UI)</a:t>
            </a:r>
          </a:p>
          <a:p>
            <a:pPr>
              <a:spcBef>
                <a:spcPts val="300"/>
              </a:spcBef>
              <a:spcAft>
                <a:spcPts val="600"/>
              </a:spcAft>
            </a:pPr>
            <a:r>
              <a:rPr sz="1900" b="1" i="0">
                <a:solidFill>
                  <a:srgbClr val="20242B"/>
                </a:solidFill>
                <a:latin typeface="Calibri"/>
              </a:rPr>
              <a:t>Rõ ràng, thống nhất</a:t>
            </a:r>
          </a:p>
          <a:p>
            <a:pPr marL="256032" indent="-256032">
              <a:spcAft>
                <a:spcPts val="500"/>
              </a:spcAft>
              <a:buClr>
                <a:srgbClr val="4FA6A6"/>
              </a:buClr>
              <a:buFont typeface="Arial"/>
              <a:buChar char="•"/>
            </a:pPr>
            <a:r>
              <a:rPr sz="1600" b="0" i="0">
                <a:solidFill>
                  <a:srgbClr val="20242B"/>
                </a:solidFill>
                <a:latin typeface="Calibri"/>
              </a:rPr>
              <a:t>Website fulfillment có nhiều nhóm nội dung: doanh nghiệp, dịch vụ, sản phẩm, quy trình, tin tức, FAQ, liên hệ.</a:t>
            </a:r>
          </a:p>
          <a:p>
            <a:pPr marL="256032" indent="-256032">
              <a:spcAft>
                <a:spcPts val="500"/>
              </a:spcAft>
              <a:buClr>
                <a:srgbClr val="4FA6A6"/>
              </a:buClr>
              <a:buFont typeface="Arial"/>
              <a:buChar char="•"/>
            </a:pPr>
            <a:r>
              <a:rPr sz="1600" b="0" i="0">
                <a:solidFill>
                  <a:srgbClr val="20242B"/>
                </a:solidFill>
                <a:latin typeface="Calibri"/>
              </a:rPr>
              <a:t>Cần bố cục rõ, phân cấp thông tin hợp lý.</a:t>
            </a:r>
          </a:p>
          <a:p>
            <a:pPr marL="256032" indent="-256032">
              <a:spcAft>
                <a:spcPts val="500"/>
              </a:spcAft>
              <a:buClr>
                <a:srgbClr val="4FA6A6"/>
              </a:buClr>
              <a:buFont typeface="Arial"/>
              <a:buChar char="•"/>
            </a:pPr>
            <a:r>
              <a:rPr sz="1600" b="0" i="0">
                <a:solidFill>
                  <a:srgbClr val="20242B"/>
                </a:solidFill>
                <a:latin typeface="Calibri"/>
              </a:rPr>
              <a:t>Phong cách hiện đại, tối giản, thống nhất màu thương hiệu.</a:t>
            </a:r>
          </a:p>
          <a:p>
            <a:pPr marL="256032" indent="-256032">
              <a:spcAft>
                <a:spcPts val="500"/>
              </a:spcAft>
              <a:buClr>
                <a:srgbClr val="4FA6A6"/>
              </a:buClr>
              <a:buFont typeface="Arial"/>
              <a:buChar char="•"/>
            </a:pPr>
            <a:r>
              <a:rPr sz="1600" b="0" i="0">
                <a:solidFill>
                  <a:srgbClr val="20242B"/>
                </a:solidFill>
                <a:latin typeface="Calibri"/>
              </a:rPr>
              <a:t>Dùng hình ảnh sản phẩm và khối nội dung trực quan.</a:t>
            </a:r>
          </a:p>
        </p:txBody>
      </p:sp>
      <p:sp>
        <p:nvSpPr>
          <p:cNvPr id="9" name="Rounded Rectangle 8"/>
          <p:cNvSpPr/>
          <p:nvPr/>
        </p:nvSpPr>
        <p:spPr>
          <a:xfrm>
            <a:off x="4279392" y="1280160"/>
            <a:ext cx="3630168" cy="4892040"/>
          </a:xfrm>
          <a:prstGeom prst="roundRect">
            <a:avLst>
              <a:gd name="adj" fmla="val 6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62272" y="1426463"/>
            <a:ext cx="3264408" cy="4617720"/>
          </a:xfrm>
          <a:prstGeom prst="rect">
            <a:avLst/>
          </a:prstGeom>
          <a:noFill/>
        </p:spPr>
        <p:txBody>
          <a:bodyPr wrap="square" lIns="45720" rIns="45720" anchor="t"/>
          <a:lstStyle/>
          <a:p>
            <a:r>
              <a:rPr sz="1200" b="1" i="0">
                <a:solidFill>
                  <a:srgbClr val="2F7F80"/>
                </a:solidFill>
                <a:latin typeface="Calibri"/>
              </a:rPr>
              <a:t>TRẢI NGHIỆM NGƯỜI DÙNG (UX)</a:t>
            </a:r>
          </a:p>
          <a:p>
            <a:pPr>
              <a:spcBef>
                <a:spcPts val="300"/>
              </a:spcBef>
              <a:spcAft>
                <a:spcPts val="600"/>
              </a:spcAft>
            </a:pPr>
            <a:r>
              <a:rPr sz="1900" b="1" i="0">
                <a:solidFill>
                  <a:srgbClr val="20242B"/>
                </a:solidFill>
                <a:latin typeface="Calibri"/>
              </a:rPr>
              <a:t>Dễ tìm, dễ dùng</a:t>
            </a:r>
          </a:p>
          <a:p>
            <a:pPr marL="256032" indent="-256032">
              <a:spcAft>
                <a:spcPts val="500"/>
              </a:spcAft>
              <a:buClr>
                <a:srgbClr val="4FA6A6"/>
              </a:buClr>
              <a:buFont typeface="Arial"/>
              <a:buChar char="•"/>
            </a:pPr>
            <a:r>
              <a:rPr sz="1600" b="0" i="0">
                <a:solidFill>
                  <a:srgbClr val="20242B"/>
                </a:solidFill>
                <a:latin typeface="Calibri"/>
              </a:rPr>
              <a:t>Menu sắp theo mức ưu tiên, tên gọi dễ hiểu.</a:t>
            </a:r>
          </a:p>
          <a:p>
            <a:pPr marL="256032" indent="-256032">
              <a:spcAft>
                <a:spcPts val="500"/>
              </a:spcAft>
              <a:buClr>
                <a:srgbClr val="4FA6A6"/>
              </a:buClr>
              <a:buFont typeface="Arial"/>
              <a:buChar char="•"/>
            </a:pPr>
            <a:r>
              <a:rPr sz="1600" b="0" i="0">
                <a:solidFill>
                  <a:srgbClr val="20242B"/>
                </a:solidFill>
                <a:latin typeface="Calibri"/>
              </a:rPr>
              <a:t>Ô tìm kiếm đặt ở chỗ dễ thấy.</a:t>
            </a:r>
          </a:p>
          <a:p>
            <a:pPr marL="256032" indent="-256032">
              <a:spcAft>
                <a:spcPts val="500"/>
              </a:spcAft>
              <a:buClr>
                <a:srgbClr val="4FA6A6"/>
              </a:buClr>
              <a:buFont typeface="Arial"/>
              <a:buChar char="•"/>
            </a:pPr>
            <a:r>
              <a:rPr sz="1600" b="0" i="0">
                <a:solidFill>
                  <a:srgbClr val="20242B"/>
                </a:solidFill>
                <a:latin typeface="Calibri"/>
              </a:rPr>
              <a:t>Hiển thị tốt trên nhiều kích thước màn hình.</a:t>
            </a:r>
          </a:p>
          <a:p>
            <a:pPr marL="256032" indent="-256032">
              <a:spcAft>
                <a:spcPts val="500"/>
              </a:spcAft>
              <a:buClr>
                <a:srgbClr val="4FA6A6"/>
              </a:buClr>
              <a:buFont typeface="Arial"/>
              <a:buChar char="•"/>
            </a:pPr>
            <a:r>
              <a:rPr sz="1600" b="0" i="0">
                <a:solidFill>
                  <a:srgbClr val="20242B"/>
                </a:solidFill>
                <a:latin typeface="Calibri"/>
              </a:rPr>
              <a:t>Hiệu ứng vừa phải: di chuột, nút về đầu trang, menu cố định khi cuộn.</a:t>
            </a:r>
          </a:p>
        </p:txBody>
      </p:sp>
      <p:sp>
        <p:nvSpPr>
          <p:cNvPr id="11" name="Rounded Rectangle 10"/>
          <p:cNvSpPr/>
          <p:nvPr/>
        </p:nvSpPr>
        <p:spPr>
          <a:xfrm>
            <a:off x="8101583" y="1280160"/>
            <a:ext cx="3630168" cy="4892040"/>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84463" y="1426463"/>
            <a:ext cx="3264408" cy="4617720"/>
          </a:xfrm>
          <a:prstGeom prst="rect">
            <a:avLst/>
          </a:prstGeom>
          <a:noFill/>
        </p:spPr>
        <p:txBody>
          <a:bodyPr wrap="square" lIns="45720" rIns="45720" anchor="t"/>
          <a:lstStyle/>
          <a:p>
            <a:r>
              <a:rPr sz="1200" b="1" i="0">
                <a:solidFill>
                  <a:srgbClr val="2F7F80"/>
                </a:solidFill>
                <a:latin typeface="Calibri"/>
              </a:rPr>
              <a:t>YÊU CẦU DỰ ÁN</a:t>
            </a:r>
          </a:p>
          <a:p>
            <a:pPr>
              <a:spcBef>
                <a:spcPts val="300"/>
              </a:spcBef>
              <a:spcAft>
                <a:spcPts val="600"/>
              </a:spcAft>
            </a:pPr>
            <a:r>
              <a:rPr sz="1900" b="1" i="0">
                <a:solidFill>
                  <a:srgbClr val="20242B"/>
                </a:solidFill>
                <a:latin typeface="Calibri"/>
              </a:rPr>
              <a:t>Đa trang, đồng bộ</a:t>
            </a:r>
          </a:p>
          <a:p>
            <a:pPr marL="256032" indent="-256032">
              <a:spcAft>
                <a:spcPts val="500"/>
              </a:spcAft>
              <a:buClr>
                <a:srgbClr val="4FA6A6"/>
              </a:buClr>
              <a:buFont typeface="Arial"/>
              <a:buChar char="•"/>
            </a:pPr>
            <a:r>
              <a:rPr sz="1600" b="0" i="0">
                <a:solidFill>
                  <a:srgbClr val="20242B"/>
                </a:solidFill>
                <a:latin typeface="Calibri"/>
              </a:rPr>
              <a:t>Website đa trang giới thiệu thương hiệu và dịch vụ.</a:t>
            </a:r>
          </a:p>
          <a:p>
            <a:pPr marL="256032" indent="-256032">
              <a:spcAft>
                <a:spcPts val="500"/>
              </a:spcAft>
              <a:buClr>
                <a:srgbClr val="4FA6A6"/>
              </a:buClr>
              <a:buFont typeface="Arial"/>
              <a:buChar char="•"/>
            </a:pPr>
            <a:r>
              <a:rPr sz="1600" b="0" i="0">
                <a:solidFill>
                  <a:srgbClr val="20242B"/>
                </a:solidFill>
                <a:latin typeface="Calibri"/>
              </a:rPr>
              <a:t>Giao diện nhất quán giữa các trang.</a:t>
            </a:r>
          </a:p>
          <a:p>
            <a:pPr marL="256032" indent="-256032">
              <a:spcAft>
                <a:spcPts val="500"/>
              </a:spcAft>
              <a:buClr>
                <a:srgbClr val="4FA6A6"/>
              </a:buClr>
              <a:buFont typeface="Arial"/>
              <a:buChar char="•"/>
            </a:pPr>
            <a:r>
              <a:rPr sz="1600" b="0" i="0">
                <a:solidFill>
                  <a:srgbClr val="20242B"/>
                </a:solidFill>
                <a:latin typeface="Calibri"/>
              </a:rPr>
              <a:t>Thành phần dùng chung cho bố cục, màu sắc, điều hướng.</a:t>
            </a:r>
          </a:p>
          <a:p>
            <a:pPr marL="256032" indent="-256032">
              <a:spcAft>
                <a:spcPts val="500"/>
              </a:spcAft>
              <a:buClr>
                <a:srgbClr val="4FA6A6"/>
              </a:buClr>
              <a:buFont typeface="Arial"/>
              <a:buChar char="•"/>
            </a:pPr>
            <a:r>
              <a:rPr sz="1600" b="0" i="0">
                <a:solidFill>
                  <a:srgbClr val="20242B"/>
                </a:solidFill>
                <a:latin typeface="Calibri"/>
              </a:rPr>
              <a:t>Tổ chức dữ liệu sản phẩm và bài viết để mở rộng.</a:t>
            </a:r>
          </a:p>
        </p:txBody>
      </p:sp>
      <p:sp>
        <p:nvSpPr>
          <p:cNvPr id="13" name="TextBox 12"/>
          <p:cNvSpPr txBox="1"/>
          <p:nvPr/>
        </p:nvSpPr>
        <p:spPr>
          <a:xfrm>
            <a:off x="10332720" y="6492240"/>
            <a:ext cx="1399032" cy="274320"/>
          </a:xfrm>
          <a:prstGeom prst="rect">
            <a:avLst/>
          </a:prstGeom>
          <a:noFill/>
        </p:spPr>
        <p:txBody>
          <a:bodyPr wrap="square" lIns="45720" rIns="45720" anchor="t"/>
          <a:lstStyle/>
          <a:p>
            <a:pPr algn="r"/>
            <a:r>
              <a:rPr sz="1100" b="0" i="0">
                <a:solidFill>
                  <a:srgbClr val="5B6370"/>
                </a:solidFill>
                <a:latin typeface="Calibri"/>
              </a:rPr>
              <a:t>14 / 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4F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
            <a:ext cx="8229600" cy="274320"/>
          </a:xfrm>
          <a:prstGeom prst="rect">
            <a:avLst/>
          </a:prstGeom>
          <a:noFill/>
        </p:spPr>
        <p:txBody>
          <a:bodyPr wrap="square" lIns="45720" rIns="45720" anchor="t"/>
          <a:lstStyle/>
          <a:p>
            <a:pPr algn="l"/>
            <a:r>
              <a:rPr sz="1200" b="1" i="0">
                <a:solidFill>
                  <a:srgbClr val="2F7F80"/>
                </a:solidFill>
                <a:latin typeface="Calibri"/>
              </a:rPr>
              <a:t>05 · PHÂN TÍCH VÀ CÔNG NGHỆ</a:t>
            </a:r>
          </a:p>
        </p:txBody>
      </p:sp>
      <p:sp>
        <p:nvSpPr>
          <p:cNvPr id="4" name="TextBox 3"/>
          <p:cNvSpPr txBox="1"/>
          <p:nvPr/>
        </p:nvSpPr>
        <p:spPr>
          <a:xfrm>
            <a:off x="457200" y="457200"/>
            <a:ext cx="11247120" cy="566928"/>
          </a:xfrm>
          <a:prstGeom prst="rect">
            <a:avLst/>
          </a:prstGeom>
          <a:noFill/>
        </p:spPr>
        <p:txBody>
          <a:bodyPr wrap="square" lIns="45720" rIns="45720" anchor="t"/>
          <a:lstStyle/>
          <a:p>
            <a:pPr algn="l"/>
            <a:r>
              <a:rPr sz="2800" b="1" i="0">
                <a:solidFill>
                  <a:srgbClr val="20242B"/>
                </a:solidFill>
                <a:latin typeface="Calibri"/>
              </a:rPr>
              <a:t>Kỹ thuật và công nghệ sử dụng</a:t>
            </a:r>
          </a:p>
        </p:txBody>
      </p:sp>
      <p:cxnSp>
        <p:nvCxnSpPr>
          <p:cNvPr id="5" name="Connector 4"/>
          <p:cNvCxnSpPr/>
          <p:nvPr/>
        </p:nvCxnSpPr>
        <p:spPr>
          <a:xfrm>
            <a:off x="457200" y="6446520"/>
            <a:ext cx="11274552" cy="0"/>
          </a:xfrm>
          <a:prstGeom prst="line">
            <a:avLst/>
          </a:prstGeom>
          <a:ln w="9525">
            <a:solidFill>
              <a:srgbClr val="D9DEE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92240"/>
            <a:ext cx="8229600" cy="274320"/>
          </a:xfrm>
          <a:prstGeom prst="rect">
            <a:avLst/>
          </a:prstGeom>
          <a:noFill/>
        </p:spPr>
        <p:txBody>
          <a:bodyPr wrap="square" lIns="45720" rIns="45720" anchor="t"/>
          <a:lstStyle/>
          <a:p>
            <a:pPr algn="l"/>
            <a:r>
              <a:rPr sz="1100" b="0" i="0">
                <a:solidFill>
                  <a:srgbClr val="5B6370"/>
                </a:solidFill>
                <a:latin typeface="Calibri"/>
              </a:rPr>
              <a:t>Trần Anh Khoa  ·  Báo cáo thực tập tốt nghiệp  ·  Website Printuz</a:t>
            </a:r>
          </a:p>
        </p:txBody>
      </p:sp>
      <p:sp>
        <p:nvSpPr>
          <p:cNvPr id="7" name="Rounded Rectangle 6"/>
          <p:cNvSpPr/>
          <p:nvPr/>
        </p:nvSpPr>
        <p:spPr>
          <a:xfrm>
            <a:off x="457200" y="1280160"/>
            <a:ext cx="2130552" cy="3566160"/>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417320"/>
            <a:ext cx="1874519" cy="502920"/>
          </a:xfrm>
          <a:prstGeom prst="rect">
            <a:avLst/>
          </a:prstGeom>
          <a:noFill/>
        </p:spPr>
        <p:txBody>
          <a:bodyPr wrap="square" lIns="45720" rIns="45720" anchor="t"/>
          <a:lstStyle/>
          <a:p>
            <a:pPr algn="l"/>
            <a:r>
              <a:rPr sz="2200" b="1" i="0">
                <a:solidFill>
                  <a:srgbClr val="2F7F80"/>
                </a:solidFill>
                <a:latin typeface="Calibri"/>
              </a:rPr>
              <a:t>HTML</a:t>
            </a:r>
          </a:p>
        </p:txBody>
      </p:sp>
      <p:sp>
        <p:nvSpPr>
          <p:cNvPr id="9" name="TextBox 8"/>
          <p:cNvSpPr txBox="1"/>
          <p:nvPr/>
        </p:nvSpPr>
        <p:spPr>
          <a:xfrm>
            <a:off x="594360" y="1938528"/>
            <a:ext cx="1874519" cy="365760"/>
          </a:xfrm>
          <a:prstGeom prst="rect">
            <a:avLst/>
          </a:prstGeom>
          <a:noFill/>
        </p:spPr>
        <p:txBody>
          <a:bodyPr wrap="square" lIns="45720" rIns="45720" anchor="t"/>
          <a:lstStyle/>
          <a:p>
            <a:pPr algn="l"/>
            <a:r>
              <a:rPr sz="1500" b="1" i="0">
                <a:solidFill>
                  <a:srgbClr val="20242B"/>
                </a:solidFill>
                <a:latin typeface="Calibri"/>
              </a:rPr>
              <a:t>Cấu trúc nội dung</a:t>
            </a:r>
          </a:p>
        </p:txBody>
      </p:sp>
      <p:sp>
        <p:nvSpPr>
          <p:cNvPr id="10" name="TextBox 9"/>
          <p:cNvSpPr txBox="1"/>
          <p:nvPr/>
        </p:nvSpPr>
        <p:spPr>
          <a:xfrm>
            <a:off x="594360" y="2377440"/>
            <a:ext cx="1874519" cy="2377440"/>
          </a:xfrm>
          <a:prstGeom prst="rect">
            <a:avLst/>
          </a:prstGeom>
          <a:noFill/>
        </p:spPr>
        <p:txBody>
          <a:bodyPr wrap="square" lIns="45720" rIns="45720" anchor="t"/>
          <a:lstStyle/>
          <a:p>
            <a:pPr algn="l"/>
            <a:r>
              <a:rPr sz="1600" b="0" i="0">
                <a:solidFill>
                  <a:srgbClr val="5B6370"/>
                </a:solidFill>
                <a:latin typeface="Calibri"/>
              </a:rPr>
              <a:t>Tiêu đề, đoạn văn, hình ảnh, menu, nút, biểu mẫu, danh sách sản phẩm.</a:t>
            </a:r>
          </a:p>
        </p:txBody>
      </p:sp>
      <p:sp>
        <p:nvSpPr>
          <p:cNvPr id="11" name="Rounded Rectangle 10"/>
          <p:cNvSpPr/>
          <p:nvPr/>
        </p:nvSpPr>
        <p:spPr>
          <a:xfrm>
            <a:off x="2743200" y="1280160"/>
            <a:ext cx="2130552" cy="3566160"/>
          </a:xfrm>
          <a:prstGeom prst="roundRect">
            <a:avLst>
              <a:gd name="adj" fmla="val 6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80360" y="1417320"/>
            <a:ext cx="1874519" cy="502920"/>
          </a:xfrm>
          <a:prstGeom prst="rect">
            <a:avLst/>
          </a:prstGeom>
          <a:noFill/>
        </p:spPr>
        <p:txBody>
          <a:bodyPr wrap="square" lIns="45720" rIns="45720" anchor="t"/>
          <a:lstStyle/>
          <a:p>
            <a:pPr algn="l"/>
            <a:r>
              <a:rPr sz="2200" b="1" i="0">
                <a:solidFill>
                  <a:srgbClr val="2F7F80"/>
                </a:solidFill>
                <a:latin typeface="Calibri"/>
              </a:rPr>
              <a:t>CSS</a:t>
            </a:r>
          </a:p>
        </p:txBody>
      </p:sp>
      <p:sp>
        <p:nvSpPr>
          <p:cNvPr id="13" name="TextBox 12"/>
          <p:cNvSpPr txBox="1"/>
          <p:nvPr/>
        </p:nvSpPr>
        <p:spPr>
          <a:xfrm>
            <a:off x="2880360" y="1938528"/>
            <a:ext cx="1874519" cy="365760"/>
          </a:xfrm>
          <a:prstGeom prst="rect">
            <a:avLst/>
          </a:prstGeom>
          <a:noFill/>
        </p:spPr>
        <p:txBody>
          <a:bodyPr wrap="square" lIns="45720" rIns="45720" anchor="t"/>
          <a:lstStyle/>
          <a:p>
            <a:pPr algn="l"/>
            <a:r>
              <a:rPr sz="1500" b="1" i="0">
                <a:solidFill>
                  <a:srgbClr val="20242B"/>
                </a:solidFill>
                <a:latin typeface="Calibri"/>
              </a:rPr>
              <a:t>Định dạng giao diện</a:t>
            </a:r>
          </a:p>
        </p:txBody>
      </p:sp>
      <p:sp>
        <p:nvSpPr>
          <p:cNvPr id="14" name="TextBox 13"/>
          <p:cNvSpPr txBox="1"/>
          <p:nvPr/>
        </p:nvSpPr>
        <p:spPr>
          <a:xfrm>
            <a:off x="2880360" y="2377440"/>
            <a:ext cx="1874519" cy="2377440"/>
          </a:xfrm>
          <a:prstGeom prst="rect">
            <a:avLst/>
          </a:prstGeom>
          <a:noFill/>
        </p:spPr>
        <p:txBody>
          <a:bodyPr wrap="square" lIns="45720" rIns="45720" anchor="t"/>
          <a:lstStyle/>
          <a:p>
            <a:pPr algn="l"/>
            <a:r>
              <a:rPr sz="1600" b="0" i="0">
                <a:solidFill>
                  <a:srgbClr val="5B6370"/>
                </a:solidFill>
                <a:latin typeface="Calibri"/>
              </a:rPr>
              <a:t>Màu sắc, font, khoảng cách, hiệu ứng di chuột, menu cố định khi cuộn.</a:t>
            </a:r>
          </a:p>
        </p:txBody>
      </p:sp>
      <p:sp>
        <p:nvSpPr>
          <p:cNvPr id="15" name="Rounded Rectangle 14"/>
          <p:cNvSpPr/>
          <p:nvPr/>
        </p:nvSpPr>
        <p:spPr>
          <a:xfrm>
            <a:off x="5029200" y="1280160"/>
            <a:ext cx="2130552" cy="3566160"/>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166360" y="1417320"/>
            <a:ext cx="1874519" cy="502920"/>
          </a:xfrm>
          <a:prstGeom prst="rect">
            <a:avLst/>
          </a:prstGeom>
          <a:noFill/>
        </p:spPr>
        <p:txBody>
          <a:bodyPr wrap="square" lIns="45720" rIns="45720" anchor="t"/>
          <a:lstStyle/>
          <a:p>
            <a:pPr algn="l"/>
            <a:r>
              <a:rPr sz="2200" b="1" i="0">
                <a:solidFill>
                  <a:srgbClr val="2F7F80"/>
                </a:solidFill>
                <a:latin typeface="Calibri"/>
              </a:rPr>
              <a:t>JavaScript</a:t>
            </a:r>
          </a:p>
        </p:txBody>
      </p:sp>
      <p:sp>
        <p:nvSpPr>
          <p:cNvPr id="17" name="TextBox 16"/>
          <p:cNvSpPr txBox="1"/>
          <p:nvPr/>
        </p:nvSpPr>
        <p:spPr>
          <a:xfrm>
            <a:off x="5166360" y="1938528"/>
            <a:ext cx="1874519" cy="365760"/>
          </a:xfrm>
          <a:prstGeom prst="rect">
            <a:avLst/>
          </a:prstGeom>
          <a:noFill/>
        </p:spPr>
        <p:txBody>
          <a:bodyPr wrap="square" lIns="45720" rIns="45720" anchor="t"/>
          <a:lstStyle/>
          <a:p>
            <a:pPr algn="l"/>
            <a:r>
              <a:rPr sz="1500" b="1" i="0">
                <a:solidFill>
                  <a:srgbClr val="20242B"/>
                </a:solidFill>
                <a:latin typeface="Calibri"/>
              </a:rPr>
              <a:t>Tương tác</a:t>
            </a:r>
          </a:p>
        </p:txBody>
      </p:sp>
      <p:sp>
        <p:nvSpPr>
          <p:cNvPr id="18" name="TextBox 17"/>
          <p:cNvSpPr txBox="1"/>
          <p:nvPr/>
        </p:nvSpPr>
        <p:spPr>
          <a:xfrm>
            <a:off x="5166360" y="2377440"/>
            <a:ext cx="1874519" cy="2377440"/>
          </a:xfrm>
          <a:prstGeom prst="rect">
            <a:avLst/>
          </a:prstGeom>
          <a:noFill/>
        </p:spPr>
        <p:txBody>
          <a:bodyPr wrap="square" lIns="45720" rIns="45720" anchor="t"/>
          <a:lstStyle/>
          <a:p>
            <a:pPr algn="l"/>
            <a:r>
              <a:rPr sz="1600" b="0" i="0">
                <a:solidFill>
                  <a:srgbClr val="5B6370"/>
                </a:solidFill>
                <a:latin typeface="Calibri"/>
              </a:rPr>
              <a:t>Tìm kiếm, ẩn hiện câu trả lời FAQ, menu điện thoại, về đầu trang, hiển thị dữ liệu.</a:t>
            </a:r>
          </a:p>
        </p:txBody>
      </p:sp>
      <p:sp>
        <p:nvSpPr>
          <p:cNvPr id="19" name="Rounded Rectangle 18"/>
          <p:cNvSpPr/>
          <p:nvPr/>
        </p:nvSpPr>
        <p:spPr>
          <a:xfrm>
            <a:off x="7315200" y="1280160"/>
            <a:ext cx="2130552" cy="3566160"/>
          </a:xfrm>
          <a:prstGeom prst="roundRect">
            <a:avLst>
              <a:gd name="adj" fmla="val 6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52360" y="1417320"/>
            <a:ext cx="1874519" cy="502920"/>
          </a:xfrm>
          <a:prstGeom prst="rect">
            <a:avLst/>
          </a:prstGeom>
          <a:noFill/>
        </p:spPr>
        <p:txBody>
          <a:bodyPr wrap="square" lIns="45720" rIns="45720" anchor="t"/>
          <a:lstStyle/>
          <a:p>
            <a:pPr algn="l"/>
            <a:r>
              <a:rPr sz="2200" b="1" i="0">
                <a:solidFill>
                  <a:srgbClr val="2F7F80"/>
                </a:solidFill>
                <a:latin typeface="Calibri"/>
              </a:rPr>
              <a:t>Bootstrap 5</a:t>
            </a:r>
          </a:p>
        </p:txBody>
      </p:sp>
      <p:sp>
        <p:nvSpPr>
          <p:cNvPr id="21" name="TextBox 20"/>
          <p:cNvSpPr txBox="1"/>
          <p:nvPr/>
        </p:nvSpPr>
        <p:spPr>
          <a:xfrm>
            <a:off x="7452360" y="1938528"/>
            <a:ext cx="1874519" cy="365760"/>
          </a:xfrm>
          <a:prstGeom prst="rect">
            <a:avLst/>
          </a:prstGeom>
          <a:noFill/>
        </p:spPr>
        <p:txBody>
          <a:bodyPr wrap="square" lIns="45720" rIns="45720" anchor="t"/>
          <a:lstStyle/>
          <a:p>
            <a:pPr algn="l"/>
            <a:r>
              <a:rPr sz="1500" b="1" i="0">
                <a:solidFill>
                  <a:srgbClr val="20242B"/>
                </a:solidFill>
                <a:latin typeface="Calibri"/>
              </a:rPr>
              <a:t>Bố cục đáp ứng</a:t>
            </a:r>
          </a:p>
        </p:txBody>
      </p:sp>
      <p:sp>
        <p:nvSpPr>
          <p:cNvPr id="22" name="TextBox 21"/>
          <p:cNvSpPr txBox="1"/>
          <p:nvPr/>
        </p:nvSpPr>
        <p:spPr>
          <a:xfrm>
            <a:off x="7452360" y="2377440"/>
            <a:ext cx="1874519" cy="2377440"/>
          </a:xfrm>
          <a:prstGeom prst="rect">
            <a:avLst/>
          </a:prstGeom>
          <a:noFill/>
        </p:spPr>
        <p:txBody>
          <a:bodyPr wrap="square" lIns="45720" rIns="45720" anchor="t"/>
          <a:lstStyle/>
          <a:p>
            <a:pPr algn="l"/>
            <a:r>
              <a:rPr sz="1600" b="0" i="0">
                <a:solidFill>
                  <a:srgbClr val="5B6370"/>
                </a:solidFill>
                <a:latin typeface="Calibri"/>
              </a:rPr>
              <a:t>Hệ lưới, breakpoint, nút, biểu mẫu, thanh điều hướng.</a:t>
            </a:r>
          </a:p>
        </p:txBody>
      </p:sp>
      <p:sp>
        <p:nvSpPr>
          <p:cNvPr id="23" name="Rounded Rectangle 22"/>
          <p:cNvSpPr/>
          <p:nvPr/>
        </p:nvSpPr>
        <p:spPr>
          <a:xfrm>
            <a:off x="9601200" y="1280160"/>
            <a:ext cx="2130552" cy="3566160"/>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738360" y="1417320"/>
            <a:ext cx="1874519" cy="502920"/>
          </a:xfrm>
          <a:prstGeom prst="rect">
            <a:avLst/>
          </a:prstGeom>
          <a:noFill/>
        </p:spPr>
        <p:txBody>
          <a:bodyPr wrap="square" lIns="45720" rIns="45720" anchor="t"/>
          <a:lstStyle/>
          <a:p>
            <a:pPr algn="l"/>
            <a:r>
              <a:rPr sz="2200" b="1" i="0">
                <a:solidFill>
                  <a:srgbClr val="2F7F80"/>
                </a:solidFill>
                <a:latin typeface="Calibri"/>
              </a:rPr>
              <a:t>JSON</a:t>
            </a:r>
          </a:p>
        </p:txBody>
      </p:sp>
      <p:sp>
        <p:nvSpPr>
          <p:cNvPr id="25" name="TextBox 24"/>
          <p:cNvSpPr txBox="1"/>
          <p:nvPr/>
        </p:nvSpPr>
        <p:spPr>
          <a:xfrm>
            <a:off x="9738360" y="1938528"/>
            <a:ext cx="1874519" cy="365760"/>
          </a:xfrm>
          <a:prstGeom prst="rect">
            <a:avLst/>
          </a:prstGeom>
          <a:noFill/>
        </p:spPr>
        <p:txBody>
          <a:bodyPr wrap="square" lIns="45720" rIns="45720" anchor="t"/>
          <a:lstStyle/>
          <a:p>
            <a:pPr algn="l"/>
            <a:r>
              <a:rPr sz="1500" b="1" i="0">
                <a:solidFill>
                  <a:srgbClr val="20242B"/>
                </a:solidFill>
                <a:latin typeface="Calibri"/>
              </a:rPr>
              <a:t>Dữ liệu</a:t>
            </a:r>
          </a:p>
        </p:txBody>
      </p:sp>
      <p:sp>
        <p:nvSpPr>
          <p:cNvPr id="26" name="TextBox 25"/>
          <p:cNvSpPr txBox="1"/>
          <p:nvPr/>
        </p:nvSpPr>
        <p:spPr>
          <a:xfrm>
            <a:off x="9738360" y="2377440"/>
            <a:ext cx="1874519" cy="2377440"/>
          </a:xfrm>
          <a:prstGeom prst="rect">
            <a:avLst/>
          </a:prstGeom>
          <a:noFill/>
        </p:spPr>
        <p:txBody>
          <a:bodyPr wrap="square" lIns="45720" rIns="45720" anchor="t"/>
          <a:lstStyle/>
          <a:p>
            <a:pPr algn="l"/>
            <a:r>
              <a:rPr sz="1600" b="0" i="0">
                <a:solidFill>
                  <a:srgbClr val="5B6370"/>
                </a:solidFill>
                <a:latin typeface="Calibri"/>
              </a:rPr>
              <a:t>Danh sách sản phẩm, danh mục, bài viết; tách dữ liệu khỏi giao diện.</a:t>
            </a:r>
          </a:p>
        </p:txBody>
      </p:sp>
      <p:sp>
        <p:nvSpPr>
          <p:cNvPr id="27" name="Rounded Rectangle 26"/>
          <p:cNvSpPr/>
          <p:nvPr/>
        </p:nvSpPr>
        <p:spPr>
          <a:xfrm>
            <a:off x="457200" y="5074920"/>
            <a:ext cx="11274552" cy="1097280"/>
          </a:xfrm>
          <a:prstGeom prst="roundRect">
            <a:avLst>
              <a:gd name="adj" fmla="val 6000"/>
            </a:avLst>
          </a:prstGeom>
          <a:solidFill>
            <a:srgbClr val="FFFFFF"/>
          </a:solid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85800" y="5166360"/>
            <a:ext cx="3657600" cy="274320"/>
          </a:xfrm>
          <a:prstGeom prst="rect">
            <a:avLst/>
          </a:prstGeom>
          <a:noFill/>
        </p:spPr>
        <p:txBody>
          <a:bodyPr wrap="square" lIns="45720" rIns="45720" anchor="t"/>
          <a:lstStyle/>
          <a:p>
            <a:pPr algn="l"/>
            <a:r>
              <a:rPr sz="1200" b="1" i="0">
                <a:solidFill>
                  <a:srgbClr val="2F7F80"/>
                </a:solidFill>
                <a:latin typeface="Calibri"/>
              </a:rPr>
              <a:t>NHẬN DIỆN THỐNG NHẤT</a:t>
            </a:r>
          </a:p>
        </p:txBody>
      </p:sp>
      <p:sp>
        <p:nvSpPr>
          <p:cNvPr id="29" name="Rounded Rectangle 28"/>
          <p:cNvSpPr/>
          <p:nvPr/>
        </p:nvSpPr>
        <p:spPr>
          <a:xfrm>
            <a:off x="713232" y="5532120"/>
            <a:ext cx="457200" cy="457200"/>
          </a:xfrm>
          <a:prstGeom prst="roundRect">
            <a:avLst>
              <a:gd name="adj" fmla="val 6000"/>
            </a:avLst>
          </a:prstGeom>
          <a:solidFill>
            <a:srgbClr val="4F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325880" y="5504688"/>
            <a:ext cx="10241280" cy="548640"/>
          </a:xfrm>
          <a:prstGeom prst="rect">
            <a:avLst/>
          </a:prstGeom>
          <a:noFill/>
        </p:spPr>
        <p:txBody>
          <a:bodyPr wrap="square" lIns="45720" rIns="45720" anchor="ctr"/>
          <a:lstStyle/>
          <a:p>
            <a:pPr algn="l"/>
            <a:r>
              <a:rPr sz="1500" b="0" i="0">
                <a:solidFill>
                  <a:srgbClr val="20242B"/>
                </a:solidFill>
                <a:latin typeface="Calibri"/>
              </a:rPr>
              <a:t>Màu chủ đạo xanh teal của Printuz  ·  Tiêu đề dùng font Poppins, nội dung dùng Inter  ·  Header, menu, footer, tìm kiếm dùng chung cho mọi trang</a:t>
            </a:r>
          </a:p>
        </p:txBody>
      </p:sp>
      <p:sp>
        <p:nvSpPr>
          <p:cNvPr id="31" name="TextBox 30"/>
          <p:cNvSpPr txBox="1"/>
          <p:nvPr/>
        </p:nvSpPr>
        <p:spPr>
          <a:xfrm>
            <a:off x="10332720" y="6492240"/>
            <a:ext cx="1399032" cy="274320"/>
          </a:xfrm>
          <a:prstGeom prst="rect">
            <a:avLst/>
          </a:prstGeom>
          <a:noFill/>
        </p:spPr>
        <p:txBody>
          <a:bodyPr wrap="square" lIns="45720" rIns="45720" anchor="t"/>
          <a:lstStyle/>
          <a:p>
            <a:pPr algn="r"/>
            <a:r>
              <a:rPr sz="1100" b="0" i="0">
                <a:solidFill>
                  <a:srgbClr val="5B6370"/>
                </a:solidFill>
                <a:latin typeface="Calibri"/>
              </a:rPr>
              <a:t>15 / 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4F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
            <a:ext cx="8229600" cy="274320"/>
          </a:xfrm>
          <a:prstGeom prst="rect">
            <a:avLst/>
          </a:prstGeom>
          <a:noFill/>
        </p:spPr>
        <p:txBody>
          <a:bodyPr wrap="square" lIns="45720" rIns="45720" anchor="t"/>
          <a:lstStyle/>
          <a:p>
            <a:pPr algn="l"/>
            <a:r>
              <a:rPr sz="1200" b="1" i="0">
                <a:solidFill>
                  <a:srgbClr val="2F7F80"/>
                </a:solidFill>
                <a:latin typeface="Calibri"/>
              </a:rPr>
              <a:t>06 · KẾT QUẢ THỰC HIỆN</a:t>
            </a:r>
          </a:p>
        </p:txBody>
      </p:sp>
      <p:sp>
        <p:nvSpPr>
          <p:cNvPr id="4" name="TextBox 3"/>
          <p:cNvSpPr txBox="1"/>
          <p:nvPr/>
        </p:nvSpPr>
        <p:spPr>
          <a:xfrm>
            <a:off x="457200" y="457200"/>
            <a:ext cx="11247120" cy="566928"/>
          </a:xfrm>
          <a:prstGeom prst="rect">
            <a:avLst/>
          </a:prstGeom>
          <a:noFill/>
        </p:spPr>
        <p:txBody>
          <a:bodyPr wrap="square" lIns="45720" rIns="45720" anchor="t"/>
          <a:lstStyle/>
          <a:p>
            <a:pPr algn="l"/>
            <a:r>
              <a:rPr sz="2800" b="1" i="0">
                <a:solidFill>
                  <a:srgbClr val="20242B"/>
                </a:solidFill>
                <a:latin typeface="Calibri"/>
              </a:rPr>
              <a:t>Trang chủ và trang giới thiệu doanh nghiệp</a:t>
            </a:r>
          </a:p>
        </p:txBody>
      </p:sp>
      <p:cxnSp>
        <p:nvCxnSpPr>
          <p:cNvPr id="5" name="Connector 4"/>
          <p:cNvCxnSpPr/>
          <p:nvPr/>
        </p:nvCxnSpPr>
        <p:spPr>
          <a:xfrm>
            <a:off x="457200" y="6446520"/>
            <a:ext cx="11274552" cy="0"/>
          </a:xfrm>
          <a:prstGeom prst="line">
            <a:avLst/>
          </a:prstGeom>
          <a:ln w="9525">
            <a:solidFill>
              <a:srgbClr val="D9DEE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92240"/>
            <a:ext cx="8229600" cy="274320"/>
          </a:xfrm>
          <a:prstGeom prst="rect">
            <a:avLst/>
          </a:prstGeom>
          <a:noFill/>
        </p:spPr>
        <p:txBody>
          <a:bodyPr wrap="square" lIns="45720" rIns="45720" anchor="t"/>
          <a:lstStyle/>
          <a:p>
            <a:pPr algn="l"/>
            <a:r>
              <a:rPr sz="1100" b="0" i="0">
                <a:solidFill>
                  <a:srgbClr val="5B6370"/>
                </a:solidFill>
                <a:latin typeface="Calibri"/>
              </a:rPr>
              <a:t>Trần Anh Khoa  ·  Báo cáo thực tập tốt nghiệp  ·  Website Printuz</a:t>
            </a:r>
          </a:p>
        </p:txBody>
      </p:sp>
      <p:pic>
        <p:nvPicPr>
          <p:cNvPr id="7" name="Picture 6" descr="printuz-home.png"/>
          <p:cNvPicPr>
            <a:picLocks noChangeAspect="1"/>
          </p:cNvPicPr>
          <p:nvPr/>
        </p:nvPicPr>
        <p:blipFill>
          <a:blip r:embed="rId3"/>
          <a:stretch>
            <a:fillRect/>
          </a:stretch>
        </p:blipFill>
        <p:spPr>
          <a:xfrm>
            <a:off x="457200" y="1608772"/>
            <a:ext cx="5532120" cy="3457574"/>
          </a:xfrm>
          <a:prstGeom prst="rect">
            <a:avLst/>
          </a:prstGeom>
        </p:spPr>
      </p:pic>
      <p:sp>
        <p:nvSpPr>
          <p:cNvPr id="8" name="Rectangle 7"/>
          <p:cNvSpPr/>
          <p:nvPr/>
        </p:nvSpPr>
        <p:spPr>
          <a:xfrm>
            <a:off x="457200" y="1608772"/>
            <a:ext cx="5532120" cy="3457574"/>
          </a:xfrm>
          <a:prstGeom prst="rect">
            <a:avLst/>
          </a:prstGeom>
          <a:no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5121211"/>
            <a:ext cx="5532120" cy="274320"/>
          </a:xfrm>
          <a:prstGeom prst="rect">
            <a:avLst/>
          </a:prstGeom>
          <a:noFill/>
        </p:spPr>
        <p:txBody>
          <a:bodyPr wrap="square" lIns="45720" rIns="45720" anchor="t"/>
          <a:lstStyle/>
          <a:p>
            <a:pPr algn="ctr"/>
            <a:r>
              <a:rPr sz="1200" b="0" i="0">
                <a:solidFill>
                  <a:srgbClr val="5B6370"/>
                </a:solidFill>
                <a:latin typeface="Calibri"/>
              </a:rPr>
              <a:t>Hình 2.1. Trang chủ website Printuz</a:t>
            </a:r>
          </a:p>
        </p:txBody>
      </p:sp>
      <p:pic>
        <p:nvPicPr>
          <p:cNvPr id="10" name="Picture 9" descr="printuz-about.png"/>
          <p:cNvPicPr>
            <a:picLocks noChangeAspect="1"/>
          </p:cNvPicPr>
          <p:nvPr/>
        </p:nvPicPr>
        <p:blipFill>
          <a:blip r:embed="rId4"/>
          <a:stretch>
            <a:fillRect/>
          </a:stretch>
        </p:blipFill>
        <p:spPr>
          <a:xfrm>
            <a:off x="6199632" y="1608772"/>
            <a:ext cx="5532120" cy="3457574"/>
          </a:xfrm>
          <a:prstGeom prst="rect">
            <a:avLst/>
          </a:prstGeom>
        </p:spPr>
      </p:pic>
      <p:sp>
        <p:nvSpPr>
          <p:cNvPr id="11" name="Rectangle 10"/>
          <p:cNvSpPr/>
          <p:nvPr/>
        </p:nvSpPr>
        <p:spPr>
          <a:xfrm>
            <a:off x="6199632" y="1608772"/>
            <a:ext cx="5532120" cy="3457574"/>
          </a:xfrm>
          <a:prstGeom prst="rect">
            <a:avLst/>
          </a:prstGeom>
          <a:no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5121211"/>
            <a:ext cx="5532120" cy="274320"/>
          </a:xfrm>
          <a:prstGeom prst="rect">
            <a:avLst/>
          </a:prstGeom>
          <a:noFill/>
        </p:spPr>
        <p:txBody>
          <a:bodyPr wrap="square" lIns="45720" rIns="45720" anchor="t"/>
          <a:lstStyle/>
          <a:p>
            <a:pPr algn="ctr"/>
            <a:r>
              <a:rPr sz="1200" b="0" i="0">
                <a:solidFill>
                  <a:srgbClr val="5B6370"/>
                </a:solidFill>
                <a:latin typeface="Calibri"/>
              </a:rPr>
              <a:t>Hình 2.2. Trang giới thiệu doanh nghiệp</a:t>
            </a:r>
          </a:p>
        </p:txBody>
      </p:sp>
      <p:sp>
        <p:nvSpPr>
          <p:cNvPr id="13" name="TextBox 12"/>
          <p:cNvSpPr txBox="1"/>
          <p:nvPr/>
        </p:nvSpPr>
        <p:spPr>
          <a:xfrm>
            <a:off x="457200" y="5760720"/>
            <a:ext cx="11274552" cy="594360"/>
          </a:xfrm>
          <a:prstGeom prst="rect">
            <a:avLst/>
          </a:prstGeom>
          <a:noFill/>
        </p:spPr>
        <p:txBody>
          <a:bodyPr wrap="square" lIns="45720" rIns="45720" anchor="t"/>
          <a:lstStyle/>
          <a:p>
            <a:pPr algn="l"/>
            <a:r>
              <a:rPr sz="1500" b="0" i="0">
                <a:solidFill>
                  <a:srgbClr val="20242B"/>
                </a:solidFill>
                <a:latin typeface="Calibri"/>
              </a:rPr>
              <a:t>Header, menu và footer dùng chung. Trang giới thiệu trình bày mạng lưới fulfillment Việt Nam, Trung Quốc, Hoa Kỳ, bốn dịch vụ và lý do chọn Printuz.</a:t>
            </a:r>
          </a:p>
        </p:txBody>
      </p:sp>
      <p:sp>
        <p:nvSpPr>
          <p:cNvPr id="14" name="TextBox 13"/>
          <p:cNvSpPr txBox="1"/>
          <p:nvPr/>
        </p:nvSpPr>
        <p:spPr>
          <a:xfrm>
            <a:off x="10332720" y="6492240"/>
            <a:ext cx="1399032" cy="274320"/>
          </a:xfrm>
          <a:prstGeom prst="rect">
            <a:avLst/>
          </a:prstGeom>
          <a:noFill/>
        </p:spPr>
        <p:txBody>
          <a:bodyPr wrap="square" lIns="45720" rIns="45720" anchor="t"/>
          <a:lstStyle/>
          <a:p>
            <a:pPr algn="r"/>
            <a:r>
              <a:rPr sz="1100" b="0" i="0">
                <a:solidFill>
                  <a:srgbClr val="5B6370"/>
                </a:solidFill>
                <a:latin typeface="Calibri"/>
              </a:rPr>
              <a:t>16 / 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4F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
            <a:ext cx="8229600" cy="274320"/>
          </a:xfrm>
          <a:prstGeom prst="rect">
            <a:avLst/>
          </a:prstGeom>
          <a:noFill/>
        </p:spPr>
        <p:txBody>
          <a:bodyPr wrap="square" lIns="45720" rIns="45720" anchor="t"/>
          <a:lstStyle/>
          <a:p>
            <a:pPr algn="l"/>
            <a:r>
              <a:rPr sz="1200" b="1" i="0">
                <a:solidFill>
                  <a:srgbClr val="2F7F80"/>
                </a:solidFill>
                <a:latin typeface="Calibri"/>
              </a:rPr>
              <a:t>06 · KẾT QUẢ THỰC HIỆN</a:t>
            </a:r>
          </a:p>
        </p:txBody>
      </p:sp>
      <p:sp>
        <p:nvSpPr>
          <p:cNvPr id="4" name="TextBox 3"/>
          <p:cNvSpPr txBox="1"/>
          <p:nvPr/>
        </p:nvSpPr>
        <p:spPr>
          <a:xfrm>
            <a:off x="457200" y="457200"/>
            <a:ext cx="11247120" cy="566928"/>
          </a:xfrm>
          <a:prstGeom prst="rect">
            <a:avLst/>
          </a:prstGeom>
          <a:noFill/>
        </p:spPr>
        <p:txBody>
          <a:bodyPr wrap="square" lIns="45720" rIns="45720" anchor="t"/>
          <a:lstStyle/>
          <a:p>
            <a:pPr algn="l"/>
            <a:r>
              <a:rPr sz="2800" b="1" i="0">
                <a:solidFill>
                  <a:srgbClr val="20242B"/>
                </a:solidFill>
                <a:latin typeface="Calibri"/>
              </a:rPr>
              <a:t>Danh mục sản phẩm và trang chi tiết sản phẩm</a:t>
            </a:r>
          </a:p>
        </p:txBody>
      </p:sp>
      <p:cxnSp>
        <p:nvCxnSpPr>
          <p:cNvPr id="5" name="Connector 4"/>
          <p:cNvCxnSpPr/>
          <p:nvPr/>
        </p:nvCxnSpPr>
        <p:spPr>
          <a:xfrm>
            <a:off x="457200" y="6446520"/>
            <a:ext cx="11274552" cy="0"/>
          </a:xfrm>
          <a:prstGeom prst="line">
            <a:avLst/>
          </a:prstGeom>
          <a:ln w="9525">
            <a:solidFill>
              <a:srgbClr val="D9DEE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92240"/>
            <a:ext cx="8229600" cy="274320"/>
          </a:xfrm>
          <a:prstGeom prst="rect">
            <a:avLst/>
          </a:prstGeom>
          <a:noFill/>
        </p:spPr>
        <p:txBody>
          <a:bodyPr wrap="square" lIns="45720" rIns="45720" anchor="t"/>
          <a:lstStyle/>
          <a:p>
            <a:pPr algn="l"/>
            <a:r>
              <a:rPr sz="1100" b="0" i="0">
                <a:solidFill>
                  <a:srgbClr val="5B6370"/>
                </a:solidFill>
                <a:latin typeface="Calibri"/>
              </a:rPr>
              <a:t>Trần Anh Khoa  ·  Báo cáo thực tập tốt nghiệp  ·  Website Printuz</a:t>
            </a:r>
          </a:p>
        </p:txBody>
      </p:sp>
      <p:pic>
        <p:nvPicPr>
          <p:cNvPr id="7" name="Picture 6" descr="printuz-shop.png"/>
          <p:cNvPicPr>
            <a:picLocks noChangeAspect="1"/>
          </p:cNvPicPr>
          <p:nvPr/>
        </p:nvPicPr>
        <p:blipFill>
          <a:blip r:embed="rId3"/>
          <a:stretch>
            <a:fillRect/>
          </a:stretch>
        </p:blipFill>
        <p:spPr>
          <a:xfrm>
            <a:off x="457200" y="1608772"/>
            <a:ext cx="5532120" cy="3457574"/>
          </a:xfrm>
          <a:prstGeom prst="rect">
            <a:avLst/>
          </a:prstGeom>
        </p:spPr>
      </p:pic>
      <p:sp>
        <p:nvSpPr>
          <p:cNvPr id="8" name="Rectangle 7"/>
          <p:cNvSpPr/>
          <p:nvPr/>
        </p:nvSpPr>
        <p:spPr>
          <a:xfrm>
            <a:off x="457200" y="1608772"/>
            <a:ext cx="5532120" cy="3457574"/>
          </a:xfrm>
          <a:prstGeom prst="rect">
            <a:avLst/>
          </a:prstGeom>
          <a:no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5121211"/>
            <a:ext cx="5532120" cy="274320"/>
          </a:xfrm>
          <a:prstGeom prst="rect">
            <a:avLst/>
          </a:prstGeom>
          <a:noFill/>
        </p:spPr>
        <p:txBody>
          <a:bodyPr wrap="square" lIns="45720" rIns="45720" anchor="t"/>
          <a:lstStyle/>
          <a:p>
            <a:pPr algn="ctr"/>
            <a:r>
              <a:rPr sz="1200" b="0" i="0">
                <a:solidFill>
                  <a:srgbClr val="5B6370"/>
                </a:solidFill>
                <a:latin typeface="Calibri"/>
              </a:rPr>
              <a:t>Hình 2.3. Giao diện danh mục sản phẩm</a:t>
            </a:r>
          </a:p>
        </p:txBody>
      </p:sp>
      <p:pic>
        <p:nvPicPr>
          <p:cNvPr id="10" name="Picture 9" descr="printuz-product.png"/>
          <p:cNvPicPr>
            <a:picLocks noChangeAspect="1"/>
          </p:cNvPicPr>
          <p:nvPr/>
        </p:nvPicPr>
        <p:blipFill>
          <a:blip r:embed="rId4"/>
          <a:stretch>
            <a:fillRect/>
          </a:stretch>
        </p:blipFill>
        <p:spPr>
          <a:xfrm>
            <a:off x="6199632" y="1608772"/>
            <a:ext cx="5532120" cy="3457574"/>
          </a:xfrm>
          <a:prstGeom prst="rect">
            <a:avLst/>
          </a:prstGeom>
        </p:spPr>
      </p:pic>
      <p:sp>
        <p:nvSpPr>
          <p:cNvPr id="11" name="Rectangle 10"/>
          <p:cNvSpPr/>
          <p:nvPr/>
        </p:nvSpPr>
        <p:spPr>
          <a:xfrm>
            <a:off x="6199632" y="1608772"/>
            <a:ext cx="5532120" cy="3457574"/>
          </a:xfrm>
          <a:prstGeom prst="rect">
            <a:avLst/>
          </a:prstGeom>
          <a:no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5121211"/>
            <a:ext cx="5532120" cy="274320"/>
          </a:xfrm>
          <a:prstGeom prst="rect">
            <a:avLst/>
          </a:prstGeom>
          <a:noFill/>
        </p:spPr>
        <p:txBody>
          <a:bodyPr wrap="square" lIns="45720" rIns="45720" anchor="t"/>
          <a:lstStyle/>
          <a:p>
            <a:pPr algn="ctr"/>
            <a:r>
              <a:rPr sz="1200" b="0" i="0">
                <a:solidFill>
                  <a:srgbClr val="5B6370"/>
                </a:solidFill>
                <a:latin typeface="Calibri"/>
              </a:rPr>
              <a:t>Hình 2.7. Giao diện chi tiết sản phẩm</a:t>
            </a:r>
          </a:p>
        </p:txBody>
      </p:sp>
      <p:sp>
        <p:nvSpPr>
          <p:cNvPr id="13" name="TextBox 12"/>
          <p:cNvSpPr txBox="1"/>
          <p:nvPr/>
        </p:nvSpPr>
        <p:spPr>
          <a:xfrm>
            <a:off x="457200" y="5760720"/>
            <a:ext cx="11274552" cy="594360"/>
          </a:xfrm>
          <a:prstGeom prst="rect">
            <a:avLst/>
          </a:prstGeom>
          <a:noFill/>
        </p:spPr>
        <p:txBody>
          <a:bodyPr wrap="square" lIns="45720" rIns="45720" anchor="t"/>
          <a:lstStyle/>
          <a:p>
            <a:pPr algn="l"/>
            <a:r>
              <a:rPr sz="1500" b="0" i="0">
                <a:solidFill>
                  <a:srgbClr val="20242B"/>
                </a:solidFill>
                <a:latin typeface="Calibri"/>
              </a:rPr>
              <a:t>634 sản phẩm hiển thị từ dữ liệu JSON. Lọc theo cây danh mục và khoảng giá, sắp xếp, phân trang 28 sản phẩm mỗi trang. Trang chi tiết có ảnh, giá, thông số, sản phẩm liên quan.</a:t>
            </a:r>
          </a:p>
        </p:txBody>
      </p:sp>
      <p:sp>
        <p:nvSpPr>
          <p:cNvPr id="14" name="TextBox 13"/>
          <p:cNvSpPr txBox="1"/>
          <p:nvPr/>
        </p:nvSpPr>
        <p:spPr>
          <a:xfrm>
            <a:off x="10332720" y="6492240"/>
            <a:ext cx="1399032" cy="274320"/>
          </a:xfrm>
          <a:prstGeom prst="rect">
            <a:avLst/>
          </a:prstGeom>
          <a:noFill/>
        </p:spPr>
        <p:txBody>
          <a:bodyPr wrap="square" lIns="45720" rIns="45720" anchor="t"/>
          <a:lstStyle/>
          <a:p>
            <a:pPr algn="r"/>
            <a:r>
              <a:rPr sz="1100" b="0" i="0">
                <a:solidFill>
                  <a:srgbClr val="5B6370"/>
                </a:solidFill>
                <a:latin typeface="Calibri"/>
              </a:rPr>
              <a:t>17 / 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4F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
            <a:ext cx="8229600" cy="274320"/>
          </a:xfrm>
          <a:prstGeom prst="rect">
            <a:avLst/>
          </a:prstGeom>
          <a:noFill/>
        </p:spPr>
        <p:txBody>
          <a:bodyPr wrap="square" lIns="45720" rIns="45720" anchor="t"/>
          <a:lstStyle/>
          <a:p>
            <a:pPr algn="l"/>
            <a:r>
              <a:rPr sz="1200" b="1" i="0">
                <a:solidFill>
                  <a:srgbClr val="2F7F80"/>
                </a:solidFill>
                <a:latin typeface="Calibri"/>
              </a:rPr>
              <a:t>06 · KẾT QUẢ THỰC HIỆN</a:t>
            </a:r>
          </a:p>
        </p:txBody>
      </p:sp>
      <p:sp>
        <p:nvSpPr>
          <p:cNvPr id="4" name="TextBox 3"/>
          <p:cNvSpPr txBox="1"/>
          <p:nvPr/>
        </p:nvSpPr>
        <p:spPr>
          <a:xfrm>
            <a:off x="457200" y="457200"/>
            <a:ext cx="11247120" cy="566928"/>
          </a:xfrm>
          <a:prstGeom prst="rect">
            <a:avLst/>
          </a:prstGeom>
          <a:noFill/>
        </p:spPr>
        <p:txBody>
          <a:bodyPr wrap="square" lIns="45720" rIns="45720" anchor="t"/>
          <a:lstStyle/>
          <a:p>
            <a:pPr algn="l"/>
            <a:r>
              <a:rPr sz="2800" b="1" i="0">
                <a:solidFill>
                  <a:srgbClr val="20242B"/>
                </a:solidFill>
                <a:latin typeface="Calibri"/>
              </a:rPr>
              <a:t>Trang tin tức và trang câu hỏi thường gặp</a:t>
            </a:r>
          </a:p>
        </p:txBody>
      </p:sp>
      <p:cxnSp>
        <p:nvCxnSpPr>
          <p:cNvPr id="5" name="Connector 4"/>
          <p:cNvCxnSpPr/>
          <p:nvPr/>
        </p:nvCxnSpPr>
        <p:spPr>
          <a:xfrm>
            <a:off x="457200" y="6446520"/>
            <a:ext cx="11274552" cy="0"/>
          </a:xfrm>
          <a:prstGeom prst="line">
            <a:avLst/>
          </a:prstGeom>
          <a:ln w="9525">
            <a:solidFill>
              <a:srgbClr val="D9DEE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92240"/>
            <a:ext cx="8229600" cy="274320"/>
          </a:xfrm>
          <a:prstGeom prst="rect">
            <a:avLst/>
          </a:prstGeom>
          <a:noFill/>
        </p:spPr>
        <p:txBody>
          <a:bodyPr wrap="square" lIns="45720" rIns="45720" anchor="t"/>
          <a:lstStyle/>
          <a:p>
            <a:pPr algn="l"/>
            <a:r>
              <a:rPr sz="1100" b="0" i="0">
                <a:solidFill>
                  <a:srgbClr val="5B6370"/>
                </a:solidFill>
                <a:latin typeface="Calibri"/>
              </a:rPr>
              <a:t>Trần Anh Khoa  ·  Báo cáo thực tập tốt nghiệp  ·  Website Printuz</a:t>
            </a:r>
          </a:p>
        </p:txBody>
      </p:sp>
      <p:pic>
        <p:nvPicPr>
          <p:cNvPr id="7" name="Picture 6" descr="printuz-blog.png"/>
          <p:cNvPicPr>
            <a:picLocks noChangeAspect="1"/>
          </p:cNvPicPr>
          <p:nvPr/>
        </p:nvPicPr>
        <p:blipFill>
          <a:blip r:embed="rId3"/>
          <a:stretch>
            <a:fillRect/>
          </a:stretch>
        </p:blipFill>
        <p:spPr>
          <a:xfrm>
            <a:off x="457200" y="1608772"/>
            <a:ext cx="5532120" cy="3457574"/>
          </a:xfrm>
          <a:prstGeom prst="rect">
            <a:avLst/>
          </a:prstGeom>
        </p:spPr>
      </p:pic>
      <p:sp>
        <p:nvSpPr>
          <p:cNvPr id="8" name="Rectangle 7"/>
          <p:cNvSpPr/>
          <p:nvPr/>
        </p:nvSpPr>
        <p:spPr>
          <a:xfrm>
            <a:off x="457200" y="1608772"/>
            <a:ext cx="5532120" cy="3457574"/>
          </a:xfrm>
          <a:prstGeom prst="rect">
            <a:avLst/>
          </a:prstGeom>
          <a:no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5121211"/>
            <a:ext cx="5532120" cy="274320"/>
          </a:xfrm>
          <a:prstGeom prst="rect">
            <a:avLst/>
          </a:prstGeom>
          <a:noFill/>
        </p:spPr>
        <p:txBody>
          <a:bodyPr wrap="square" lIns="45720" rIns="45720" anchor="t"/>
          <a:lstStyle/>
          <a:p>
            <a:pPr algn="ctr"/>
            <a:r>
              <a:rPr sz="1200" b="0" i="0">
                <a:solidFill>
                  <a:srgbClr val="5B6370"/>
                </a:solidFill>
                <a:latin typeface="Calibri"/>
              </a:rPr>
              <a:t>Hình 2.5. Giao diện trang tin tức</a:t>
            </a:r>
          </a:p>
        </p:txBody>
      </p:sp>
      <p:pic>
        <p:nvPicPr>
          <p:cNvPr id="10" name="Picture 9" descr="printuz-faq-open.png"/>
          <p:cNvPicPr>
            <a:picLocks noChangeAspect="1"/>
          </p:cNvPicPr>
          <p:nvPr/>
        </p:nvPicPr>
        <p:blipFill>
          <a:blip r:embed="rId4"/>
          <a:stretch>
            <a:fillRect/>
          </a:stretch>
        </p:blipFill>
        <p:spPr>
          <a:xfrm>
            <a:off x="6199632" y="1608772"/>
            <a:ext cx="5532120" cy="3457574"/>
          </a:xfrm>
          <a:prstGeom prst="rect">
            <a:avLst/>
          </a:prstGeom>
        </p:spPr>
      </p:pic>
      <p:sp>
        <p:nvSpPr>
          <p:cNvPr id="11" name="Rectangle 10"/>
          <p:cNvSpPr/>
          <p:nvPr/>
        </p:nvSpPr>
        <p:spPr>
          <a:xfrm>
            <a:off x="6199632" y="1608772"/>
            <a:ext cx="5532120" cy="3457574"/>
          </a:xfrm>
          <a:prstGeom prst="rect">
            <a:avLst/>
          </a:prstGeom>
          <a:no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5121211"/>
            <a:ext cx="5532120" cy="274320"/>
          </a:xfrm>
          <a:prstGeom prst="rect">
            <a:avLst/>
          </a:prstGeom>
          <a:noFill/>
        </p:spPr>
        <p:txBody>
          <a:bodyPr wrap="square" lIns="45720" rIns="45720" anchor="t"/>
          <a:lstStyle/>
          <a:p>
            <a:pPr algn="ctr"/>
            <a:r>
              <a:rPr sz="1200" b="0" i="0">
                <a:solidFill>
                  <a:srgbClr val="5B6370"/>
                </a:solidFill>
                <a:latin typeface="Calibri"/>
              </a:rPr>
              <a:t>Hình 2.9. Hiển thị nội dung câu hỏi thường gặp</a:t>
            </a:r>
          </a:p>
        </p:txBody>
      </p:sp>
      <p:sp>
        <p:nvSpPr>
          <p:cNvPr id="13" name="TextBox 12"/>
          <p:cNvSpPr txBox="1"/>
          <p:nvPr/>
        </p:nvSpPr>
        <p:spPr>
          <a:xfrm>
            <a:off x="457200" y="5760720"/>
            <a:ext cx="11274552" cy="594360"/>
          </a:xfrm>
          <a:prstGeom prst="rect">
            <a:avLst/>
          </a:prstGeom>
          <a:noFill/>
        </p:spPr>
        <p:txBody>
          <a:bodyPr wrap="square" lIns="45720" rIns="45720" anchor="t"/>
          <a:lstStyle/>
          <a:p>
            <a:pPr algn="l"/>
            <a:r>
              <a:rPr sz="1500" b="0" i="0">
                <a:solidFill>
                  <a:srgbClr val="20242B"/>
                </a:solidFill>
                <a:latin typeface="Calibri"/>
              </a:rPr>
              <a:t>Tin tức: 1.092 bài, xem theo danh mục, thẻ, tác giả, có phân trang. FAQ: câu hỏi chia theo nhóm, bấm vào câu hỏi để mở câu trả lời.</a:t>
            </a:r>
          </a:p>
        </p:txBody>
      </p:sp>
      <p:sp>
        <p:nvSpPr>
          <p:cNvPr id="14" name="TextBox 13"/>
          <p:cNvSpPr txBox="1"/>
          <p:nvPr/>
        </p:nvSpPr>
        <p:spPr>
          <a:xfrm>
            <a:off x="10332720" y="6492240"/>
            <a:ext cx="1399032" cy="274320"/>
          </a:xfrm>
          <a:prstGeom prst="rect">
            <a:avLst/>
          </a:prstGeom>
          <a:noFill/>
        </p:spPr>
        <p:txBody>
          <a:bodyPr wrap="square" lIns="45720" rIns="45720" anchor="t"/>
          <a:lstStyle/>
          <a:p>
            <a:pPr algn="r"/>
            <a:r>
              <a:rPr sz="1100" b="0" i="0">
                <a:solidFill>
                  <a:srgbClr val="5B6370"/>
                </a:solidFill>
                <a:latin typeface="Calibri"/>
              </a:rPr>
              <a:t>18 / 26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4F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
            <a:ext cx="8229600" cy="274320"/>
          </a:xfrm>
          <a:prstGeom prst="rect">
            <a:avLst/>
          </a:prstGeom>
          <a:noFill/>
        </p:spPr>
        <p:txBody>
          <a:bodyPr wrap="square" lIns="45720" rIns="45720" anchor="t"/>
          <a:lstStyle/>
          <a:p>
            <a:pPr algn="l"/>
            <a:r>
              <a:rPr sz="1200" b="1" i="0">
                <a:solidFill>
                  <a:srgbClr val="2F7F80"/>
                </a:solidFill>
                <a:latin typeface="Calibri"/>
              </a:rPr>
              <a:t>06 · KẾT QUẢ THỰC HIỆN</a:t>
            </a:r>
          </a:p>
        </p:txBody>
      </p:sp>
      <p:sp>
        <p:nvSpPr>
          <p:cNvPr id="4" name="TextBox 3"/>
          <p:cNvSpPr txBox="1"/>
          <p:nvPr/>
        </p:nvSpPr>
        <p:spPr>
          <a:xfrm>
            <a:off x="457200" y="457200"/>
            <a:ext cx="11247120" cy="566928"/>
          </a:xfrm>
          <a:prstGeom prst="rect">
            <a:avLst/>
          </a:prstGeom>
          <a:noFill/>
        </p:spPr>
        <p:txBody>
          <a:bodyPr wrap="square" lIns="45720" rIns="45720" anchor="t"/>
          <a:lstStyle/>
          <a:p>
            <a:pPr algn="l"/>
            <a:r>
              <a:rPr sz="2800" b="1" i="0">
                <a:solidFill>
                  <a:srgbClr val="20242B"/>
                </a:solidFill>
                <a:latin typeface="Calibri"/>
              </a:rPr>
              <a:t>Thanh điều hướng cố định và giao diện di động</a:t>
            </a:r>
          </a:p>
        </p:txBody>
      </p:sp>
      <p:cxnSp>
        <p:nvCxnSpPr>
          <p:cNvPr id="5" name="Connector 4"/>
          <p:cNvCxnSpPr/>
          <p:nvPr/>
        </p:nvCxnSpPr>
        <p:spPr>
          <a:xfrm>
            <a:off x="457200" y="6446520"/>
            <a:ext cx="11274552" cy="0"/>
          </a:xfrm>
          <a:prstGeom prst="line">
            <a:avLst/>
          </a:prstGeom>
          <a:ln w="9525">
            <a:solidFill>
              <a:srgbClr val="D9DEE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92240"/>
            <a:ext cx="8229600" cy="274320"/>
          </a:xfrm>
          <a:prstGeom prst="rect">
            <a:avLst/>
          </a:prstGeom>
          <a:noFill/>
        </p:spPr>
        <p:txBody>
          <a:bodyPr wrap="square" lIns="45720" rIns="45720" anchor="t"/>
          <a:lstStyle/>
          <a:p>
            <a:pPr algn="l"/>
            <a:r>
              <a:rPr sz="1100" b="0" i="0">
                <a:solidFill>
                  <a:srgbClr val="5B6370"/>
                </a:solidFill>
                <a:latin typeface="Calibri"/>
              </a:rPr>
              <a:t>Trần Anh Khoa  ·  Báo cáo thực tập tốt nghiệp  ·  Website Printuz</a:t>
            </a:r>
          </a:p>
        </p:txBody>
      </p:sp>
      <p:pic>
        <p:nvPicPr>
          <p:cNvPr id="7" name="Picture 6" descr="printuz-sticky.png"/>
          <p:cNvPicPr>
            <a:picLocks noChangeAspect="1"/>
          </p:cNvPicPr>
          <p:nvPr/>
        </p:nvPicPr>
        <p:blipFill>
          <a:blip r:embed="rId3"/>
          <a:stretch>
            <a:fillRect/>
          </a:stretch>
        </p:blipFill>
        <p:spPr>
          <a:xfrm>
            <a:off x="457200" y="1566672"/>
            <a:ext cx="6492240" cy="3678936"/>
          </a:xfrm>
          <a:prstGeom prst="rect">
            <a:avLst/>
          </a:prstGeom>
        </p:spPr>
      </p:pic>
      <p:sp>
        <p:nvSpPr>
          <p:cNvPr id="8" name="Rectangle 7"/>
          <p:cNvSpPr/>
          <p:nvPr/>
        </p:nvSpPr>
        <p:spPr>
          <a:xfrm>
            <a:off x="457200" y="1566672"/>
            <a:ext cx="6492240" cy="3678936"/>
          </a:xfrm>
          <a:prstGeom prst="rect">
            <a:avLst/>
          </a:prstGeom>
          <a:no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5300471"/>
            <a:ext cx="6492240" cy="274320"/>
          </a:xfrm>
          <a:prstGeom prst="rect">
            <a:avLst/>
          </a:prstGeom>
          <a:noFill/>
        </p:spPr>
        <p:txBody>
          <a:bodyPr wrap="square" lIns="45720" rIns="45720" anchor="t"/>
          <a:lstStyle/>
          <a:p>
            <a:pPr algn="ctr"/>
            <a:r>
              <a:rPr sz="1200" b="0" i="0">
                <a:solidFill>
                  <a:srgbClr val="5B6370"/>
                </a:solidFill>
                <a:latin typeface="Calibri"/>
              </a:rPr>
              <a:t>Hình 2.6. Thanh điều hướng cố định khi cuộn trang</a:t>
            </a:r>
          </a:p>
        </p:txBody>
      </p:sp>
      <p:pic>
        <p:nvPicPr>
          <p:cNvPr id="10" name="Picture 9" descr="printuz-mobile-about.png"/>
          <p:cNvPicPr>
            <a:picLocks noChangeAspect="1"/>
          </p:cNvPicPr>
          <p:nvPr/>
        </p:nvPicPr>
        <p:blipFill>
          <a:blip r:embed="rId4"/>
          <a:stretch>
            <a:fillRect/>
          </a:stretch>
        </p:blipFill>
        <p:spPr>
          <a:xfrm>
            <a:off x="7317529" y="1234440"/>
            <a:ext cx="2007021" cy="4343400"/>
          </a:xfrm>
          <a:prstGeom prst="rect">
            <a:avLst/>
          </a:prstGeom>
        </p:spPr>
      </p:pic>
      <p:sp>
        <p:nvSpPr>
          <p:cNvPr id="11" name="Rectangle 10"/>
          <p:cNvSpPr/>
          <p:nvPr/>
        </p:nvSpPr>
        <p:spPr>
          <a:xfrm>
            <a:off x="7317529" y="1234440"/>
            <a:ext cx="2007021" cy="4343400"/>
          </a:xfrm>
          <a:prstGeom prst="rect">
            <a:avLst/>
          </a:prstGeom>
          <a:no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printuz-mobile-menu.png"/>
          <p:cNvPicPr>
            <a:picLocks noChangeAspect="1"/>
          </p:cNvPicPr>
          <p:nvPr/>
        </p:nvPicPr>
        <p:blipFill>
          <a:blip r:embed="rId5"/>
          <a:stretch>
            <a:fillRect/>
          </a:stretch>
        </p:blipFill>
        <p:spPr>
          <a:xfrm>
            <a:off x="9649249" y="1234440"/>
            <a:ext cx="2007021" cy="4343400"/>
          </a:xfrm>
          <a:prstGeom prst="rect">
            <a:avLst/>
          </a:prstGeom>
        </p:spPr>
      </p:pic>
      <p:sp>
        <p:nvSpPr>
          <p:cNvPr id="13" name="Rectangle 12"/>
          <p:cNvSpPr/>
          <p:nvPr/>
        </p:nvSpPr>
        <p:spPr>
          <a:xfrm>
            <a:off x="9649249" y="1234440"/>
            <a:ext cx="2007021" cy="4343400"/>
          </a:xfrm>
          <a:prstGeom prst="rect">
            <a:avLst/>
          </a:prstGeom>
          <a:no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0" y="5632704"/>
            <a:ext cx="4663440" cy="274320"/>
          </a:xfrm>
          <a:prstGeom prst="rect">
            <a:avLst/>
          </a:prstGeom>
          <a:noFill/>
        </p:spPr>
        <p:txBody>
          <a:bodyPr wrap="square" lIns="45720" rIns="45720" anchor="t"/>
          <a:lstStyle/>
          <a:p>
            <a:pPr algn="ctr"/>
            <a:r>
              <a:rPr sz="1200" b="0" i="0">
                <a:solidFill>
                  <a:srgbClr val="5B6370"/>
                </a:solidFill>
                <a:latin typeface="Calibri"/>
              </a:rPr>
              <a:t>Hình 2.8. Giao diện trên điện thoại</a:t>
            </a:r>
          </a:p>
        </p:txBody>
      </p:sp>
      <p:sp>
        <p:nvSpPr>
          <p:cNvPr id="15" name="TextBox 14"/>
          <p:cNvSpPr txBox="1"/>
          <p:nvPr/>
        </p:nvSpPr>
        <p:spPr>
          <a:xfrm>
            <a:off x="457200" y="5925312"/>
            <a:ext cx="11274552" cy="457200"/>
          </a:xfrm>
          <a:prstGeom prst="rect">
            <a:avLst/>
          </a:prstGeom>
          <a:noFill/>
        </p:spPr>
        <p:txBody>
          <a:bodyPr wrap="square" lIns="45720" rIns="45720" anchor="t"/>
          <a:lstStyle/>
          <a:p>
            <a:pPr algn="l"/>
            <a:r>
              <a:rPr sz="1500" b="0" i="0">
                <a:solidFill>
                  <a:srgbClr val="20242B"/>
                </a:solidFill>
                <a:latin typeface="Calibri"/>
              </a:rPr>
              <a:t>Khi cuộn xuống, menu chính trượt xuống và giữ ở đầu màn hình. Trên điện thoại, menu thu vào nút ba gạch, mở ra kèm ô tìm kiếm.</a:t>
            </a:r>
          </a:p>
        </p:txBody>
      </p:sp>
      <p:sp>
        <p:nvSpPr>
          <p:cNvPr id="16" name="TextBox 15"/>
          <p:cNvSpPr txBox="1"/>
          <p:nvPr/>
        </p:nvSpPr>
        <p:spPr>
          <a:xfrm>
            <a:off x="10332720" y="6492240"/>
            <a:ext cx="1399032" cy="274320"/>
          </a:xfrm>
          <a:prstGeom prst="rect">
            <a:avLst/>
          </a:prstGeom>
          <a:noFill/>
        </p:spPr>
        <p:txBody>
          <a:bodyPr wrap="square" lIns="45720" rIns="45720" anchor="t"/>
          <a:lstStyle/>
          <a:p>
            <a:pPr algn="r"/>
            <a:r>
              <a:rPr sz="1100" b="0" i="0">
                <a:solidFill>
                  <a:srgbClr val="5B6370"/>
                </a:solidFill>
                <a:latin typeface="Calibri"/>
              </a:rPr>
              <a:t>19 / 26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4F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
            <a:ext cx="8229600" cy="274320"/>
          </a:xfrm>
          <a:prstGeom prst="rect">
            <a:avLst/>
          </a:prstGeom>
          <a:noFill/>
        </p:spPr>
        <p:txBody>
          <a:bodyPr wrap="square" lIns="45720" rIns="45720" anchor="t"/>
          <a:lstStyle/>
          <a:p>
            <a:pPr algn="l"/>
            <a:r>
              <a:rPr sz="1200" b="1" i="0">
                <a:solidFill>
                  <a:srgbClr val="2F7F80"/>
                </a:solidFill>
                <a:latin typeface="Calibri"/>
              </a:rPr>
              <a:t>06 · KẾT QUẢ THỰC HIỆN</a:t>
            </a:r>
          </a:p>
        </p:txBody>
      </p:sp>
      <p:sp>
        <p:nvSpPr>
          <p:cNvPr id="4" name="TextBox 3"/>
          <p:cNvSpPr txBox="1"/>
          <p:nvPr/>
        </p:nvSpPr>
        <p:spPr>
          <a:xfrm>
            <a:off x="457200" y="457200"/>
            <a:ext cx="11247120" cy="566928"/>
          </a:xfrm>
          <a:prstGeom prst="rect">
            <a:avLst/>
          </a:prstGeom>
          <a:noFill/>
        </p:spPr>
        <p:txBody>
          <a:bodyPr wrap="square" lIns="45720" rIns="45720" anchor="t"/>
          <a:lstStyle/>
          <a:p>
            <a:pPr algn="l"/>
            <a:r>
              <a:rPr sz="2800" b="1" i="0">
                <a:solidFill>
                  <a:srgbClr val="20242B"/>
                </a:solidFill>
                <a:latin typeface="Calibri"/>
              </a:rPr>
              <a:t>Sản phẩm đã hoàn thành</a:t>
            </a:r>
          </a:p>
        </p:txBody>
      </p:sp>
      <p:cxnSp>
        <p:nvCxnSpPr>
          <p:cNvPr id="5" name="Connector 4"/>
          <p:cNvCxnSpPr/>
          <p:nvPr/>
        </p:nvCxnSpPr>
        <p:spPr>
          <a:xfrm>
            <a:off x="457200" y="6446520"/>
            <a:ext cx="11274552" cy="0"/>
          </a:xfrm>
          <a:prstGeom prst="line">
            <a:avLst/>
          </a:prstGeom>
          <a:ln w="9525">
            <a:solidFill>
              <a:srgbClr val="D9DEE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92240"/>
            <a:ext cx="8229600" cy="274320"/>
          </a:xfrm>
          <a:prstGeom prst="rect">
            <a:avLst/>
          </a:prstGeom>
          <a:noFill/>
        </p:spPr>
        <p:txBody>
          <a:bodyPr wrap="square" lIns="45720" rIns="45720" anchor="t"/>
          <a:lstStyle/>
          <a:p>
            <a:pPr algn="l"/>
            <a:r>
              <a:rPr sz="1100" b="0" i="0">
                <a:solidFill>
                  <a:srgbClr val="5B6370"/>
                </a:solidFill>
                <a:latin typeface="Calibri"/>
              </a:rPr>
              <a:t>Trần Anh Khoa  ·  Báo cáo thực tập tốt nghiệp  ·  Website Printuz</a:t>
            </a:r>
          </a:p>
        </p:txBody>
      </p:sp>
      <p:graphicFrame>
        <p:nvGraphicFramePr>
          <p:cNvPr id="7" name="Table 6"/>
          <p:cNvGraphicFramePr>
            <a:graphicFrameLocks noGrp="1"/>
          </p:cNvGraphicFramePr>
          <p:nvPr/>
        </p:nvGraphicFramePr>
        <p:xfrm>
          <a:off x="457200" y="1280160"/>
          <a:ext cx="5669280" cy="1097280"/>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548640">
                <a:tc>
                  <a:txBody>
                    <a:bodyPr/>
                    <a:lstStyle/>
                    <a:p>
                      <a:r>
                        <a:rPr sz="1400" b="1" i="0">
                          <a:solidFill>
                            <a:srgbClr val="FFFFFF"/>
                          </a:solidFill>
                          <a:latin typeface="Calibri"/>
                        </a:rPr>
                        <a:t>STT</a:t>
                      </a:r>
                    </a:p>
                  </a:txBody>
                  <a:tcPr marL="73152" marR="73152" marT="27432" marB="27432" anchor="ctr">
                    <a:solidFill>
                      <a:srgbClr val="4FA6A6"/>
                    </a:solidFill>
                  </a:tcPr>
                </a:tc>
                <a:tc>
                  <a:txBody>
                    <a:bodyPr/>
                    <a:lstStyle/>
                    <a:p>
                      <a:r>
                        <a:rPr sz="1400" b="1" i="0">
                          <a:solidFill>
                            <a:srgbClr val="FFFFFF"/>
                          </a:solidFill>
                          <a:latin typeface="Calibri"/>
                        </a:rPr>
                        <a:t>Tên sản phẩm</a:t>
                      </a:r>
                    </a:p>
                  </a:txBody>
                  <a:tcPr marL="73152" marR="73152" marT="27432" marB="27432" anchor="ctr">
                    <a:solidFill>
                      <a:srgbClr val="4FA6A6"/>
                    </a:solidFill>
                  </a:tcPr>
                </a:tc>
                <a:tc>
                  <a:txBody>
                    <a:bodyPr/>
                    <a:lstStyle/>
                    <a:p>
                      <a:r>
                        <a:rPr sz="1400" b="1" i="0">
                          <a:solidFill>
                            <a:srgbClr val="FFFFFF"/>
                          </a:solidFill>
                          <a:latin typeface="Calibri"/>
                        </a:rPr>
                        <a:t>Mô tả</a:t>
                      </a:r>
                    </a:p>
                  </a:txBody>
                  <a:tcPr marL="73152" marR="73152" marT="27432" marB="27432" anchor="ctr">
                    <a:solidFill>
                      <a:srgbClr val="4FA6A6"/>
                    </a:solidFill>
                  </a:tcPr>
                </a:tc>
                <a:extLst>
                  <a:ext uri="{0D108BD9-81ED-4DB2-BD59-A6C34878D82A}">
                    <a16:rowId xmlns:a16="http://schemas.microsoft.com/office/drawing/2014/main" val="10000"/>
                  </a:ext>
                </a:extLst>
              </a:tr>
              <a:tr h="548640">
                <a:tc>
                  <a:txBody>
                    <a:bodyPr/>
                    <a:lstStyle/>
                    <a:p>
                      <a:r>
                        <a:rPr sz="1500" b="1" i="0">
                          <a:solidFill>
                            <a:srgbClr val="20242B"/>
                          </a:solidFill>
                          <a:latin typeface="Calibri"/>
                        </a:rPr>
                        <a:t>1</a:t>
                      </a:r>
                    </a:p>
                  </a:txBody>
                  <a:tcPr marL="73152" marR="73152" marT="27432" marB="27432" anchor="ctr">
                    <a:solidFill>
                      <a:srgbClr val="FFFFFF"/>
                    </a:solidFill>
                  </a:tcPr>
                </a:tc>
                <a:tc>
                  <a:txBody>
                    <a:bodyPr/>
                    <a:lstStyle/>
                    <a:p>
                      <a:r>
                        <a:rPr sz="1500" b="0" i="0">
                          <a:solidFill>
                            <a:srgbClr val="20242B"/>
                          </a:solidFill>
                          <a:latin typeface="Calibri"/>
                        </a:rPr>
                        <a:t>Website Printuz</a:t>
                      </a:r>
                    </a:p>
                  </a:txBody>
                  <a:tcPr marL="73152" marR="73152" marT="27432" marB="27432" anchor="ctr">
                    <a:solidFill>
                      <a:srgbClr val="FFFFFF"/>
                    </a:solidFill>
                  </a:tcPr>
                </a:tc>
                <a:tc>
                  <a:txBody>
                    <a:bodyPr/>
                    <a:lstStyle/>
                    <a:p>
                      <a:r>
                        <a:rPr sz="1500" b="0" i="0">
                          <a:solidFill>
                            <a:srgbClr val="20242B"/>
                          </a:solidFill>
                          <a:latin typeface="Calibri"/>
                        </a:rPr>
                        <a:t>printuz-six.vercel.app</a:t>
                      </a:r>
                    </a:p>
                  </a:txBody>
                  <a:tcPr marL="73152" marR="73152" marT="27432" marB="27432" anchor="ctr">
                    <a:solidFill>
                      <a:srgbClr val="FFFFFF"/>
                    </a:solidFill>
                  </a:tcPr>
                </a:tc>
                <a:extLst>
                  <a:ext uri="{0D108BD9-81ED-4DB2-BD59-A6C34878D82A}">
                    <a16:rowId xmlns:a16="http://schemas.microsoft.com/office/drawing/2014/main" val="10001"/>
                  </a:ext>
                </a:extLst>
              </a:tr>
            </a:tbl>
          </a:graphicData>
        </a:graphic>
      </p:graphicFrame>
      <p:sp>
        <p:nvSpPr>
          <p:cNvPr id="8" name="TextBox 7"/>
          <p:cNvSpPr txBox="1"/>
          <p:nvPr/>
        </p:nvSpPr>
        <p:spPr>
          <a:xfrm>
            <a:off x="457200" y="2441448"/>
            <a:ext cx="5669280" cy="274320"/>
          </a:xfrm>
          <a:prstGeom prst="rect">
            <a:avLst/>
          </a:prstGeom>
          <a:noFill/>
        </p:spPr>
        <p:txBody>
          <a:bodyPr wrap="square" lIns="45720" rIns="45720" anchor="t"/>
          <a:lstStyle/>
          <a:p>
            <a:pPr algn="l"/>
            <a:r>
              <a:rPr sz="1200" b="0" i="0">
                <a:solidFill>
                  <a:srgbClr val="5B6370"/>
                </a:solidFill>
                <a:latin typeface="Calibri"/>
              </a:rPr>
              <a:t>Bảng 2.2. Danh sách sản phẩm đã hoàn thành</a:t>
            </a:r>
          </a:p>
        </p:txBody>
      </p:sp>
      <p:sp>
        <p:nvSpPr>
          <p:cNvPr id="9" name="Rounded Rectangle 8"/>
          <p:cNvSpPr/>
          <p:nvPr/>
        </p:nvSpPr>
        <p:spPr>
          <a:xfrm>
            <a:off x="457200" y="2880360"/>
            <a:ext cx="1783080" cy="1463040"/>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3017520"/>
            <a:ext cx="1783080" cy="548640"/>
          </a:xfrm>
          <a:prstGeom prst="rect">
            <a:avLst/>
          </a:prstGeom>
          <a:noFill/>
        </p:spPr>
        <p:txBody>
          <a:bodyPr wrap="square" lIns="45720" rIns="45720" anchor="t"/>
          <a:lstStyle/>
          <a:p>
            <a:pPr algn="ctr"/>
            <a:r>
              <a:rPr sz="3000" b="1" i="0">
                <a:solidFill>
                  <a:srgbClr val="2F7F80"/>
                </a:solidFill>
                <a:latin typeface="Calibri"/>
              </a:rPr>
              <a:t>11</a:t>
            </a:r>
          </a:p>
        </p:txBody>
      </p:sp>
      <p:sp>
        <p:nvSpPr>
          <p:cNvPr id="11" name="TextBox 10"/>
          <p:cNvSpPr txBox="1"/>
          <p:nvPr/>
        </p:nvSpPr>
        <p:spPr>
          <a:xfrm>
            <a:off x="548640" y="3611880"/>
            <a:ext cx="1600200" cy="685800"/>
          </a:xfrm>
          <a:prstGeom prst="rect">
            <a:avLst/>
          </a:prstGeom>
          <a:noFill/>
        </p:spPr>
        <p:txBody>
          <a:bodyPr wrap="square" lIns="45720" rIns="45720" anchor="t"/>
          <a:lstStyle/>
          <a:p>
            <a:pPr algn="ctr"/>
            <a:r>
              <a:rPr sz="1400" b="0" i="0">
                <a:solidFill>
                  <a:srgbClr val="20242B"/>
                </a:solidFill>
                <a:latin typeface="Calibri"/>
              </a:rPr>
              <a:t>trang HTML</a:t>
            </a:r>
          </a:p>
        </p:txBody>
      </p:sp>
      <p:sp>
        <p:nvSpPr>
          <p:cNvPr id="12" name="Rounded Rectangle 11"/>
          <p:cNvSpPr/>
          <p:nvPr/>
        </p:nvSpPr>
        <p:spPr>
          <a:xfrm>
            <a:off x="2395728" y="2880360"/>
            <a:ext cx="1783080" cy="1463040"/>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95728" y="3017520"/>
            <a:ext cx="1783080" cy="548640"/>
          </a:xfrm>
          <a:prstGeom prst="rect">
            <a:avLst/>
          </a:prstGeom>
          <a:noFill/>
        </p:spPr>
        <p:txBody>
          <a:bodyPr wrap="square" lIns="45720" rIns="45720" anchor="t"/>
          <a:lstStyle/>
          <a:p>
            <a:pPr algn="ctr"/>
            <a:r>
              <a:rPr sz="3000" b="1" i="0">
                <a:solidFill>
                  <a:srgbClr val="2F7F80"/>
                </a:solidFill>
                <a:latin typeface="Calibri"/>
              </a:rPr>
              <a:t>634</a:t>
            </a:r>
          </a:p>
        </p:txBody>
      </p:sp>
      <p:sp>
        <p:nvSpPr>
          <p:cNvPr id="14" name="TextBox 13"/>
          <p:cNvSpPr txBox="1"/>
          <p:nvPr/>
        </p:nvSpPr>
        <p:spPr>
          <a:xfrm>
            <a:off x="2487168" y="3611880"/>
            <a:ext cx="1600200" cy="685800"/>
          </a:xfrm>
          <a:prstGeom prst="rect">
            <a:avLst/>
          </a:prstGeom>
          <a:noFill/>
        </p:spPr>
        <p:txBody>
          <a:bodyPr wrap="square" lIns="45720" rIns="45720" anchor="t"/>
          <a:lstStyle/>
          <a:p>
            <a:pPr algn="ctr"/>
            <a:r>
              <a:rPr sz="1400" b="0" i="0">
                <a:solidFill>
                  <a:srgbClr val="20242B"/>
                </a:solidFill>
                <a:latin typeface="Calibri"/>
              </a:rPr>
              <a:t>sản phẩm</a:t>
            </a:r>
          </a:p>
        </p:txBody>
      </p:sp>
      <p:sp>
        <p:nvSpPr>
          <p:cNvPr id="15" name="Rounded Rectangle 14"/>
          <p:cNvSpPr/>
          <p:nvPr/>
        </p:nvSpPr>
        <p:spPr>
          <a:xfrm>
            <a:off x="4334256" y="2880360"/>
            <a:ext cx="1783080" cy="1463040"/>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34256" y="3017520"/>
            <a:ext cx="1783080" cy="548640"/>
          </a:xfrm>
          <a:prstGeom prst="rect">
            <a:avLst/>
          </a:prstGeom>
          <a:noFill/>
        </p:spPr>
        <p:txBody>
          <a:bodyPr wrap="square" lIns="45720" rIns="45720" anchor="t"/>
          <a:lstStyle/>
          <a:p>
            <a:pPr algn="ctr"/>
            <a:r>
              <a:rPr sz="3000" b="1" i="0">
                <a:solidFill>
                  <a:srgbClr val="2F7F80"/>
                </a:solidFill>
                <a:latin typeface="Calibri"/>
              </a:rPr>
              <a:t>1.092</a:t>
            </a:r>
          </a:p>
        </p:txBody>
      </p:sp>
      <p:sp>
        <p:nvSpPr>
          <p:cNvPr id="17" name="TextBox 16"/>
          <p:cNvSpPr txBox="1"/>
          <p:nvPr/>
        </p:nvSpPr>
        <p:spPr>
          <a:xfrm>
            <a:off x="4425696" y="3611880"/>
            <a:ext cx="1600200" cy="685800"/>
          </a:xfrm>
          <a:prstGeom prst="rect">
            <a:avLst/>
          </a:prstGeom>
          <a:noFill/>
        </p:spPr>
        <p:txBody>
          <a:bodyPr wrap="square" lIns="45720" rIns="45720" anchor="t"/>
          <a:lstStyle/>
          <a:p>
            <a:pPr algn="ctr"/>
            <a:r>
              <a:rPr sz="1400" b="0" i="0">
                <a:solidFill>
                  <a:srgbClr val="20242B"/>
                </a:solidFill>
                <a:latin typeface="Calibri"/>
              </a:rPr>
              <a:t>bài viết</a:t>
            </a:r>
          </a:p>
        </p:txBody>
      </p:sp>
      <p:sp>
        <p:nvSpPr>
          <p:cNvPr id="18" name="Rounded Rectangle 17"/>
          <p:cNvSpPr/>
          <p:nvPr/>
        </p:nvSpPr>
        <p:spPr>
          <a:xfrm>
            <a:off x="457200" y="4526280"/>
            <a:ext cx="5660136" cy="1645920"/>
          </a:xfrm>
          <a:prstGeom prst="roundRect">
            <a:avLst>
              <a:gd name="adj" fmla="val 6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4617720"/>
            <a:ext cx="5303520" cy="1508760"/>
          </a:xfrm>
          <a:prstGeom prst="rect">
            <a:avLst/>
          </a:prstGeom>
          <a:noFill/>
        </p:spPr>
        <p:txBody>
          <a:bodyPr wrap="square" lIns="45720" rIns="45720" anchor="t"/>
          <a:lstStyle/>
          <a:p>
            <a:pPr marL="256032" indent="-256032">
              <a:spcAft>
                <a:spcPts val="500"/>
              </a:spcAft>
              <a:buClr>
                <a:srgbClr val="4FA6A6"/>
              </a:buClr>
              <a:buFont typeface="Arial"/>
              <a:buChar char="•"/>
            </a:pPr>
            <a:r>
              <a:rPr sz="1400" b="0" i="0">
                <a:solidFill>
                  <a:srgbClr val="20242B"/>
                </a:solidFill>
                <a:latin typeface="Calibri"/>
              </a:rPr>
              <a:t>Hiển thị được trên máy tính, máy tính bảng và điện thoại.</a:t>
            </a:r>
          </a:p>
          <a:p>
            <a:pPr marL="256032" indent="-256032">
              <a:spcAft>
                <a:spcPts val="500"/>
              </a:spcAft>
              <a:buClr>
                <a:srgbClr val="4FA6A6"/>
              </a:buClr>
              <a:buFont typeface="Arial"/>
              <a:buChar char="•"/>
            </a:pPr>
            <a:r>
              <a:rPr sz="1400" b="0" i="0">
                <a:solidFill>
                  <a:srgbClr val="20242B"/>
                </a:solidFill>
                <a:latin typeface="Calibri"/>
              </a:rPr>
              <a:t>Thành phần dùng chung: header, menu, footer, tìm kiếm, đăng nhập, menu di động, nút về đầu trang.</a:t>
            </a:r>
          </a:p>
        </p:txBody>
      </p:sp>
      <p:sp>
        <p:nvSpPr>
          <p:cNvPr id="20" name="Rounded Rectangle 19"/>
          <p:cNvSpPr/>
          <p:nvPr/>
        </p:nvSpPr>
        <p:spPr>
          <a:xfrm>
            <a:off x="6400800" y="1280160"/>
            <a:ext cx="5330952" cy="4892040"/>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83680" y="1426463"/>
            <a:ext cx="4965192" cy="4617720"/>
          </a:xfrm>
          <a:prstGeom prst="rect">
            <a:avLst/>
          </a:prstGeom>
          <a:noFill/>
        </p:spPr>
        <p:txBody>
          <a:bodyPr wrap="square" lIns="45720" rIns="45720" anchor="t"/>
          <a:lstStyle/>
          <a:p>
            <a:pPr>
              <a:spcAft>
                <a:spcPts val="800"/>
              </a:spcAft>
            </a:pPr>
            <a:r>
              <a:rPr sz="1200" b="1" i="0">
                <a:solidFill>
                  <a:srgbClr val="2F7F80"/>
                </a:solidFill>
                <a:latin typeface="Calibri"/>
              </a:rPr>
              <a:t>CÁC TRANG ĐÃ XÂY DỰNG</a:t>
            </a:r>
          </a:p>
          <a:p>
            <a:pPr marL="256032" indent="-256032">
              <a:spcAft>
                <a:spcPts val="500"/>
              </a:spcAft>
              <a:buClr>
                <a:srgbClr val="4FA6A6"/>
              </a:buClr>
              <a:buFont typeface="Arial"/>
              <a:buChar char="•"/>
            </a:pPr>
            <a:r>
              <a:rPr sz="1500" b="1" i="0">
                <a:solidFill>
                  <a:srgbClr val="20242B"/>
                </a:solidFill>
                <a:latin typeface="Calibri"/>
              </a:rPr>
              <a:t>Trang chủ</a:t>
            </a:r>
          </a:p>
          <a:p>
            <a:pPr marL="256032" indent="-256032">
              <a:spcAft>
                <a:spcPts val="500"/>
              </a:spcAft>
              <a:buClr>
                <a:srgbClr val="4FA6A6"/>
              </a:buClr>
              <a:buFont typeface="Arial"/>
              <a:buChar char="•"/>
            </a:pPr>
            <a:r>
              <a:rPr sz="1500" b="1" i="0">
                <a:solidFill>
                  <a:srgbClr val="20242B"/>
                </a:solidFill>
                <a:latin typeface="Calibri"/>
              </a:rPr>
              <a:t>Giới thiệu doanh nghiệp, </a:t>
            </a:r>
            <a:r>
              <a:rPr sz="1500" b="0" i="0">
                <a:solidFill>
                  <a:srgbClr val="20242B"/>
                </a:solidFill>
                <a:latin typeface="Calibri"/>
              </a:rPr>
              <a:t>kèm các dịch vụ</a:t>
            </a:r>
          </a:p>
          <a:p>
            <a:pPr marL="256032" indent="-256032">
              <a:spcAft>
                <a:spcPts val="500"/>
              </a:spcAft>
              <a:buClr>
                <a:srgbClr val="4FA6A6"/>
              </a:buClr>
              <a:buFont typeface="Arial"/>
              <a:buChar char="•"/>
            </a:pPr>
            <a:r>
              <a:rPr sz="1500" b="1" i="0">
                <a:solidFill>
                  <a:srgbClr val="20242B"/>
                </a:solidFill>
                <a:latin typeface="Calibri"/>
              </a:rPr>
              <a:t>Danh mục và chi tiết sản phẩm</a:t>
            </a:r>
          </a:p>
          <a:p>
            <a:pPr marL="256032" indent="-256032">
              <a:spcAft>
                <a:spcPts val="500"/>
              </a:spcAft>
              <a:buClr>
                <a:srgbClr val="4FA6A6"/>
              </a:buClr>
              <a:buFont typeface="Arial"/>
              <a:buChar char="•"/>
            </a:pPr>
            <a:r>
              <a:rPr sz="1500" b="1" i="0">
                <a:solidFill>
                  <a:srgbClr val="20242B"/>
                </a:solidFill>
                <a:latin typeface="Calibri"/>
              </a:rPr>
              <a:t>Tin tức (blog) </a:t>
            </a:r>
            <a:r>
              <a:rPr sz="1500" b="0" i="0">
                <a:solidFill>
                  <a:srgbClr val="20242B"/>
                </a:solidFill>
                <a:latin typeface="Calibri"/>
              </a:rPr>
              <a:t>và trang đọc bài</a:t>
            </a:r>
          </a:p>
          <a:p>
            <a:pPr marL="256032" indent="-256032">
              <a:spcAft>
                <a:spcPts val="500"/>
              </a:spcAft>
              <a:buClr>
                <a:srgbClr val="4FA6A6"/>
              </a:buClr>
              <a:buFont typeface="Arial"/>
              <a:buChar char="•"/>
            </a:pPr>
            <a:r>
              <a:rPr sz="1500" b="1" i="0">
                <a:solidFill>
                  <a:srgbClr val="20242B"/>
                </a:solidFill>
                <a:latin typeface="Calibri"/>
              </a:rPr>
              <a:t>Câu hỏi thường gặp</a:t>
            </a:r>
          </a:p>
          <a:p>
            <a:pPr marL="256032" indent="-256032">
              <a:spcAft>
                <a:spcPts val="500"/>
              </a:spcAft>
              <a:buClr>
                <a:srgbClr val="4FA6A6"/>
              </a:buClr>
              <a:buFont typeface="Arial"/>
              <a:buChar char="•"/>
            </a:pPr>
            <a:r>
              <a:rPr sz="1500" b="1" i="0">
                <a:solidFill>
                  <a:srgbClr val="20242B"/>
                </a:solidFill>
                <a:latin typeface="Calibri"/>
              </a:rPr>
              <a:t>Liên hệ</a:t>
            </a:r>
          </a:p>
          <a:p>
            <a:pPr marL="256032" indent="-256032">
              <a:spcAft>
                <a:spcPts val="500"/>
              </a:spcAft>
              <a:buClr>
                <a:srgbClr val="4FA6A6"/>
              </a:buClr>
              <a:buFont typeface="Arial"/>
              <a:buChar char="•"/>
            </a:pPr>
            <a:r>
              <a:rPr sz="1500" b="1" i="0">
                <a:solidFill>
                  <a:srgbClr val="20242B"/>
                </a:solidFill>
                <a:latin typeface="Calibri"/>
              </a:rPr>
              <a:t>Chính sách bảo mật</a:t>
            </a:r>
          </a:p>
          <a:p>
            <a:pPr marL="256032" indent="-256032">
              <a:spcAft>
                <a:spcPts val="500"/>
              </a:spcAft>
              <a:buClr>
                <a:srgbClr val="4FA6A6"/>
              </a:buClr>
              <a:buFont typeface="Arial"/>
              <a:buChar char="•"/>
            </a:pPr>
            <a:r>
              <a:rPr sz="1500" b="1" i="0">
                <a:solidFill>
                  <a:srgbClr val="20242B"/>
                </a:solidFill>
                <a:latin typeface="Calibri"/>
              </a:rPr>
              <a:t>Tuyển dụng</a:t>
            </a:r>
          </a:p>
          <a:p>
            <a:pPr marL="256032" indent="-256032">
              <a:spcAft>
                <a:spcPts val="500"/>
              </a:spcAft>
              <a:buClr>
                <a:srgbClr val="4FA6A6"/>
              </a:buClr>
              <a:buFont typeface="Arial"/>
              <a:buChar char="•"/>
            </a:pPr>
            <a:r>
              <a:rPr sz="1500" b="1" i="0">
                <a:solidFill>
                  <a:srgbClr val="20242B"/>
                </a:solidFill>
                <a:latin typeface="Calibri"/>
              </a:rPr>
              <a:t>Hướng dẫn sử dụng Extension</a:t>
            </a:r>
          </a:p>
          <a:p>
            <a:pPr marL="256032" indent="-256032">
              <a:spcAft>
                <a:spcPts val="500"/>
              </a:spcAft>
              <a:buClr>
                <a:srgbClr val="4FA6A6"/>
              </a:buClr>
              <a:buFont typeface="Arial"/>
              <a:buChar char="•"/>
            </a:pPr>
            <a:r>
              <a:rPr sz="1500" b="1" i="0">
                <a:solidFill>
                  <a:srgbClr val="20242B"/>
                </a:solidFill>
                <a:latin typeface="Calibri"/>
              </a:rPr>
              <a:t>Tài khoản: </a:t>
            </a:r>
            <a:r>
              <a:rPr sz="1500" b="0" i="0">
                <a:solidFill>
                  <a:srgbClr val="20242B"/>
                </a:solidFill>
                <a:latin typeface="Calibri"/>
              </a:rPr>
              <a:t>đăng nhập, đặt lại mật khẩu</a:t>
            </a:r>
          </a:p>
        </p:txBody>
      </p:sp>
      <p:sp>
        <p:nvSpPr>
          <p:cNvPr id="22" name="TextBox 21"/>
          <p:cNvSpPr txBox="1"/>
          <p:nvPr/>
        </p:nvSpPr>
        <p:spPr>
          <a:xfrm>
            <a:off x="10332720" y="6492240"/>
            <a:ext cx="1399032" cy="274320"/>
          </a:xfrm>
          <a:prstGeom prst="rect">
            <a:avLst/>
          </a:prstGeom>
          <a:noFill/>
        </p:spPr>
        <p:txBody>
          <a:bodyPr wrap="square" lIns="45720" rIns="45720" anchor="t"/>
          <a:lstStyle/>
          <a:p>
            <a:pPr algn="r"/>
            <a:r>
              <a:rPr sz="1100" b="0" i="0">
                <a:solidFill>
                  <a:srgbClr val="5B6370"/>
                </a:solidFill>
                <a:latin typeface="Calibri"/>
              </a:rPr>
              <a:t>20 / 26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4F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
            <a:ext cx="8229600" cy="274320"/>
          </a:xfrm>
          <a:prstGeom prst="rect">
            <a:avLst/>
          </a:prstGeom>
          <a:noFill/>
        </p:spPr>
        <p:txBody>
          <a:bodyPr wrap="square" lIns="45720" rIns="45720" anchor="t"/>
          <a:lstStyle/>
          <a:p>
            <a:pPr algn="l"/>
            <a:r>
              <a:rPr sz="1200" b="1" i="0">
                <a:solidFill>
                  <a:srgbClr val="2F7F80"/>
                </a:solidFill>
                <a:latin typeface="Calibri"/>
              </a:rPr>
              <a:t>07 · ĐÁNH GIÁ VÀ KIẾN NGHỊ</a:t>
            </a:r>
          </a:p>
        </p:txBody>
      </p:sp>
      <p:sp>
        <p:nvSpPr>
          <p:cNvPr id="4" name="TextBox 3"/>
          <p:cNvSpPr txBox="1"/>
          <p:nvPr/>
        </p:nvSpPr>
        <p:spPr>
          <a:xfrm>
            <a:off x="457200" y="457200"/>
            <a:ext cx="11247120" cy="566928"/>
          </a:xfrm>
          <a:prstGeom prst="rect">
            <a:avLst/>
          </a:prstGeom>
          <a:noFill/>
        </p:spPr>
        <p:txBody>
          <a:bodyPr wrap="square" lIns="45720" rIns="45720" anchor="t"/>
          <a:lstStyle/>
          <a:p>
            <a:pPr algn="l"/>
            <a:r>
              <a:rPr sz="2800" b="1" i="0">
                <a:solidFill>
                  <a:srgbClr val="20242B"/>
                </a:solidFill>
                <a:latin typeface="Calibri"/>
              </a:rPr>
              <a:t>Ưu điểm và hạn chế của website</a:t>
            </a:r>
          </a:p>
        </p:txBody>
      </p:sp>
      <p:cxnSp>
        <p:nvCxnSpPr>
          <p:cNvPr id="5" name="Connector 4"/>
          <p:cNvCxnSpPr/>
          <p:nvPr/>
        </p:nvCxnSpPr>
        <p:spPr>
          <a:xfrm>
            <a:off x="457200" y="6446520"/>
            <a:ext cx="11274552" cy="0"/>
          </a:xfrm>
          <a:prstGeom prst="line">
            <a:avLst/>
          </a:prstGeom>
          <a:ln w="9525">
            <a:solidFill>
              <a:srgbClr val="D9DEE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92240"/>
            <a:ext cx="8229600" cy="274320"/>
          </a:xfrm>
          <a:prstGeom prst="rect">
            <a:avLst/>
          </a:prstGeom>
          <a:noFill/>
        </p:spPr>
        <p:txBody>
          <a:bodyPr wrap="square" lIns="45720" rIns="45720" anchor="t"/>
          <a:lstStyle/>
          <a:p>
            <a:pPr algn="l"/>
            <a:r>
              <a:rPr sz="1100" b="0" i="0">
                <a:solidFill>
                  <a:srgbClr val="5B6370"/>
                </a:solidFill>
                <a:latin typeface="Calibri"/>
              </a:rPr>
              <a:t>Trần Anh Khoa  ·  Báo cáo thực tập tốt nghiệp  ·  Website Printuz</a:t>
            </a:r>
          </a:p>
        </p:txBody>
      </p:sp>
      <p:sp>
        <p:nvSpPr>
          <p:cNvPr id="7" name="Rounded Rectangle 6"/>
          <p:cNvSpPr/>
          <p:nvPr/>
        </p:nvSpPr>
        <p:spPr>
          <a:xfrm>
            <a:off x="457200" y="1280160"/>
            <a:ext cx="5532120" cy="4892040"/>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426463"/>
            <a:ext cx="5166359" cy="4617720"/>
          </a:xfrm>
          <a:prstGeom prst="rect">
            <a:avLst/>
          </a:prstGeom>
          <a:noFill/>
        </p:spPr>
        <p:txBody>
          <a:bodyPr wrap="square" lIns="45720" rIns="45720" anchor="t"/>
          <a:lstStyle/>
          <a:p>
            <a:r>
              <a:rPr sz="1200" b="1" i="0">
                <a:solidFill>
                  <a:srgbClr val="2F7F80"/>
                </a:solidFill>
                <a:latin typeface="Calibri"/>
              </a:rPr>
              <a:t>ƯU ĐIỂM</a:t>
            </a:r>
          </a:p>
          <a:p>
            <a:pPr>
              <a:spcBef>
                <a:spcPts val="300"/>
              </a:spcBef>
              <a:spcAft>
                <a:spcPts val="600"/>
              </a:spcAft>
            </a:pPr>
            <a:r>
              <a:rPr sz="1900" b="1" i="0">
                <a:solidFill>
                  <a:srgbClr val="20242B"/>
                </a:solidFill>
                <a:latin typeface="Calibri"/>
              </a:rPr>
              <a:t>Rõ ràng, chuyên nghiệp, dùng được trên nhiều thiết bị</a:t>
            </a:r>
          </a:p>
          <a:p>
            <a:pPr marL="256032" indent="-256032">
              <a:spcAft>
                <a:spcPts val="500"/>
              </a:spcAft>
              <a:buClr>
                <a:srgbClr val="4FA6A6"/>
              </a:buClr>
              <a:buFont typeface="Arial"/>
              <a:buChar char="•"/>
            </a:pPr>
            <a:r>
              <a:rPr sz="1700" b="0" i="0">
                <a:solidFill>
                  <a:srgbClr val="20242B"/>
                </a:solidFill>
                <a:latin typeface="Calibri"/>
              </a:rPr>
              <a:t>Đa trang, nội dung phân loại rõ, dễ tiếp cận từng nhóm thông tin.</a:t>
            </a:r>
          </a:p>
          <a:p>
            <a:pPr marL="256032" indent="-256032">
              <a:spcAft>
                <a:spcPts val="500"/>
              </a:spcAft>
              <a:buClr>
                <a:srgbClr val="4FA6A6"/>
              </a:buClr>
              <a:buFont typeface="Arial"/>
              <a:buChar char="•"/>
            </a:pPr>
            <a:r>
              <a:rPr sz="1700" b="0" i="0">
                <a:solidFill>
                  <a:srgbClr val="20242B"/>
                </a:solidFill>
                <a:latin typeface="Calibri"/>
              </a:rPr>
              <a:t>Phong cách hiện đại, màu thương hiệu và kiểu chữ phù hợp, tăng nhận diện và sự tin cậy.</a:t>
            </a:r>
          </a:p>
          <a:p>
            <a:pPr marL="256032" indent="-256032">
              <a:spcAft>
                <a:spcPts val="500"/>
              </a:spcAft>
              <a:buClr>
                <a:srgbClr val="4FA6A6"/>
              </a:buClr>
              <a:buFont typeface="Arial"/>
              <a:buChar char="•"/>
            </a:pPr>
            <a:r>
              <a:rPr sz="1700" b="0" i="0">
                <a:solidFill>
                  <a:srgbClr val="20242B"/>
                </a:solidFill>
                <a:latin typeface="Calibri"/>
              </a:rPr>
              <a:t>Đáp ứng máy tính, máy tính bảng, điện thoại.</a:t>
            </a:r>
          </a:p>
          <a:p>
            <a:pPr marL="256032" indent="-256032">
              <a:spcAft>
                <a:spcPts val="500"/>
              </a:spcAft>
              <a:buClr>
                <a:srgbClr val="4FA6A6"/>
              </a:buClr>
              <a:buFont typeface="Arial"/>
              <a:buChar char="•"/>
            </a:pPr>
            <a:r>
              <a:rPr sz="1700" b="0" i="0">
                <a:solidFill>
                  <a:srgbClr val="20242B"/>
                </a:solidFill>
                <a:latin typeface="Calibri"/>
              </a:rPr>
              <a:t>Menu, tìm kiếm, danh mục sản phẩm, FAQ, liên hệ giúp sử dụng thuận tiện.</a:t>
            </a:r>
          </a:p>
        </p:txBody>
      </p:sp>
      <p:sp>
        <p:nvSpPr>
          <p:cNvPr id="9" name="Rounded Rectangle 8"/>
          <p:cNvSpPr/>
          <p:nvPr/>
        </p:nvSpPr>
        <p:spPr>
          <a:xfrm>
            <a:off x="6199632" y="1280160"/>
            <a:ext cx="5532120" cy="4892040"/>
          </a:xfrm>
          <a:prstGeom prst="roundRect">
            <a:avLst>
              <a:gd name="adj" fmla="val 6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82512" y="1426463"/>
            <a:ext cx="5166359" cy="4617720"/>
          </a:xfrm>
          <a:prstGeom prst="rect">
            <a:avLst/>
          </a:prstGeom>
          <a:noFill/>
        </p:spPr>
        <p:txBody>
          <a:bodyPr wrap="square" lIns="45720" rIns="45720" anchor="t"/>
          <a:lstStyle/>
          <a:p>
            <a:r>
              <a:rPr sz="1200" b="1" i="0">
                <a:solidFill>
                  <a:srgbClr val="2F7F80"/>
                </a:solidFill>
                <a:latin typeface="Calibri"/>
              </a:rPr>
              <a:t>HẠN CHẾ</a:t>
            </a:r>
          </a:p>
          <a:p>
            <a:pPr>
              <a:spcBef>
                <a:spcPts val="300"/>
              </a:spcBef>
              <a:spcAft>
                <a:spcPts val="600"/>
              </a:spcAft>
            </a:pPr>
            <a:r>
              <a:rPr sz="1900" b="1" i="0">
                <a:solidFill>
                  <a:srgbClr val="20242B"/>
                </a:solidFill>
                <a:latin typeface="Calibri"/>
              </a:rPr>
              <a:t>Mới tập trung vào giao diện và hiển thị</a:t>
            </a:r>
          </a:p>
          <a:p>
            <a:pPr marL="256032" indent="-256032">
              <a:spcAft>
                <a:spcPts val="500"/>
              </a:spcAft>
              <a:buClr>
                <a:srgbClr val="4FA6A6"/>
              </a:buClr>
              <a:buFont typeface="Arial"/>
              <a:buChar char="•"/>
            </a:pPr>
            <a:r>
              <a:rPr sz="1700" b="0" i="0">
                <a:solidFill>
                  <a:srgbClr val="20242B"/>
                </a:solidFill>
                <a:latin typeface="Calibri"/>
              </a:rPr>
              <a:t>Chưa có chức năng nghiệp vụ: đăng ký tài khoản thật, xử lý form liên hệ, tải tệp thiết kế, thanh toán, quản lý đơn, đồng bộ dữ liệu fulfillment.</a:t>
            </a:r>
          </a:p>
          <a:p>
            <a:pPr marL="256032" indent="-256032">
              <a:spcAft>
                <a:spcPts val="500"/>
              </a:spcAft>
              <a:buClr>
                <a:srgbClr val="4FA6A6"/>
              </a:buClr>
              <a:buFont typeface="Arial"/>
              <a:buChar char="•"/>
            </a:pPr>
            <a:r>
              <a:rPr sz="1700" b="0" i="0">
                <a:solidFill>
                  <a:srgbClr val="20242B"/>
                </a:solidFill>
                <a:latin typeface="Calibri"/>
              </a:rPr>
              <a:t>Dữ liệu sản phẩm, bài viết cần nối với hệ quản trị nội dung hoặc cơ sở dữ liệu để cập nhật linh hoạt.</a:t>
            </a:r>
          </a:p>
          <a:p>
            <a:pPr marL="256032" indent="-256032">
              <a:spcAft>
                <a:spcPts val="500"/>
              </a:spcAft>
              <a:buClr>
                <a:srgbClr val="4FA6A6"/>
              </a:buClr>
              <a:buFont typeface="Arial"/>
              <a:buChar char="•"/>
            </a:pPr>
            <a:r>
              <a:rPr sz="1700" b="0" i="0">
                <a:solidFill>
                  <a:srgbClr val="20242B"/>
                </a:solidFill>
                <a:latin typeface="Calibri"/>
              </a:rPr>
              <a:t>Khi vận hành thật cần thêm bảo mật, xác thực người dùng, sao lưu dữ liệu, kiểm thử hiệu năng.</a:t>
            </a:r>
          </a:p>
        </p:txBody>
      </p:sp>
      <p:sp>
        <p:nvSpPr>
          <p:cNvPr id="11" name="TextBox 10"/>
          <p:cNvSpPr txBox="1"/>
          <p:nvPr/>
        </p:nvSpPr>
        <p:spPr>
          <a:xfrm>
            <a:off x="10332720" y="6492240"/>
            <a:ext cx="1399032" cy="274320"/>
          </a:xfrm>
          <a:prstGeom prst="rect">
            <a:avLst/>
          </a:prstGeom>
          <a:noFill/>
        </p:spPr>
        <p:txBody>
          <a:bodyPr wrap="square" lIns="45720" rIns="45720" anchor="t"/>
          <a:lstStyle/>
          <a:p>
            <a:pPr algn="r"/>
            <a:r>
              <a:rPr sz="1100" b="0" i="0">
                <a:solidFill>
                  <a:srgbClr val="5B6370"/>
                </a:solidFill>
                <a:latin typeface="Calibri"/>
              </a:rPr>
              <a:t>21 / 26</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4F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
            <a:ext cx="8229600" cy="274320"/>
          </a:xfrm>
          <a:prstGeom prst="rect">
            <a:avLst/>
          </a:prstGeom>
          <a:noFill/>
        </p:spPr>
        <p:txBody>
          <a:bodyPr wrap="square" lIns="45720" rIns="45720" anchor="t"/>
          <a:lstStyle/>
          <a:p>
            <a:pPr algn="l"/>
            <a:r>
              <a:rPr sz="1200" b="1" i="0">
                <a:solidFill>
                  <a:srgbClr val="2F7F80"/>
                </a:solidFill>
                <a:latin typeface="Calibri"/>
              </a:rPr>
              <a:t>07 · ĐÁNH GIÁ VÀ KIẾN NGHỊ</a:t>
            </a:r>
          </a:p>
        </p:txBody>
      </p:sp>
      <p:sp>
        <p:nvSpPr>
          <p:cNvPr id="4" name="TextBox 3"/>
          <p:cNvSpPr txBox="1"/>
          <p:nvPr/>
        </p:nvSpPr>
        <p:spPr>
          <a:xfrm>
            <a:off x="457200" y="457200"/>
            <a:ext cx="11247120" cy="566928"/>
          </a:xfrm>
          <a:prstGeom prst="rect">
            <a:avLst/>
          </a:prstGeom>
          <a:noFill/>
        </p:spPr>
        <p:txBody>
          <a:bodyPr wrap="square" lIns="45720" rIns="45720" anchor="t"/>
          <a:lstStyle/>
          <a:p>
            <a:pPr algn="l"/>
            <a:r>
              <a:rPr sz="2800" b="1" i="0">
                <a:solidFill>
                  <a:srgbClr val="20242B"/>
                </a:solidFill>
                <a:latin typeface="Calibri"/>
              </a:rPr>
              <a:t>Thách thức và giải pháp</a:t>
            </a:r>
          </a:p>
        </p:txBody>
      </p:sp>
      <p:cxnSp>
        <p:nvCxnSpPr>
          <p:cNvPr id="5" name="Connector 4"/>
          <p:cNvCxnSpPr/>
          <p:nvPr/>
        </p:nvCxnSpPr>
        <p:spPr>
          <a:xfrm>
            <a:off x="457200" y="6446520"/>
            <a:ext cx="11274552" cy="0"/>
          </a:xfrm>
          <a:prstGeom prst="line">
            <a:avLst/>
          </a:prstGeom>
          <a:ln w="9525">
            <a:solidFill>
              <a:srgbClr val="D9DEE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92240"/>
            <a:ext cx="8229600" cy="274320"/>
          </a:xfrm>
          <a:prstGeom prst="rect">
            <a:avLst/>
          </a:prstGeom>
          <a:noFill/>
        </p:spPr>
        <p:txBody>
          <a:bodyPr wrap="square" lIns="45720" rIns="45720" anchor="t"/>
          <a:lstStyle/>
          <a:p>
            <a:pPr algn="l"/>
            <a:r>
              <a:rPr sz="1100" b="0" i="0">
                <a:solidFill>
                  <a:srgbClr val="5B6370"/>
                </a:solidFill>
                <a:latin typeface="Calibri"/>
              </a:rPr>
              <a:t>Trần Anh Khoa  ·  Báo cáo thực tập tốt nghiệp  ·  Website Printuz</a:t>
            </a:r>
          </a:p>
        </p:txBody>
      </p:sp>
      <p:graphicFrame>
        <p:nvGraphicFramePr>
          <p:cNvPr id="7" name="Table 6"/>
          <p:cNvGraphicFramePr>
            <a:graphicFrameLocks noGrp="1"/>
          </p:cNvGraphicFramePr>
          <p:nvPr/>
        </p:nvGraphicFramePr>
        <p:xfrm>
          <a:off x="457200" y="1280160"/>
          <a:ext cx="11274552" cy="4206240"/>
        </p:xfrm>
        <a:graphic>
          <a:graphicData uri="http://schemas.openxmlformats.org/drawingml/2006/table">
            <a:tbl>
              <a:tblPr firstRow="1" bandRow="1">
                <a:tableStyleId>{5C22544A-7EE6-4342-B048-85BDC9FD1C3A}</a:tableStyleId>
              </a:tblPr>
              <a:tblGrid>
                <a:gridCol w="4206240">
                  <a:extLst>
                    <a:ext uri="{9D8B030D-6E8A-4147-A177-3AD203B41FA5}">
                      <a16:colId xmlns:a16="http://schemas.microsoft.com/office/drawing/2014/main" val="20000"/>
                    </a:ext>
                  </a:extLst>
                </a:gridCol>
                <a:gridCol w="7068312">
                  <a:extLst>
                    <a:ext uri="{9D8B030D-6E8A-4147-A177-3AD203B41FA5}">
                      <a16:colId xmlns:a16="http://schemas.microsoft.com/office/drawing/2014/main" val="20001"/>
                    </a:ext>
                  </a:extLst>
                </a:gridCol>
              </a:tblGrid>
              <a:tr h="841248">
                <a:tc>
                  <a:txBody>
                    <a:bodyPr/>
                    <a:lstStyle/>
                    <a:p>
                      <a:r>
                        <a:rPr sz="1500" b="1" i="0">
                          <a:solidFill>
                            <a:srgbClr val="FFFFFF"/>
                          </a:solidFill>
                          <a:latin typeface="Calibri"/>
                        </a:rPr>
                        <a:t>Thách thức</a:t>
                      </a:r>
                    </a:p>
                  </a:txBody>
                  <a:tcPr marL="73152" marR="73152" marT="27432" marB="27432" anchor="ctr">
                    <a:solidFill>
                      <a:srgbClr val="4FA6A6"/>
                    </a:solidFill>
                  </a:tcPr>
                </a:tc>
                <a:tc>
                  <a:txBody>
                    <a:bodyPr/>
                    <a:lstStyle/>
                    <a:p>
                      <a:r>
                        <a:rPr sz="1500" b="1" i="0">
                          <a:solidFill>
                            <a:srgbClr val="FFFFFF"/>
                          </a:solidFill>
                          <a:latin typeface="Calibri"/>
                        </a:rPr>
                        <a:t>Giải pháp</a:t>
                      </a:r>
                    </a:p>
                  </a:txBody>
                  <a:tcPr marL="73152" marR="73152" marT="27432" marB="27432" anchor="ctr">
                    <a:solidFill>
                      <a:srgbClr val="4FA6A6"/>
                    </a:solidFill>
                  </a:tcPr>
                </a:tc>
                <a:extLst>
                  <a:ext uri="{0D108BD9-81ED-4DB2-BD59-A6C34878D82A}">
                    <a16:rowId xmlns:a16="http://schemas.microsoft.com/office/drawing/2014/main" val="10000"/>
                  </a:ext>
                </a:extLst>
              </a:tr>
              <a:tr h="841248">
                <a:tc>
                  <a:txBody>
                    <a:bodyPr/>
                    <a:lstStyle/>
                    <a:p>
                      <a:r>
                        <a:rPr sz="1500" b="1" i="0">
                          <a:solidFill>
                            <a:srgbClr val="20242B"/>
                          </a:solidFill>
                          <a:latin typeface="Calibri"/>
                        </a:rPr>
                        <a:t>Giữ giao diện thống nhất giữa nhiều trang và nhiều loại nội dung</a:t>
                      </a:r>
                    </a:p>
                  </a:txBody>
                  <a:tcPr marL="73152" marR="73152" marT="27432" marB="27432" anchor="ctr">
                    <a:solidFill>
                      <a:srgbClr val="FFFFFF"/>
                    </a:solidFill>
                  </a:tcPr>
                </a:tc>
                <a:tc>
                  <a:txBody>
                    <a:bodyPr/>
                    <a:lstStyle/>
                    <a:p>
                      <a:r>
                        <a:rPr sz="1500" b="0" i="0">
                          <a:solidFill>
                            <a:srgbClr val="20242B"/>
                          </a:solidFill>
                          <a:latin typeface="Calibri"/>
                        </a:rPr>
                        <a:t>Xác định trước màu chủ đạo, font chữ, kiểu nút, cấu trúc điều hướng và cách trình bày; dùng chung CSS và thành phần header, menu, footer</a:t>
                      </a:r>
                    </a:p>
                  </a:txBody>
                  <a:tcPr marL="73152" marR="73152" marT="27432" marB="27432" anchor="ctr">
                    <a:solidFill>
                      <a:srgbClr val="FFFFFF"/>
                    </a:solidFill>
                  </a:tcPr>
                </a:tc>
                <a:extLst>
                  <a:ext uri="{0D108BD9-81ED-4DB2-BD59-A6C34878D82A}">
                    <a16:rowId xmlns:a16="http://schemas.microsoft.com/office/drawing/2014/main" val="10001"/>
                  </a:ext>
                </a:extLst>
              </a:tr>
              <a:tr h="841248">
                <a:tc>
                  <a:txBody>
                    <a:bodyPr/>
                    <a:lstStyle/>
                    <a:p>
                      <a:r>
                        <a:rPr sz="1500" b="1" i="0">
                          <a:solidFill>
                            <a:srgbClr val="20242B"/>
                          </a:solidFill>
                          <a:latin typeface="Calibri"/>
                        </a:rPr>
                        <a:t>Vừa đẹp vừa dễ sử dụng</a:t>
                      </a:r>
                    </a:p>
                  </a:txBody>
                  <a:tcPr marL="73152" marR="73152" marT="27432" marB="27432" anchor="ctr">
                    <a:solidFill>
                      <a:srgbClr val="F4F6F7"/>
                    </a:solidFill>
                  </a:tcPr>
                </a:tc>
                <a:tc>
                  <a:txBody>
                    <a:bodyPr/>
                    <a:lstStyle/>
                    <a:p>
                      <a:r>
                        <a:rPr sz="1500" b="0" i="0">
                          <a:solidFill>
                            <a:srgbClr val="20242B"/>
                          </a:solidFill>
                          <a:latin typeface="Calibri"/>
                        </a:rPr>
                        <a:t>Chia nội dung thành từng nhóm rõ ràng, dùng tiêu đề và khoảng trắng hợp lý, đặt thông tin quan trọng ở khu vực dễ quan sát</a:t>
                      </a:r>
                    </a:p>
                  </a:txBody>
                  <a:tcPr marL="73152" marR="73152" marT="27432" marB="27432" anchor="ctr">
                    <a:solidFill>
                      <a:srgbClr val="F4F6F7"/>
                    </a:solidFill>
                  </a:tcPr>
                </a:tc>
                <a:extLst>
                  <a:ext uri="{0D108BD9-81ED-4DB2-BD59-A6C34878D82A}">
                    <a16:rowId xmlns:a16="http://schemas.microsoft.com/office/drawing/2014/main" val="10002"/>
                  </a:ext>
                </a:extLst>
              </a:tr>
              <a:tr h="841248">
                <a:tc>
                  <a:txBody>
                    <a:bodyPr/>
                    <a:lstStyle/>
                    <a:p>
                      <a:r>
                        <a:rPr sz="1500" b="1" i="0">
                          <a:solidFill>
                            <a:srgbClr val="20242B"/>
                          </a:solidFill>
                          <a:latin typeface="Calibri"/>
                        </a:rPr>
                        <a:t>Hiển thị tốt trên nhiều thiết bị</a:t>
                      </a:r>
                    </a:p>
                  </a:txBody>
                  <a:tcPr marL="73152" marR="73152" marT="27432" marB="27432" anchor="ctr">
                    <a:solidFill>
                      <a:srgbClr val="FFFFFF"/>
                    </a:solidFill>
                  </a:tcPr>
                </a:tc>
                <a:tc>
                  <a:txBody>
                    <a:bodyPr/>
                    <a:lstStyle/>
                    <a:p>
                      <a:r>
                        <a:rPr sz="1500" b="0" i="0">
                          <a:solidFill>
                            <a:srgbClr val="20242B"/>
                          </a:solidFill>
                          <a:latin typeface="Calibri"/>
                        </a:rPr>
                        <a:t>Xây dựng theo hướng đáp ứng với Bootstrap Grid và breakpoint; làm menu riêng cho điện thoại</a:t>
                      </a:r>
                    </a:p>
                  </a:txBody>
                  <a:tcPr marL="73152" marR="73152" marT="27432" marB="27432" anchor="ctr">
                    <a:solidFill>
                      <a:srgbClr val="FFFFFF"/>
                    </a:solidFill>
                  </a:tcPr>
                </a:tc>
                <a:extLst>
                  <a:ext uri="{0D108BD9-81ED-4DB2-BD59-A6C34878D82A}">
                    <a16:rowId xmlns:a16="http://schemas.microsoft.com/office/drawing/2014/main" val="10003"/>
                  </a:ext>
                </a:extLst>
              </a:tr>
              <a:tr h="841248">
                <a:tc>
                  <a:txBody>
                    <a:bodyPr/>
                    <a:lstStyle/>
                    <a:p>
                      <a:r>
                        <a:rPr sz="1500" b="1" i="0">
                          <a:solidFill>
                            <a:srgbClr val="20242B"/>
                          </a:solidFill>
                          <a:latin typeface="Calibri"/>
                        </a:rPr>
                        <a:t>Khu vực sản phẩm và bài viết có nhiều dữ liệu</a:t>
                      </a:r>
                    </a:p>
                  </a:txBody>
                  <a:tcPr marL="73152" marR="73152" marT="27432" marB="27432" anchor="ctr">
                    <a:solidFill>
                      <a:srgbClr val="F4F6F7"/>
                    </a:solidFill>
                  </a:tcPr>
                </a:tc>
                <a:tc>
                  <a:txBody>
                    <a:bodyPr/>
                    <a:lstStyle/>
                    <a:p>
                      <a:r>
                        <a:rPr sz="1500" b="0" i="0">
                          <a:solidFill>
                            <a:srgbClr val="20242B"/>
                          </a:solidFill>
                          <a:latin typeface="Calibri"/>
                        </a:rPr>
                        <a:t>Tách dữ liệu ra file JSON, dùng JavaScript để hiển thị, lọc và phân trang</a:t>
                      </a:r>
                    </a:p>
                  </a:txBody>
                  <a:tcPr marL="73152" marR="73152" marT="27432" marB="27432" anchor="ctr">
                    <a:solidFill>
                      <a:srgbClr val="F4F6F7"/>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457200" y="5897880"/>
            <a:ext cx="11274552" cy="411480"/>
          </a:xfrm>
          <a:prstGeom prst="rect">
            <a:avLst/>
          </a:prstGeom>
          <a:noFill/>
        </p:spPr>
        <p:txBody>
          <a:bodyPr wrap="square" lIns="45720" rIns="45720" anchor="t"/>
          <a:lstStyle/>
          <a:p>
            <a:pPr algn="l"/>
            <a:r>
              <a:rPr sz="1500" b="1" i="0">
                <a:solidFill>
                  <a:srgbClr val="2F7F80"/>
                </a:solidFill>
                <a:latin typeface="Calibri"/>
              </a:rPr>
              <a:t>Bài học: định hướng thiết kế rõ ngay từ đầu giúp tiết kiệm nhiều thời gian sửa ở giai đoạn sau.</a:t>
            </a:r>
          </a:p>
        </p:txBody>
      </p:sp>
      <p:sp>
        <p:nvSpPr>
          <p:cNvPr id="9" name="TextBox 8"/>
          <p:cNvSpPr txBox="1"/>
          <p:nvPr/>
        </p:nvSpPr>
        <p:spPr>
          <a:xfrm>
            <a:off x="10332720" y="6492240"/>
            <a:ext cx="1399032" cy="274320"/>
          </a:xfrm>
          <a:prstGeom prst="rect">
            <a:avLst/>
          </a:prstGeom>
          <a:noFill/>
        </p:spPr>
        <p:txBody>
          <a:bodyPr wrap="square" lIns="45720" rIns="45720" anchor="t"/>
          <a:lstStyle/>
          <a:p>
            <a:pPr algn="r"/>
            <a:r>
              <a:rPr sz="1100" b="0" i="0">
                <a:solidFill>
                  <a:srgbClr val="5B6370"/>
                </a:solidFill>
                <a:latin typeface="Calibri"/>
              </a:rPr>
              <a:t>22 / 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4F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
            <a:ext cx="8229600" cy="274320"/>
          </a:xfrm>
          <a:prstGeom prst="rect">
            <a:avLst/>
          </a:prstGeom>
          <a:noFill/>
        </p:spPr>
        <p:txBody>
          <a:bodyPr wrap="square" lIns="45720" rIns="45720" anchor="t"/>
          <a:lstStyle/>
          <a:p>
            <a:pPr algn="l"/>
            <a:r>
              <a:rPr sz="1200" b="1" i="0">
                <a:solidFill>
                  <a:srgbClr val="2F7F80"/>
                </a:solidFill>
                <a:latin typeface="Calibri"/>
              </a:rPr>
              <a:t>07 · ĐÁNH GIÁ VÀ KIẾN NGHỊ</a:t>
            </a:r>
          </a:p>
        </p:txBody>
      </p:sp>
      <p:sp>
        <p:nvSpPr>
          <p:cNvPr id="4" name="TextBox 3"/>
          <p:cNvSpPr txBox="1"/>
          <p:nvPr/>
        </p:nvSpPr>
        <p:spPr>
          <a:xfrm>
            <a:off x="457200" y="457200"/>
            <a:ext cx="11247120" cy="566928"/>
          </a:xfrm>
          <a:prstGeom prst="rect">
            <a:avLst/>
          </a:prstGeom>
          <a:noFill/>
        </p:spPr>
        <p:txBody>
          <a:bodyPr wrap="square" lIns="45720" rIns="45720" anchor="t"/>
          <a:lstStyle/>
          <a:p>
            <a:pPr algn="l"/>
            <a:r>
              <a:rPr sz="2800" b="1" i="0">
                <a:solidFill>
                  <a:srgbClr val="20242B"/>
                </a:solidFill>
                <a:latin typeface="Calibri"/>
              </a:rPr>
              <a:t>Định hướng phát triển</a:t>
            </a:r>
          </a:p>
        </p:txBody>
      </p:sp>
      <p:cxnSp>
        <p:nvCxnSpPr>
          <p:cNvPr id="5" name="Connector 4"/>
          <p:cNvCxnSpPr/>
          <p:nvPr/>
        </p:nvCxnSpPr>
        <p:spPr>
          <a:xfrm>
            <a:off x="457200" y="6446520"/>
            <a:ext cx="11274552" cy="0"/>
          </a:xfrm>
          <a:prstGeom prst="line">
            <a:avLst/>
          </a:prstGeom>
          <a:ln w="9525">
            <a:solidFill>
              <a:srgbClr val="D9DEE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92240"/>
            <a:ext cx="8229600" cy="274320"/>
          </a:xfrm>
          <a:prstGeom prst="rect">
            <a:avLst/>
          </a:prstGeom>
          <a:noFill/>
        </p:spPr>
        <p:txBody>
          <a:bodyPr wrap="square" lIns="45720" rIns="45720" anchor="t"/>
          <a:lstStyle/>
          <a:p>
            <a:pPr algn="l"/>
            <a:r>
              <a:rPr sz="1100" b="0" i="0">
                <a:solidFill>
                  <a:srgbClr val="5B6370"/>
                </a:solidFill>
                <a:latin typeface="Calibri"/>
              </a:rPr>
              <a:t>Trần Anh Khoa  ·  Báo cáo thực tập tốt nghiệp  ·  Website Printuz</a:t>
            </a:r>
          </a:p>
        </p:txBody>
      </p:sp>
      <p:sp>
        <p:nvSpPr>
          <p:cNvPr id="7" name="Rounded Rectangle 6"/>
          <p:cNvSpPr/>
          <p:nvPr/>
        </p:nvSpPr>
        <p:spPr>
          <a:xfrm>
            <a:off x="457200" y="1280160"/>
            <a:ext cx="3630168" cy="2286000"/>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417319"/>
            <a:ext cx="914400" cy="457200"/>
          </a:xfrm>
          <a:prstGeom prst="rect">
            <a:avLst/>
          </a:prstGeom>
          <a:noFill/>
        </p:spPr>
        <p:txBody>
          <a:bodyPr wrap="square" lIns="45720" rIns="45720" anchor="t"/>
          <a:lstStyle/>
          <a:p>
            <a:pPr algn="l"/>
            <a:r>
              <a:rPr sz="2400" b="1" i="0">
                <a:solidFill>
                  <a:srgbClr val="4FA6A6"/>
                </a:solidFill>
                <a:latin typeface="Calibri"/>
              </a:rPr>
              <a:t>01</a:t>
            </a:r>
          </a:p>
        </p:txBody>
      </p:sp>
      <p:sp>
        <p:nvSpPr>
          <p:cNvPr id="9" name="TextBox 8"/>
          <p:cNvSpPr txBox="1"/>
          <p:nvPr/>
        </p:nvSpPr>
        <p:spPr>
          <a:xfrm>
            <a:off x="640080" y="1920239"/>
            <a:ext cx="3291840" cy="411480"/>
          </a:xfrm>
          <a:prstGeom prst="rect">
            <a:avLst/>
          </a:prstGeom>
          <a:noFill/>
        </p:spPr>
        <p:txBody>
          <a:bodyPr wrap="square" lIns="45720" rIns="45720" anchor="t"/>
          <a:lstStyle/>
          <a:p>
            <a:pPr algn="l"/>
            <a:r>
              <a:rPr sz="1800" b="1" i="0">
                <a:solidFill>
                  <a:srgbClr val="20242B"/>
                </a:solidFill>
                <a:latin typeface="Calibri"/>
              </a:rPr>
              <a:t>Quản trị nội dung</a:t>
            </a:r>
          </a:p>
        </p:txBody>
      </p:sp>
      <p:sp>
        <p:nvSpPr>
          <p:cNvPr id="10" name="TextBox 9"/>
          <p:cNvSpPr txBox="1"/>
          <p:nvPr/>
        </p:nvSpPr>
        <p:spPr>
          <a:xfrm>
            <a:off x="640080" y="2359152"/>
            <a:ext cx="3291840" cy="1097280"/>
          </a:xfrm>
          <a:prstGeom prst="rect">
            <a:avLst/>
          </a:prstGeom>
          <a:noFill/>
        </p:spPr>
        <p:txBody>
          <a:bodyPr wrap="square" lIns="45720" rIns="45720" anchor="t"/>
          <a:lstStyle/>
          <a:p>
            <a:pPr algn="l"/>
            <a:r>
              <a:rPr sz="1500" b="0" i="0">
                <a:solidFill>
                  <a:srgbClr val="5B6370"/>
                </a:solidFill>
                <a:latin typeface="Calibri"/>
              </a:rPr>
              <a:t>Tích hợp hệ quản trị nội dung để cập nhật sản phẩm, bài viết, dịch vụ dễ dàng.</a:t>
            </a:r>
          </a:p>
        </p:txBody>
      </p:sp>
      <p:sp>
        <p:nvSpPr>
          <p:cNvPr id="11" name="Rounded Rectangle 10"/>
          <p:cNvSpPr/>
          <p:nvPr/>
        </p:nvSpPr>
        <p:spPr>
          <a:xfrm>
            <a:off x="4279392" y="1280160"/>
            <a:ext cx="3630168" cy="2286000"/>
          </a:xfrm>
          <a:prstGeom prst="roundRect">
            <a:avLst>
              <a:gd name="adj" fmla="val 6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62272" y="1417319"/>
            <a:ext cx="914400" cy="457200"/>
          </a:xfrm>
          <a:prstGeom prst="rect">
            <a:avLst/>
          </a:prstGeom>
          <a:noFill/>
        </p:spPr>
        <p:txBody>
          <a:bodyPr wrap="square" lIns="45720" rIns="45720" anchor="t"/>
          <a:lstStyle/>
          <a:p>
            <a:pPr algn="l"/>
            <a:r>
              <a:rPr sz="2400" b="1" i="0">
                <a:solidFill>
                  <a:srgbClr val="4FA6A6"/>
                </a:solidFill>
                <a:latin typeface="Calibri"/>
              </a:rPr>
              <a:t>02</a:t>
            </a:r>
          </a:p>
        </p:txBody>
      </p:sp>
      <p:sp>
        <p:nvSpPr>
          <p:cNvPr id="13" name="TextBox 12"/>
          <p:cNvSpPr txBox="1"/>
          <p:nvPr/>
        </p:nvSpPr>
        <p:spPr>
          <a:xfrm>
            <a:off x="4462272" y="1920239"/>
            <a:ext cx="3291840" cy="411480"/>
          </a:xfrm>
          <a:prstGeom prst="rect">
            <a:avLst/>
          </a:prstGeom>
          <a:noFill/>
        </p:spPr>
        <p:txBody>
          <a:bodyPr wrap="square" lIns="45720" rIns="45720" anchor="t"/>
          <a:lstStyle/>
          <a:p>
            <a:pPr algn="l"/>
            <a:r>
              <a:rPr sz="1800" b="1" i="0">
                <a:solidFill>
                  <a:srgbClr val="20242B"/>
                </a:solidFill>
                <a:latin typeface="Calibri"/>
              </a:rPr>
              <a:t>Tài khoản người dùng</a:t>
            </a:r>
          </a:p>
        </p:txBody>
      </p:sp>
      <p:sp>
        <p:nvSpPr>
          <p:cNvPr id="14" name="TextBox 13"/>
          <p:cNvSpPr txBox="1"/>
          <p:nvPr/>
        </p:nvSpPr>
        <p:spPr>
          <a:xfrm>
            <a:off x="4462272" y="2359152"/>
            <a:ext cx="3291840" cy="1097280"/>
          </a:xfrm>
          <a:prstGeom prst="rect">
            <a:avLst/>
          </a:prstGeom>
          <a:noFill/>
        </p:spPr>
        <p:txBody>
          <a:bodyPr wrap="square" lIns="45720" rIns="45720" anchor="t"/>
          <a:lstStyle/>
          <a:p>
            <a:pPr algn="l"/>
            <a:r>
              <a:rPr sz="1500" b="0" i="0">
                <a:solidFill>
                  <a:srgbClr val="5B6370"/>
                </a:solidFill>
                <a:latin typeface="Calibri"/>
              </a:rPr>
              <a:t>Đăng ký, đăng nhập và quản lý tài khoản.</a:t>
            </a:r>
          </a:p>
        </p:txBody>
      </p:sp>
      <p:sp>
        <p:nvSpPr>
          <p:cNvPr id="15" name="Rounded Rectangle 14"/>
          <p:cNvSpPr/>
          <p:nvPr/>
        </p:nvSpPr>
        <p:spPr>
          <a:xfrm>
            <a:off x="8101583" y="1280160"/>
            <a:ext cx="3630168" cy="2286000"/>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84463" y="1417319"/>
            <a:ext cx="914400" cy="457200"/>
          </a:xfrm>
          <a:prstGeom prst="rect">
            <a:avLst/>
          </a:prstGeom>
          <a:noFill/>
        </p:spPr>
        <p:txBody>
          <a:bodyPr wrap="square" lIns="45720" rIns="45720" anchor="t"/>
          <a:lstStyle/>
          <a:p>
            <a:pPr algn="l"/>
            <a:r>
              <a:rPr sz="2400" b="1" i="0">
                <a:solidFill>
                  <a:srgbClr val="4FA6A6"/>
                </a:solidFill>
                <a:latin typeface="Calibri"/>
              </a:rPr>
              <a:t>03</a:t>
            </a:r>
          </a:p>
        </p:txBody>
      </p:sp>
      <p:sp>
        <p:nvSpPr>
          <p:cNvPr id="17" name="TextBox 16"/>
          <p:cNvSpPr txBox="1"/>
          <p:nvPr/>
        </p:nvSpPr>
        <p:spPr>
          <a:xfrm>
            <a:off x="8284463" y="1920239"/>
            <a:ext cx="3291840" cy="411480"/>
          </a:xfrm>
          <a:prstGeom prst="rect">
            <a:avLst/>
          </a:prstGeom>
          <a:noFill/>
        </p:spPr>
        <p:txBody>
          <a:bodyPr wrap="square" lIns="45720" rIns="45720" anchor="t"/>
          <a:lstStyle/>
          <a:p>
            <a:pPr algn="l"/>
            <a:r>
              <a:rPr sz="1800" b="1" i="0">
                <a:solidFill>
                  <a:srgbClr val="20242B"/>
                </a:solidFill>
                <a:latin typeface="Calibri"/>
              </a:rPr>
              <a:t>Hỗ trợ khách hàng</a:t>
            </a:r>
          </a:p>
        </p:txBody>
      </p:sp>
      <p:sp>
        <p:nvSpPr>
          <p:cNvPr id="18" name="TextBox 17"/>
          <p:cNvSpPr txBox="1"/>
          <p:nvPr/>
        </p:nvSpPr>
        <p:spPr>
          <a:xfrm>
            <a:off x="8284463" y="2359152"/>
            <a:ext cx="3291840" cy="1097280"/>
          </a:xfrm>
          <a:prstGeom prst="rect">
            <a:avLst/>
          </a:prstGeom>
          <a:noFill/>
        </p:spPr>
        <p:txBody>
          <a:bodyPr wrap="square" lIns="45720" rIns="45720" anchor="t"/>
          <a:lstStyle/>
          <a:p>
            <a:pPr algn="l"/>
            <a:r>
              <a:rPr sz="1500" b="0" i="0">
                <a:solidFill>
                  <a:srgbClr val="5B6370"/>
                </a:solidFill>
                <a:latin typeface="Calibri"/>
              </a:rPr>
              <a:t>Biểu mẫu liên hệ, tải tệp thiết kế, hỗ trợ trực tuyến.</a:t>
            </a:r>
          </a:p>
        </p:txBody>
      </p:sp>
      <p:sp>
        <p:nvSpPr>
          <p:cNvPr id="19" name="Rounded Rectangle 18"/>
          <p:cNvSpPr/>
          <p:nvPr/>
        </p:nvSpPr>
        <p:spPr>
          <a:xfrm>
            <a:off x="457200" y="3767328"/>
            <a:ext cx="3630168" cy="2286000"/>
          </a:xfrm>
          <a:prstGeom prst="roundRect">
            <a:avLst>
              <a:gd name="adj" fmla="val 6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3904488"/>
            <a:ext cx="914400" cy="457200"/>
          </a:xfrm>
          <a:prstGeom prst="rect">
            <a:avLst/>
          </a:prstGeom>
          <a:noFill/>
        </p:spPr>
        <p:txBody>
          <a:bodyPr wrap="square" lIns="45720" rIns="45720" anchor="t"/>
          <a:lstStyle/>
          <a:p>
            <a:pPr algn="l"/>
            <a:r>
              <a:rPr sz="2400" b="1" i="0">
                <a:solidFill>
                  <a:srgbClr val="4FA6A6"/>
                </a:solidFill>
                <a:latin typeface="Calibri"/>
              </a:rPr>
              <a:t>04</a:t>
            </a:r>
          </a:p>
        </p:txBody>
      </p:sp>
      <p:sp>
        <p:nvSpPr>
          <p:cNvPr id="21" name="TextBox 20"/>
          <p:cNvSpPr txBox="1"/>
          <p:nvPr/>
        </p:nvSpPr>
        <p:spPr>
          <a:xfrm>
            <a:off x="640080" y="4407408"/>
            <a:ext cx="3291840" cy="411480"/>
          </a:xfrm>
          <a:prstGeom prst="rect">
            <a:avLst/>
          </a:prstGeom>
          <a:noFill/>
        </p:spPr>
        <p:txBody>
          <a:bodyPr wrap="square" lIns="45720" rIns="45720" anchor="t"/>
          <a:lstStyle/>
          <a:p>
            <a:pPr algn="l"/>
            <a:r>
              <a:rPr sz="1800" b="1" i="0">
                <a:solidFill>
                  <a:srgbClr val="20242B"/>
                </a:solidFill>
                <a:latin typeface="Calibri"/>
              </a:rPr>
              <a:t>Đơn hàng và thanh toán</a:t>
            </a:r>
          </a:p>
        </p:txBody>
      </p:sp>
      <p:sp>
        <p:nvSpPr>
          <p:cNvPr id="22" name="TextBox 21"/>
          <p:cNvSpPr txBox="1"/>
          <p:nvPr/>
        </p:nvSpPr>
        <p:spPr>
          <a:xfrm>
            <a:off x="640080" y="4846320"/>
            <a:ext cx="3291840" cy="1097280"/>
          </a:xfrm>
          <a:prstGeom prst="rect">
            <a:avLst/>
          </a:prstGeom>
          <a:noFill/>
        </p:spPr>
        <p:txBody>
          <a:bodyPr wrap="square" lIns="45720" rIns="45720" anchor="t"/>
          <a:lstStyle/>
          <a:p>
            <a:pPr algn="l"/>
            <a:r>
              <a:rPr sz="1500" b="0" i="0">
                <a:solidFill>
                  <a:srgbClr val="5B6370"/>
                </a:solidFill>
                <a:latin typeface="Calibri"/>
              </a:rPr>
              <a:t>Kết nối quản lý đơn hàng, thanh toán trực tuyến, dữ liệu fulfillment.</a:t>
            </a:r>
          </a:p>
        </p:txBody>
      </p:sp>
      <p:sp>
        <p:nvSpPr>
          <p:cNvPr id="23" name="Rounded Rectangle 22"/>
          <p:cNvSpPr/>
          <p:nvPr/>
        </p:nvSpPr>
        <p:spPr>
          <a:xfrm>
            <a:off x="4279392" y="3767328"/>
            <a:ext cx="3630168" cy="2286000"/>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62272" y="3904488"/>
            <a:ext cx="914400" cy="457200"/>
          </a:xfrm>
          <a:prstGeom prst="rect">
            <a:avLst/>
          </a:prstGeom>
          <a:noFill/>
        </p:spPr>
        <p:txBody>
          <a:bodyPr wrap="square" lIns="45720" rIns="45720" anchor="t"/>
          <a:lstStyle/>
          <a:p>
            <a:pPr algn="l"/>
            <a:r>
              <a:rPr sz="2400" b="1" i="0">
                <a:solidFill>
                  <a:srgbClr val="4FA6A6"/>
                </a:solidFill>
                <a:latin typeface="Calibri"/>
              </a:rPr>
              <a:t>05</a:t>
            </a:r>
          </a:p>
        </p:txBody>
      </p:sp>
      <p:sp>
        <p:nvSpPr>
          <p:cNvPr id="25" name="TextBox 24"/>
          <p:cNvSpPr txBox="1"/>
          <p:nvPr/>
        </p:nvSpPr>
        <p:spPr>
          <a:xfrm>
            <a:off x="4462272" y="4407408"/>
            <a:ext cx="3291840" cy="411480"/>
          </a:xfrm>
          <a:prstGeom prst="rect">
            <a:avLst/>
          </a:prstGeom>
          <a:noFill/>
        </p:spPr>
        <p:txBody>
          <a:bodyPr wrap="square" lIns="45720" rIns="45720" anchor="t"/>
          <a:lstStyle/>
          <a:p>
            <a:pPr algn="l"/>
            <a:r>
              <a:rPr sz="1800" b="1" i="0">
                <a:solidFill>
                  <a:srgbClr val="20242B"/>
                </a:solidFill>
                <a:latin typeface="Calibri"/>
              </a:rPr>
              <a:t>Tối ưu</a:t>
            </a:r>
          </a:p>
        </p:txBody>
      </p:sp>
      <p:sp>
        <p:nvSpPr>
          <p:cNvPr id="26" name="TextBox 25"/>
          <p:cNvSpPr txBox="1"/>
          <p:nvPr/>
        </p:nvSpPr>
        <p:spPr>
          <a:xfrm>
            <a:off x="4462272" y="4846320"/>
            <a:ext cx="3291840" cy="1097280"/>
          </a:xfrm>
          <a:prstGeom prst="rect">
            <a:avLst/>
          </a:prstGeom>
          <a:noFill/>
        </p:spPr>
        <p:txBody>
          <a:bodyPr wrap="square" lIns="45720" rIns="45720" anchor="t"/>
          <a:lstStyle/>
          <a:p>
            <a:pPr algn="l"/>
            <a:r>
              <a:rPr sz="1500" b="0" i="0">
                <a:solidFill>
                  <a:srgbClr val="5B6370"/>
                </a:solidFill>
                <a:latin typeface="Calibri"/>
              </a:rPr>
              <a:t>SEO, tốc độ tải trang và bảo mật website.</a:t>
            </a:r>
          </a:p>
        </p:txBody>
      </p:sp>
      <p:sp>
        <p:nvSpPr>
          <p:cNvPr id="27" name="Rounded Rectangle 26"/>
          <p:cNvSpPr/>
          <p:nvPr/>
        </p:nvSpPr>
        <p:spPr>
          <a:xfrm>
            <a:off x="8101583" y="3767328"/>
            <a:ext cx="3630168" cy="2286000"/>
          </a:xfrm>
          <a:prstGeom prst="roundRect">
            <a:avLst>
              <a:gd name="adj" fmla="val 6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84463" y="3904488"/>
            <a:ext cx="914400" cy="457200"/>
          </a:xfrm>
          <a:prstGeom prst="rect">
            <a:avLst/>
          </a:prstGeom>
          <a:noFill/>
        </p:spPr>
        <p:txBody>
          <a:bodyPr wrap="square" lIns="45720" rIns="45720" anchor="t"/>
          <a:lstStyle/>
          <a:p>
            <a:pPr algn="l"/>
            <a:r>
              <a:rPr sz="2400" b="1" i="0">
                <a:solidFill>
                  <a:srgbClr val="4FA6A6"/>
                </a:solidFill>
                <a:latin typeface="Calibri"/>
              </a:rPr>
              <a:t>06</a:t>
            </a:r>
          </a:p>
        </p:txBody>
      </p:sp>
      <p:sp>
        <p:nvSpPr>
          <p:cNvPr id="29" name="TextBox 28"/>
          <p:cNvSpPr txBox="1"/>
          <p:nvPr/>
        </p:nvSpPr>
        <p:spPr>
          <a:xfrm>
            <a:off x="8284463" y="4407408"/>
            <a:ext cx="3291840" cy="411480"/>
          </a:xfrm>
          <a:prstGeom prst="rect">
            <a:avLst/>
          </a:prstGeom>
          <a:noFill/>
        </p:spPr>
        <p:txBody>
          <a:bodyPr wrap="square" lIns="45720" rIns="45720" anchor="t"/>
          <a:lstStyle/>
          <a:p>
            <a:pPr algn="l"/>
            <a:r>
              <a:rPr sz="1800" b="1" i="0">
                <a:solidFill>
                  <a:srgbClr val="20242B"/>
                </a:solidFill>
                <a:latin typeface="Calibri"/>
              </a:rPr>
              <a:t>Hỗ trợ kinh doanh</a:t>
            </a:r>
          </a:p>
        </p:txBody>
      </p:sp>
      <p:sp>
        <p:nvSpPr>
          <p:cNvPr id="30" name="TextBox 29"/>
          <p:cNvSpPr txBox="1"/>
          <p:nvPr/>
        </p:nvSpPr>
        <p:spPr>
          <a:xfrm>
            <a:off x="8284463" y="4846320"/>
            <a:ext cx="3291840" cy="1097280"/>
          </a:xfrm>
          <a:prstGeom prst="rect">
            <a:avLst/>
          </a:prstGeom>
          <a:noFill/>
        </p:spPr>
        <p:txBody>
          <a:bodyPr wrap="square" lIns="45720" rIns="45720" anchor="t"/>
          <a:lstStyle/>
          <a:p>
            <a:pPr algn="l"/>
            <a:r>
              <a:rPr sz="1500" b="0" i="0">
                <a:solidFill>
                  <a:srgbClr val="5B6370"/>
                </a:solidFill>
                <a:latin typeface="Calibri"/>
              </a:rPr>
              <a:t>Quản lý sản phẩm, theo dõi đơn hàng, thống kê hoạt động.</a:t>
            </a:r>
          </a:p>
        </p:txBody>
      </p:sp>
      <p:sp>
        <p:nvSpPr>
          <p:cNvPr id="31" name="TextBox 30"/>
          <p:cNvSpPr txBox="1"/>
          <p:nvPr/>
        </p:nvSpPr>
        <p:spPr>
          <a:xfrm>
            <a:off x="10332720" y="6492240"/>
            <a:ext cx="1399032" cy="274320"/>
          </a:xfrm>
          <a:prstGeom prst="rect">
            <a:avLst/>
          </a:prstGeom>
          <a:noFill/>
        </p:spPr>
        <p:txBody>
          <a:bodyPr wrap="square" lIns="45720" rIns="45720" anchor="t"/>
          <a:lstStyle/>
          <a:p>
            <a:pPr algn="r"/>
            <a:r>
              <a:rPr sz="1100" b="0" i="0">
                <a:solidFill>
                  <a:srgbClr val="5B6370"/>
                </a:solidFill>
                <a:latin typeface="Calibri"/>
              </a:rPr>
              <a:t>23 / 26</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4F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
            <a:ext cx="8229600" cy="274320"/>
          </a:xfrm>
          <a:prstGeom prst="rect">
            <a:avLst/>
          </a:prstGeom>
          <a:noFill/>
        </p:spPr>
        <p:txBody>
          <a:bodyPr wrap="square" lIns="45720" rIns="45720" anchor="t"/>
          <a:lstStyle/>
          <a:p>
            <a:pPr algn="l"/>
            <a:r>
              <a:rPr sz="1200" b="1" i="0">
                <a:solidFill>
                  <a:srgbClr val="2F7F80"/>
                </a:solidFill>
                <a:latin typeface="Calibri"/>
              </a:rPr>
              <a:t>07 · ĐÁNH GIÁ VÀ KIẾN NGHỊ</a:t>
            </a:r>
          </a:p>
        </p:txBody>
      </p:sp>
      <p:sp>
        <p:nvSpPr>
          <p:cNvPr id="4" name="TextBox 3"/>
          <p:cNvSpPr txBox="1"/>
          <p:nvPr/>
        </p:nvSpPr>
        <p:spPr>
          <a:xfrm>
            <a:off x="457200" y="457200"/>
            <a:ext cx="11247120" cy="566928"/>
          </a:xfrm>
          <a:prstGeom prst="rect">
            <a:avLst/>
          </a:prstGeom>
          <a:noFill/>
        </p:spPr>
        <p:txBody>
          <a:bodyPr wrap="square" lIns="45720" rIns="45720" anchor="t"/>
          <a:lstStyle/>
          <a:p>
            <a:pPr algn="l"/>
            <a:r>
              <a:rPr sz="2800" b="1" i="0">
                <a:solidFill>
                  <a:srgbClr val="20242B"/>
                </a:solidFill>
                <a:latin typeface="Calibri"/>
              </a:rPr>
              <a:t>Nhận xét về đơn vị và bài học của bản thân</a:t>
            </a:r>
          </a:p>
        </p:txBody>
      </p:sp>
      <p:cxnSp>
        <p:nvCxnSpPr>
          <p:cNvPr id="5" name="Connector 4"/>
          <p:cNvCxnSpPr/>
          <p:nvPr/>
        </p:nvCxnSpPr>
        <p:spPr>
          <a:xfrm>
            <a:off x="457200" y="6446520"/>
            <a:ext cx="11274552" cy="0"/>
          </a:xfrm>
          <a:prstGeom prst="line">
            <a:avLst/>
          </a:prstGeom>
          <a:ln w="9525">
            <a:solidFill>
              <a:srgbClr val="D9DEE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92240"/>
            <a:ext cx="8229600" cy="274320"/>
          </a:xfrm>
          <a:prstGeom prst="rect">
            <a:avLst/>
          </a:prstGeom>
          <a:noFill/>
        </p:spPr>
        <p:txBody>
          <a:bodyPr wrap="square" lIns="45720" rIns="45720" anchor="t"/>
          <a:lstStyle/>
          <a:p>
            <a:pPr algn="l"/>
            <a:r>
              <a:rPr sz="1100" b="0" i="0">
                <a:solidFill>
                  <a:srgbClr val="5B6370"/>
                </a:solidFill>
                <a:latin typeface="Calibri"/>
              </a:rPr>
              <a:t>Trần Anh Khoa  ·  Báo cáo thực tập tốt nghiệp  ·  Website Printuz</a:t>
            </a:r>
          </a:p>
        </p:txBody>
      </p:sp>
      <p:sp>
        <p:nvSpPr>
          <p:cNvPr id="7" name="Rounded Rectangle 6"/>
          <p:cNvSpPr/>
          <p:nvPr/>
        </p:nvSpPr>
        <p:spPr>
          <a:xfrm>
            <a:off x="457200" y="1280160"/>
            <a:ext cx="5532120" cy="2331720"/>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426463"/>
            <a:ext cx="5166359" cy="2057400"/>
          </a:xfrm>
          <a:prstGeom prst="rect">
            <a:avLst/>
          </a:prstGeom>
          <a:noFill/>
        </p:spPr>
        <p:txBody>
          <a:bodyPr wrap="square" lIns="45720" rIns="45720" anchor="t"/>
          <a:lstStyle/>
          <a:p>
            <a:pPr>
              <a:spcAft>
                <a:spcPts val="800"/>
              </a:spcAft>
            </a:pPr>
            <a:r>
              <a:rPr sz="1200" b="1" i="0">
                <a:solidFill>
                  <a:srgbClr val="2F7F80"/>
                </a:solidFill>
                <a:latin typeface="Calibri"/>
              </a:rPr>
              <a:t>VỀ ĐƠN VỊ THỰC TẬP</a:t>
            </a:r>
          </a:p>
          <a:p>
            <a:pPr marL="256032" indent="-256032">
              <a:spcAft>
                <a:spcPts val="500"/>
              </a:spcAft>
              <a:buClr>
                <a:srgbClr val="4FA6A6"/>
              </a:buClr>
              <a:buFont typeface="Arial"/>
              <a:buChar char="•"/>
            </a:pPr>
            <a:r>
              <a:rPr sz="1600" b="0" i="0">
                <a:solidFill>
                  <a:srgbClr val="20242B"/>
                </a:solidFill>
                <a:latin typeface="Calibri"/>
              </a:rPr>
              <a:t>Môi trường làm việc hiện đại, thân thiện, chuyên nghiệp; mọi người sẵn sàng hỗ trợ, góp ý.</a:t>
            </a:r>
          </a:p>
          <a:p>
            <a:pPr marL="256032" indent="-256032">
              <a:spcAft>
                <a:spcPts val="500"/>
              </a:spcAft>
              <a:buClr>
                <a:srgbClr val="4FA6A6"/>
              </a:buClr>
              <a:buFont typeface="Arial"/>
              <a:buChar char="•"/>
            </a:pPr>
            <a:r>
              <a:rPr sz="1600" b="0" i="0">
                <a:solidFill>
                  <a:srgbClr val="20242B"/>
                </a:solidFill>
                <a:latin typeface="Calibri"/>
              </a:rPr>
              <a:t>Đội ngũ có trách nhiệm, chủ động, thích ứng nhanh với công nghệ mới; tạo điều kiện cho thực tập sinh học hỏi.</a:t>
            </a:r>
          </a:p>
        </p:txBody>
      </p:sp>
      <p:sp>
        <p:nvSpPr>
          <p:cNvPr id="9" name="Rounded Rectangle 8"/>
          <p:cNvSpPr/>
          <p:nvPr/>
        </p:nvSpPr>
        <p:spPr>
          <a:xfrm>
            <a:off x="6199632" y="1280160"/>
            <a:ext cx="5532120" cy="2331720"/>
          </a:xfrm>
          <a:prstGeom prst="roundRect">
            <a:avLst>
              <a:gd name="adj" fmla="val 6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82512" y="1426463"/>
            <a:ext cx="5166359" cy="2057400"/>
          </a:xfrm>
          <a:prstGeom prst="rect">
            <a:avLst/>
          </a:prstGeom>
          <a:noFill/>
        </p:spPr>
        <p:txBody>
          <a:bodyPr wrap="square" lIns="45720" rIns="45720" anchor="t"/>
          <a:lstStyle/>
          <a:p>
            <a:pPr>
              <a:spcAft>
                <a:spcPts val="800"/>
              </a:spcAft>
            </a:pPr>
            <a:r>
              <a:rPr sz="1200" b="1" i="0">
                <a:solidFill>
                  <a:srgbClr val="2F7F80"/>
                </a:solidFill>
                <a:latin typeface="Calibri"/>
              </a:rPr>
              <a:t>VỀ CHUYÊN MÔN</a:t>
            </a:r>
          </a:p>
          <a:p>
            <a:pPr marL="256032" indent="-256032">
              <a:spcAft>
                <a:spcPts val="500"/>
              </a:spcAft>
              <a:buClr>
                <a:srgbClr val="4FA6A6"/>
              </a:buClr>
              <a:buFont typeface="Arial"/>
              <a:buChar char="•"/>
            </a:pPr>
            <a:r>
              <a:rPr sz="1600" b="0" i="0">
                <a:solidFill>
                  <a:srgbClr val="20242B"/>
                </a:solidFill>
                <a:latin typeface="Calibri"/>
              </a:rPr>
              <a:t>Có kinh nghiệm xây dựng giao diện, tổ chức bố cục, cải thiện trải nghiệm người dùng.</a:t>
            </a:r>
          </a:p>
          <a:p>
            <a:pPr marL="256032" indent="-256032">
              <a:spcAft>
                <a:spcPts val="500"/>
              </a:spcAft>
              <a:buClr>
                <a:srgbClr val="4FA6A6"/>
              </a:buClr>
              <a:buFont typeface="Arial"/>
              <a:buChar char="•"/>
            </a:pPr>
            <a:r>
              <a:rPr sz="1600" b="0" i="0">
                <a:solidFill>
                  <a:srgbClr val="20242B"/>
                </a:solidFill>
                <a:latin typeface="Calibri"/>
              </a:rPr>
              <a:t>Hiểu website cần vừa thẩm mỹ, vừa rõ ràng, dễ dùng, thống nhất thương hiệu; biết dùng công cụ AI để tự học.</a:t>
            </a:r>
          </a:p>
        </p:txBody>
      </p:sp>
      <p:sp>
        <p:nvSpPr>
          <p:cNvPr id="11" name="Rounded Rectangle 10"/>
          <p:cNvSpPr/>
          <p:nvPr/>
        </p:nvSpPr>
        <p:spPr>
          <a:xfrm>
            <a:off x="457200" y="3794760"/>
            <a:ext cx="5532120" cy="2377440"/>
          </a:xfrm>
          <a:prstGeom prst="roundRect">
            <a:avLst>
              <a:gd name="adj" fmla="val 6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3941064"/>
            <a:ext cx="5166359" cy="2103120"/>
          </a:xfrm>
          <a:prstGeom prst="rect">
            <a:avLst/>
          </a:prstGeom>
          <a:noFill/>
        </p:spPr>
        <p:txBody>
          <a:bodyPr wrap="square" lIns="45720" rIns="45720" anchor="t"/>
          <a:lstStyle/>
          <a:p>
            <a:pPr>
              <a:spcAft>
                <a:spcPts val="800"/>
              </a:spcAft>
            </a:pPr>
            <a:r>
              <a:rPr sz="1200" b="1" i="0">
                <a:solidFill>
                  <a:srgbClr val="2F7F80"/>
                </a:solidFill>
                <a:latin typeface="Calibri"/>
              </a:rPr>
              <a:t>VỀ KỸ NĂNG MỀM</a:t>
            </a:r>
          </a:p>
          <a:p>
            <a:pPr marL="256032" indent="-256032">
              <a:spcAft>
                <a:spcPts val="500"/>
              </a:spcAft>
              <a:buClr>
                <a:srgbClr val="4FA6A6"/>
              </a:buClr>
              <a:buFont typeface="Arial"/>
              <a:buChar char="•"/>
            </a:pPr>
            <a:r>
              <a:rPr sz="1600" b="0" i="0">
                <a:solidFill>
                  <a:srgbClr val="20242B"/>
                </a:solidFill>
                <a:latin typeface="Calibri"/>
              </a:rPr>
              <a:t>Cải thiện làm việc nhóm, giao tiếp, tiếp nhận ý kiến.</a:t>
            </a:r>
          </a:p>
          <a:p>
            <a:pPr marL="256032" indent="-256032">
              <a:spcAft>
                <a:spcPts val="500"/>
              </a:spcAft>
              <a:buClr>
                <a:srgbClr val="4FA6A6"/>
              </a:buClr>
              <a:buFont typeface="Arial"/>
              <a:buChar char="•"/>
            </a:pPr>
            <a:r>
              <a:rPr sz="1600" b="0" i="0">
                <a:solidFill>
                  <a:srgbClr val="20242B"/>
                </a:solidFill>
                <a:latin typeface="Calibri"/>
              </a:rPr>
              <a:t>Hiểu tầm quan trọng của trao đổi rõ ràng và điều chỉnh sản phẩm theo phản hồi của người hướng dẫn.</a:t>
            </a:r>
          </a:p>
        </p:txBody>
      </p:sp>
      <p:sp>
        <p:nvSpPr>
          <p:cNvPr id="13" name="Rounded Rectangle 12"/>
          <p:cNvSpPr/>
          <p:nvPr/>
        </p:nvSpPr>
        <p:spPr>
          <a:xfrm>
            <a:off x="6199632" y="3794760"/>
            <a:ext cx="5532120" cy="2377440"/>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82512" y="3941064"/>
            <a:ext cx="5166359" cy="2103120"/>
          </a:xfrm>
          <a:prstGeom prst="rect">
            <a:avLst/>
          </a:prstGeom>
          <a:noFill/>
        </p:spPr>
        <p:txBody>
          <a:bodyPr wrap="square" lIns="45720" rIns="45720" anchor="t"/>
          <a:lstStyle/>
          <a:p>
            <a:pPr>
              <a:spcAft>
                <a:spcPts val="800"/>
              </a:spcAft>
            </a:pPr>
            <a:r>
              <a:rPr sz="1200" b="1" i="0">
                <a:solidFill>
                  <a:srgbClr val="2F7F80"/>
                </a:solidFill>
                <a:latin typeface="Calibri"/>
              </a:rPr>
              <a:t>ĐIỂM CẦN CẢI THIỆN</a:t>
            </a:r>
          </a:p>
          <a:p>
            <a:pPr marL="256032" indent="-256032">
              <a:spcAft>
                <a:spcPts val="500"/>
              </a:spcAft>
              <a:buClr>
                <a:srgbClr val="4FA6A6"/>
              </a:buClr>
              <a:buFont typeface="Arial"/>
              <a:buChar char="•"/>
            </a:pPr>
            <a:r>
              <a:rPr sz="1600" b="0" i="0">
                <a:solidFill>
                  <a:srgbClr val="20242B"/>
                </a:solidFill>
                <a:latin typeface="Calibri"/>
              </a:rPr>
              <a:t>Quản lý thời gian và dự đoán khối lượng công việc còn hạn chế.</a:t>
            </a:r>
          </a:p>
          <a:p>
            <a:pPr marL="256032" indent="-256032">
              <a:spcAft>
                <a:spcPts val="500"/>
              </a:spcAft>
              <a:buClr>
                <a:srgbClr val="4FA6A6"/>
              </a:buClr>
              <a:buFont typeface="Arial"/>
              <a:buChar char="•"/>
            </a:pPr>
            <a:r>
              <a:rPr sz="1600" b="0" i="0">
                <a:solidFill>
                  <a:srgbClr val="20242B"/>
                </a:solidFill>
                <a:latin typeface="Calibri"/>
              </a:rPr>
              <a:t>Giai đoạn đầu chưa sắp xếp hợp lý khi nhiều việc cùng lúc; cần lập kế hoạch chủ động hơn.</a:t>
            </a:r>
          </a:p>
        </p:txBody>
      </p:sp>
      <p:sp>
        <p:nvSpPr>
          <p:cNvPr id="15" name="TextBox 14"/>
          <p:cNvSpPr txBox="1"/>
          <p:nvPr/>
        </p:nvSpPr>
        <p:spPr>
          <a:xfrm>
            <a:off x="10332720" y="6492240"/>
            <a:ext cx="1399032" cy="274320"/>
          </a:xfrm>
          <a:prstGeom prst="rect">
            <a:avLst/>
          </a:prstGeom>
          <a:noFill/>
        </p:spPr>
        <p:txBody>
          <a:bodyPr wrap="square" lIns="45720" rIns="45720" anchor="t"/>
          <a:lstStyle/>
          <a:p>
            <a:pPr algn="r"/>
            <a:r>
              <a:rPr sz="1100" b="0" i="0">
                <a:solidFill>
                  <a:srgbClr val="5B6370"/>
                </a:solidFill>
                <a:latin typeface="Calibri"/>
              </a:rPr>
              <a:t>24 / 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4F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
            <a:ext cx="8229600" cy="274320"/>
          </a:xfrm>
          <a:prstGeom prst="rect">
            <a:avLst/>
          </a:prstGeom>
          <a:noFill/>
        </p:spPr>
        <p:txBody>
          <a:bodyPr wrap="square" lIns="45720" rIns="45720" anchor="t"/>
          <a:lstStyle/>
          <a:p>
            <a:pPr algn="l"/>
            <a:r>
              <a:rPr sz="1200" b="1" i="0">
                <a:solidFill>
                  <a:srgbClr val="2F7F80"/>
                </a:solidFill>
                <a:latin typeface="Calibri"/>
              </a:rPr>
              <a:t>07 · ĐÁNH GIÁ VÀ KIẾN NGHỊ</a:t>
            </a:r>
          </a:p>
        </p:txBody>
      </p:sp>
      <p:sp>
        <p:nvSpPr>
          <p:cNvPr id="4" name="TextBox 3"/>
          <p:cNvSpPr txBox="1"/>
          <p:nvPr/>
        </p:nvSpPr>
        <p:spPr>
          <a:xfrm>
            <a:off x="457200" y="457200"/>
            <a:ext cx="11247120" cy="566928"/>
          </a:xfrm>
          <a:prstGeom prst="rect">
            <a:avLst/>
          </a:prstGeom>
          <a:noFill/>
        </p:spPr>
        <p:txBody>
          <a:bodyPr wrap="square" lIns="45720" rIns="45720" anchor="t"/>
          <a:lstStyle/>
          <a:p>
            <a:pPr algn="l"/>
            <a:r>
              <a:rPr sz="2800" b="1" i="0">
                <a:solidFill>
                  <a:srgbClr val="20242B"/>
                </a:solidFill>
                <a:latin typeface="Calibri"/>
              </a:rPr>
              <a:t>Kiến nghị đối với công ty</a:t>
            </a:r>
          </a:p>
        </p:txBody>
      </p:sp>
      <p:cxnSp>
        <p:nvCxnSpPr>
          <p:cNvPr id="5" name="Connector 4"/>
          <p:cNvCxnSpPr/>
          <p:nvPr/>
        </p:nvCxnSpPr>
        <p:spPr>
          <a:xfrm>
            <a:off x="457200" y="6446520"/>
            <a:ext cx="11274552" cy="0"/>
          </a:xfrm>
          <a:prstGeom prst="line">
            <a:avLst/>
          </a:prstGeom>
          <a:ln w="9525">
            <a:solidFill>
              <a:srgbClr val="D9DEE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92240"/>
            <a:ext cx="8229600" cy="274320"/>
          </a:xfrm>
          <a:prstGeom prst="rect">
            <a:avLst/>
          </a:prstGeom>
          <a:noFill/>
        </p:spPr>
        <p:txBody>
          <a:bodyPr wrap="square" lIns="45720" rIns="45720" anchor="t"/>
          <a:lstStyle/>
          <a:p>
            <a:pPr algn="l"/>
            <a:r>
              <a:rPr sz="1100" b="0" i="0">
                <a:solidFill>
                  <a:srgbClr val="5B6370"/>
                </a:solidFill>
                <a:latin typeface="Calibri"/>
              </a:rPr>
              <a:t>Trần Anh Khoa  ·  Báo cáo thực tập tốt nghiệp  ·  Website Printuz</a:t>
            </a:r>
          </a:p>
        </p:txBody>
      </p:sp>
      <p:sp>
        <p:nvSpPr>
          <p:cNvPr id="7" name="Rounded Rectangle 6"/>
          <p:cNvSpPr/>
          <p:nvPr/>
        </p:nvSpPr>
        <p:spPr>
          <a:xfrm>
            <a:off x="457200" y="1280160"/>
            <a:ext cx="11274552" cy="1463040"/>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85800" y="1627631"/>
            <a:ext cx="777240" cy="777240"/>
          </a:xfrm>
          <a:prstGeom prst="ellipse">
            <a:avLst/>
          </a:prstGeom>
          <a:solidFill>
            <a:srgbClr val="4F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627631"/>
            <a:ext cx="777240" cy="777240"/>
          </a:xfrm>
          <a:prstGeom prst="rect">
            <a:avLst/>
          </a:prstGeom>
          <a:noFill/>
        </p:spPr>
        <p:txBody>
          <a:bodyPr wrap="square" lIns="45720" rIns="45720" anchor="ctr"/>
          <a:lstStyle/>
          <a:p>
            <a:pPr algn="ctr"/>
            <a:r>
              <a:rPr sz="2400" b="1" i="0">
                <a:solidFill>
                  <a:srgbClr val="FFFFFF"/>
                </a:solidFill>
                <a:latin typeface="Calibri"/>
              </a:rPr>
              <a:t>1</a:t>
            </a:r>
          </a:p>
        </p:txBody>
      </p:sp>
      <p:sp>
        <p:nvSpPr>
          <p:cNvPr id="10" name="TextBox 9"/>
          <p:cNvSpPr txBox="1"/>
          <p:nvPr/>
        </p:nvSpPr>
        <p:spPr>
          <a:xfrm>
            <a:off x="1737360" y="1435607"/>
            <a:ext cx="9784080" cy="411480"/>
          </a:xfrm>
          <a:prstGeom prst="rect">
            <a:avLst/>
          </a:prstGeom>
          <a:noFill/>
        </p:spPr>
        <p:txBody>
          <a:bodyPr wrap="square" lIns="45720" rIns="45720" anchor="t"/>
          <a:lstStyle/>
          <a:p>
            <a:pPr algn="l"/>
            <a:r>
              <a:rPr sz="1900" b="1" i="0">
                <a:solidFill>
                  <a:srgbClr val="20242B"/>
                </a:solidFill>
                <a:latin typeface="Calibri"/>
              </a:rPr>
              <a:t>Nâng cấp giao diện và trải nghiệm</a:t>
            </a:r>
          </a:p>
        </p:txBody>
      </p:sp>
      <p:sp>
        <p:nvSpPr>
          <p:cNvPr id="11" name="TextBox 10"/>
          <p:cNvSpPr txBox="1"/>
          <p:nvPr/>
        </p:nvSpPr>
        <p:spPr>
          <a:xfrm>
            <a:off x="1737360" y="1874519"/>
            <a:ext cx="9784080" cy="822960"/>
          </a:xfrm>
          <a:prstGeom prst="rect">
            <a:avLst/>
          </a:prstGeom>
          <a:noFill/>
        </p:spPr>
        <p:txBody>
          <a:bodyPr wrap="square" lIns="45720" rIns="45720" anchor="t"/>
          <a:lstStyle/>
          <a:p>
            <a:pPr algn="l"/>
            <a:r>
              <a:rPr sz="1500" b="0" i="0">
                <a:solidFill>
                  <a:srgbClr val="5B6370"/>
                </a:solidFill>
                <a:latin typeface="Calibri"/>
              </a:rPr>
              <a:t>Tiếp tục đầu tư giao diện, trải nghiệm người dùng cho các sản phẩm website, giúp nâng cao hình ảnh thương hiệu và hỗ trợ khách hàng tiếp cận thông tin.</a:t>
            </a:r>
          </a:p>
        </p:txBody>
      </p:sp>
      <p:sp>
        <p:nvSpPr>
          <p:cNvPr id="12" name="Rounded Rectangle 11"/>
          <p:cNvSpPr/>
          <p:nvPr/>
        </p:nvSpPr>
        <p:spPr>
          <a:xfrm>
            <a:off x="457200" y="2926080"/>
            <a:ext cx="11274552" cy="1463040"/>
          </a:xfrm>
          <a:prstGeom prst="roundRect">
            <a:avLst>
              <a:gd name="adj" fmla="val 6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85800" y="3273552"/>
            <a:ext cx="777240" cy="777240"/>
          </a:xfrm>
          <a:prstGeom prst="ellipse">
            <a:avLst/>
          </a:prstGeom>
          <a:solidFill>
            <a:srgbClr val="4F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3273552"/>
            <a:ext cx="777240" cy="777240"/>
          </a:xfrm>
          <a:prstGeom prst="rect">
            <a:avLst/>
          </a:prstGeom>
          <a:noFill/>
        </p:spPr>
        <p:txBody>
          <a:bodyPr wrap="square" lIns="45720" rIns="45720" anchor="ctr"/>
          <a:lstStyle/>
          <a:p>
            <a:pPr algn="ctr"/>
            <a:r>
              <a:rPr sz="2400" b="1" i="0">
                <a:solidFill>
                  <a:srgbClr val="FFFFFF"/>
                </a:solidFill>
                <a:latin typeface="Calibri"/>
              </a:rPr>
              <a:t>2</a:t>
            </a:r>
          </a:p>
        </p:txBody>
      </p:sp>
      <p:sp>
        <p:nvSpPr>
          <p:cNvPr id="15" name="TextBox 14"/>
          <p:cNvSpPr txBox="1"/>
          <p:nvPr/>
        </p:nvSpPr>
        <p:spPr>
          <a:xfrm>
            <a:off x="1737360" y="3081528"/>
            <a:ext cx="9784080" cy="411480"/>
          </a:xfrm>
          <a:prstGeom prst="rect">
            <a:avLst/>
          </a:prstGeom>
          <a:noFill/>
        </p:spPr>
        <p:txBody>
          <a:bodyPr wrap="square" lIns="45720" rIns="45720" anchor="t"/>
          <a:lstStyle/>
          <a:p>
            <a:pPr algn="l"/>
            <a:r>
              <a:rPr sz="1900" b="1" i="0">
                <a:solidFill>
                  <a:srgbClr val="20242B"/>
                </a:solidFill>
                <a:latin typeface="Calibri"/>
              </a:rPr>
              <a:t>Cho thực tập sinh tham gia dự án thực tế</a:t>
            </a:r>
          </a:p>
        </p:txBody>
      </p:sp>
      <p:sp>
        <p:nvSpPr>
          <p:cNvPr id="16" name="TextBox 15"/>
          <p:cNvSpPr txBox="1"/>
          <p:nvPr/>
        </p:nvSpPr>
        <p:spPr>
          <a:xfrm>
            <a:off x="1737360" y="3520440"/>
            <a:ext cx="9784080" cy="822960"/>
          </a:xfrm>
          <a:prstGeom prst="rect">
            <a:avLst/>
          </a:prstGeom>
          <a:noFill/>
        </p:spPr>
        <p:txBody>
          <a:bodyPr wrap="square" lIns="45720" rIns="45720" anchor="t"/>
          <a:lstStyle/>
          <a:p>
            <a:pPr algn="l"/>
            <a:r>
              <a:rPr sz="1500" b="0" i="0">
                <a:solidFill>
                  <a:srgbClr val="5B6370"/>
                </a:solidFill>
                <a:latin typeface="Calibri"/>
              </a:rPr>
              <a:t>Giao nhiệm vụ phù hợp năng lực để sinh viên nâng cao chuyên môn, hình thành trách nhiệm và sớm thích nghi với doanh nghiệp.</a:t>
            </a:r>
          </a:p>
        </p:txBody>
      </p:sp>
      <p:sp>
        <p:nvSpPr>
          <p:cNvPr id="17" name="Rounded Rectangle 16"/>
          <p:cNvSpPr/>
          <p:nvPr/>
        </p:nvSpPr>
        <p:spPr>
          <a:xfrm>
            <a:off x="457200" y="4572000"/>
            <a:ext cx="11274552" cy="1463040"/>
          </a:xfrm>
          <a:prstGeom prst="roundRect">
            <a:avLst>
              <a:gd name="adj" fmla="val 6000"/>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85800" y="4919472"/>
            <a:ext cx="777240" cy="777240"/>
          </a:xfrm>
          <a:prstGeom prst="ellipse">
            <a:avLst/>
          </a:prstGeom>
          <a:solidFill>
            <a:srgbClr val="4F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4919472"/>
            <a:ext cx="777240" cy="777240"/>
          </a:xfrm>
          <a:prstGeom prst="rect">
            <a:avLst/>
          </a:prstGeom>
          <a:noFill/>
        </p:spPr>
        <p:txBody>
          <a:bodyPr wrap="square" lIns="45720" rIns="45720" anchor="ctr"/>
          <a:lstStyle/>
          <a:p>
            <a:pPr algn="ctr"/>
            <a:r>
              <a:rPr sz="2400" b="1" i="0">
                <a:solidFill>
                  <a:srgbClr val="FFFFFF"/>
                </a:solidFill>
                <a:latin typeface="Calibri"/>
              </a:rPr>
              <a:t>3</a:t>
            </a:r>
          </a:p>
        </p:txBody>
      </p:sp>
      <p:sp>
        <p:nvSpPr>
          <p:cNvPr id="20" name="TextBox 19"/>
          <p:cNvSpPr txBox="1"/>
          <p:nvPr/>
        </p:nvSpPr>
        <p:spPr>
          <a:xfrm>
            <a:off x="1737360" y="4727448"/>
            <a:ext cx="9784080" cy="411480"/>
          </a:xfrm>
          <a:prstGeom prst="rect">
            <a:avLst/>
          </a:prstGeom>
          <a:noFill/>
        </p:spPr>
        <p:txBody>
          <a:bodyPr wrap="square" lIns="45720" rIns="45720" anchor="t"/>
          <a:lstStyle/>
          <a:p>
            <a:pPr algn="l"/>
            <a:r>
              <a:rPr sz="1900" b="1" i="0">
                <a:solidFill>
                  <a:srgbClr val="20242B"/>
                </a:solidFill>
                <a:latin typeface="Calibri"/>
              </a:rPr>
              <a:t>Góp ý cụ thể và tận dụng công cụ AI</a:t>
            </a:r>
          </a:p>
        </p:txBody>
      </p:sp>
      <p:sp>
        <p:nvSpPr>
          <p:cNvPr id="21" name="TextBox 20"/>
          <p:cNvSpPr txBox="1"/>
          <p:nvPr/>
        </p:nvSpPr>
        <p:spPr>
          <a:xfrm>
            <a:off x="1737360" y="5166360"/>
            <a:ext cx="9784080" cy="822960"/>
          </a:xfrm>
          <a:prstGeom prst="rect">
            <a:avLst/>
          </a:prstGeom>
          <a:noFill/>
        </p:spPr>
        <p:txBody>
          <a:bodyPr wrap="square" lIns="45720" rIns="45720" anchor="t"/>
          <a:lstStyle/>
          <a:p>
            <a:pPr algn="l"/>
            <a:r>
              <a:rPr sz="1500" b="0" i="0">
                <a:solidFill>
                  <a:srgbClr val="5B6370"/>
                </a:solidFill>
                <a:latin typeface="Calibri"/>
              </a:rPr>
              <a:t>Góp ý cụ thể từ người hướng dẫn giúp thực tập sinh nhận ra điểm mạnh, điểm cần cải thiện nhanh hơn; công cụ AI hỗ trợ tốt cho việc học và làm.</a:t>
            </a:r>
          </a:p>
        </p:txBody>
      </p:sp>
      <p:sp>
        <p:nvSpPr>
          <p:cNvPr id="22" name="TextBox 21"/>
          <p:cNvSpPr txBox="1"/>
          <p:nvPr/>
        </p:nvSpPr>
        <p:spPr>
          <a:xfrm>
            <a:off x="10332720" y="6492240"/>
            <a:ext cx="1399032" cy="274320"/>
          </a:xfrm>
          <a:prstGeom prst="rect">
            <a:avLst/>
          </a:prstGeom>
          <a:noFill/>
        </p:spPr>
        <p:txBody>
          <a:bodyPr wrap="square" lIns="45720" rIns="45720" anchor="t"/>
          <a:lstStyle/>
          <a:p>
            <a:pPr algn="r"/>
            <a:r>
              <a:rPr sz="1100" b="0" i="0">
                <a:solidFill>
                  <a:srgbClr val="5B6370"/>
                </a:solidFill>
                <a:latin typeface="Calibri"/>
              </a:rPr>
              <a:t>25 / 26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4F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
            <a:ext cx="8229600" cy="274320"/>
          </a:xfrm>
          <a:prstGeom prst="rect">
            <a:avLst/>
          </a:prstGeom>
          <a:noFill/>
        </p:spPr>
        <p:txBody>
          <a:bodyPr wrap="square" lIns="45720" rIns="45720" anchor="t"/>
          <a:lstStyle/>
          <a:p>
            <a:pPr algn="l"/>
            <a:r>
              <a:rPr sz="1200" b="1" i="0">
                <a:solidFill>
                  <a:srgbClr val="2F7F80"/>
                </a:solidFill>
                <a:latin typeface="Calibri"/>
              </a:rPr>
              <a:t>08 · KẾT LUẬN</a:t>
            </a:r>
          </a:p>
        </p:txBody>
      </p:sp>
      <p:sp>
        <p:nvSpPr>
          <p:cNvPr id="4" name="TextBox 3"/>
          <p:cNvSpPr txBox="1"/>
          <p:nvPr/>
        </p:nvSpPr>
        <p:spPr>
          <a:xfrm>
            <a:off x="457200" y="457200"/>
            <a:ext cx="11247120" cy="566928"/>
          </a:xfrm>
          <a:prstGeom prst="rect">
            <a:avLst/>
          </a:prstGeom>
          <a:noFill/>
        </p:spPr>
        <p:txBody>
          <a:bodyPr wrap="square" lIns="45720" rIns="45720" anchor="t"/>
          <a:lstStyle/>
          <a:p>
            <a:pPr algn="l"/>
            <a:r>
              <a:rPr sz="2800" b="1" i="0">
                <a:solidFill>
                  <a:srgbClr val="20242B"/>
                </a:solidFill>
                <a:latin typeface="Calibri"/>
              </a:rPr>
              <a:t>Kết luận</a:t>
            </a:r>
          </a:p>
        </p:txBody>
      </p:sp>
      <p:cxnSp>
        <p:nvCxnSpPr>
          <p:cNvPr id="5" name="Connector 4"/>
          <p:cNvCxnSpPr/>
          <p:nvPr/>
        </p:nvCxnSpPr>
        <p:spPr>
          <a:xfrm>
            <a:off x="457200" y="6446520"/>
            <a:ext cx="11274552" cy="0"/>
          </a:xfrm>
          <a:prstGeom prst="line">
            <a:avLst/>
          </a:prstGeom>
          <a:ln w="9525">
            <a:solidFill>
              <a:srgbClr val="D9DEE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92240"/>
            <a:ext cx="8229600" cy="274320"/>
          </a:xfrm>
          <a:prstGeom prst="rect">
            <a:avLst/>
          </a:prstGeom>
          <a:noFill/>
        </p:spPr>
        <p:txBody>
          <a:bodyPr wrap="square" lIns="45720" rIns="45720" anchor="t"/>
          <a:lstStyle/>
          <a:p>
            <a:pPr algn="l"/>
            <a:r>
              <a:rPr sz="1100" b="0" i="0">
                <a:solidFill>
                  <a:srgbClr val="5B6370"/>
                </a:solidFill>
                <a:latin typeface="Calibri"/>
              </a:rPr>
              <a:t>Trần Anh Khoa  ·  Báo cáo thực tập tốt nghiệp  ·  Website Printuz</a:t>
            </a:r>
          </a:p>
        </p:txBody>
      </p:sp>
      <p:sp>
        <p:nvSpPr>
          <p:cNvPr id="7" name="TextBox 6"/>
          <p:cNvSpPr txBox="1"/>
          <p:nvPr/>
        </p:nvSpPr>
        <p:spPr>
          <a:xfrm>
            <a:off x="457200" y="1280160"/>
            <a:ext cx="6766560" cy="3931920"/>
          </a:xfrm>
          <a:prstGeom prst="rect">
            <a:avLst/>
          </a:prstGeom>
          <a:noFill/>
        </p:spPr>
        <p:txBody>
          <a:bodyPr wrap="square" lIns="45720" rIns="45720" anchor="t"/>
          <a:lstStyle/>
          <a:p>
            <a:pPr marL="256032" indent="-256032">
              <a:spcAft>
                <a:spcPts val="1000"/>
              </a:spcAft>
              <a:buClr>
                <a:srgbClr val="4FA6A6"/>
              </a:buClr>
              <a:buFont typeface="Arial"/>
              <a:buChar char="•"/>
            </a:pPr>
            <a:r>
              <a:rPr sz="1700" b="0" i="0">
                <a:solidFill>
                  <a:srgbClr val="20242B"/>
                </a:solidFill>
                <a:latin typeface="Calibri"/>
              </a:rPr>
              <a:t>Hoàn thành giao diện website giới thiệu dịch vụ cho Printuz LTD, đúng kế hoạch 12 tuần tại TGSOFT.</a:t>
            </a:r>
          </a:p>
          <a:p>
            <a:pPr marL="256032" indent="-256032">
              <a:spcAft>
                <a:spcPts val="1000"/>
              </a:spcAft>
              <a:buClr>
                <a:srgbClr val="4FA6A6"/>
              </a:buClr>
              <a:buFont typeface="Arial"/>
              <a:buChar char="•"/>
            </a:pPr>
            <a:r>
              <a:rPr sz="1700" b="0" i="0">
                <a:solidFill>
                  <a:srgbClr val="20242B"/>
                </a:solidFill>
                <a:latin typeface="Calibri"/>
              </a:rPr>
              <a:t>Vận dụng HTML, CSS, JavaScript, Bootstrap và JSON vào một dự án thực tế.</a:t>
            </a:r>
          </a:p>
          <a:p>
            <a:pPr marL="256032" indent="-256032">
              <a:spcAft>
                <a:spcPts val="1000"/>
              </a:spcAft>
              <a:buClr>
                <a:srgbClr val="4FA6A6"/>
              </a:buClr>
              <a:buFont typeface="Arial"/>
              <a:buChar char="•"/>
            </a:pPr>
            <a:r>
              <a:rPr sz="1700" b="0" i="0">
                <a:solidFill>
                  <a:srgbClr val="20242B"/>
                </a:solidFill>
                <a:latin typeface="Calibri"/>
              </a:rPr>
              <a:t>Nắm được quy trình làm việc: nhận yêu cầu, xây dựng, kiểm tra, sửa lỗi, báo cáo.</a:t>
            </a:r>
          </a:p>
          <a:p>
            <a:pPr marL="256032" indent="-256032">
              <a:spcAft>
                <a:spcPts val="1000"/>
              </a:spcAft>
              <a:buClr>
                <a:srgbClr val="4FA6A6"/>
              </a:buClr>
              <a:buFont typeface="Arial"/>
              <a:buChar char="•"/>
            </a:pPr>
            <a:r>
              <a:rPr sz="1700" b="0" i="0">
                <a:solidFill>
                  <a:srgbClr val="20242B"/>
                </a:solidFill>
                <a:latin typeface="Calibri"/>
              </a:rPr>
              <a:t>Rèn luyện tự học, làm việc nhóm, giao tiếp và tiếp nhận phản hồi.</a:t>
            </a:r>
          </a:p>
          <a:p>
            <a:pPr marL="256032" indent="-256032">
              <a:spcAft>
                <a:spcPts val="1000"/>
              </a:spcAft>
              <a:buClr>
                <a:srgbClr val="4FA6A6"/>
              </a:buClr>
              <a:buFont typeface="Arial"/>
              <a:buChar char="•"/>
            </a:pPr>
            <a:r>
              <a:rPr sz="1700" b="0" i="0">
                <a:solidFill>
                  <a:srgbClr val="20242B"/>
                </a:solidFill>
                <a:latin typeface="Calibri"/>
              </a:rPr>
              <a:t>Website hiện là nền tảng giao diện để phát triển tiếp các chức năng nghiệp vụ.</a:t>
            </a:r>
          </a:p>
        </p:txBody>
      </p:sp>
      <p:sp>
        <p:nvSpPr>
          <p:cNvPr id="8" name="Rounded Rectangle 7"/>
          <p:cNvSpPr/>
          <p:nvPr/>
        </p:nvSpPr>
        <p:spPr>
          <a:xfrm>
            <a:off x="7498079" y="1280160"/>
            <a:ext cx="4233672" cy="3931920"/>
          </a:xfrm>
          <a:prstGeom prst="roundRect">
            <a:avLst>
              <a:gd name="adj" fmla="val 6000"/>
            </a:avLst>
          </a:prstGeom>
          <a:solidFill>
            <a:srgbClr val="4F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26679" y="1463040"/>
            <a:ext cx="3840480" cy="274320"/>
          </a:xfrm>
          <a:prstGeom prst="rect">
            <a:avLst/>
          </a:prstGeom>
          <a:noFill/>
        </p:spPr>
        <p:txBody>
          <a:bodyPr wrap="square" lIns="45720" rIns="45720" anchor="t"/>
          <a:lstStyle/>
          <a:p>
            <a:pPr algn="l"/>
            <a:r>
              <a:rPr sz="1200" b="1" i="0">
                <a:solidFill>
                  <a:srgbClr val="FFFFFF"/>
                </a:solidFill>
                <a:latin typeface="Calibri"/>
              </a:rPr>
              <a:t>LỜI CẢM ƠN</a:t>
            </a:r>
          </a:p>
        </p:txBody>
      </p:sp>
      <p:sp>
        <p:nvSpPr>
          <p:cNvPr id="10" name="TextBox 9"/>
          <p:cNvSpPr txBox="1"/>
          <p:nvPr/>
        </p:nvSpPr>
        <p:spPr>
          <a:xfrm>
            <a:off x="7726679" y="1783080"/>
            <a:ext cx="3794760" cy="2194560"/>
          </a:xfrm>
          <a:prstGeom prst="rect">
            <a:avLst/>
          </a:prstGeom>
          <a:noFill/>
        </p:spPr>
        <p:txBody>
          <a:bodyPr wrap="square" lIns="45720" rIns="45720" anchor="t"/>
          <a:lstStyle/>
          <a:p>
            <a:pPr algn="l"/>
            <a:r>
              <a:rPr sz="1700" b="0" i="0">
                <a:solidFill>
                  <a:srgbClr val="FFFFFF"/>
                </a:solidFill>
                <a:latin typeface="Calibri"/>
              </a:rPr>
              <a:t>Em xin chân thành cảm ơn Công ty TGSOFT, anh Trần Thế Văn, anh Trần Thế Phú, cô Nguyễn Thị Định và quý thầy cô Khoa Công nghệ Thông tin.</a:t>
            </a:r>
          </a:p>
        </p:txBody>
      </p:sp>
      <p:sp>
        <p:nvSpPr>
          <p:cNvPr id="11" name="TextBox 10"/>
          <p:cNvSpPr txBox="1"/>
          <p:nvPr/>
        </p:nvSpPr>
        <p:spPr>
          <a:xfrm>
            <a:off x="7726679" y="4160520"/>
            <a:ext cx="3794760" cy="914400"/>
          </a:xfrm>
          <a:prstGeom prst="rect">
            <a:avLst/>
          </a:prstGeom>
          <a:noFill/>
        </p:spPr>
        <p:txBody>
          <a:bodyPr wrap="square" lIns="45720" rIns="45720" anchor="t"/>
          <a:lstStyle/>
          <a:p>
            <a:pPr algn="l"/>
            <a:r>
              <a:rPr sz="1700" b="1" i="0">
                <a:solidFill>
                  <a:srgbClr val="FFFFFF"/>
                </a:solidFill>
                <a:latin typeface="Calibri"/>
              </a:rPr>
              <a:t>Em xin lắng nghe câu hỏi và góp ý của quý thầy cô.</a:t>
            </a:r>
          </a:p>
        </p:txBody>
      </p:sp>
      <p:sp>
        <p:nvSpPr>
          <p:cNvPr id="12" name="TextBox 11"/>
          <p:cNvSpPr txBox="1"/>
          <p:nvPr/>
        </p:nvSpPr>
        <p:spPr>
          <a:xfrm>
            <a:off x="457200" y="5669280"/>
            <a:ext cx="6766560" cy="365760"/>
          </a:xfrm>
          <a:prstGeom prst="rect">
            <a:avLst/>
          </a:prstGeom>
          <a:noFill/>
        </p:spPr>
        <p:txBody>
          <a:bodyPr wrap="square" lIns="45720" rIns="45720" anchor="t"/>
          <a:lstStyle/>
          <a:p>
            <a:pPr algn="l"/>
            <a:r>
              <a:rPr sz="1500" b="1" i="0">
                <a:solidFill>
                  <a:srgbClr val="2F7F80"/>
                </a:solidFill>
                <a:latin typeface="Calibri"/>
              </a:rPr>
              <a:t>Bản demo: printuz-six.vercel.app</a:t>
            </a:r>
          </a:p>
        </p:txBody>
      </p:sp>
      <p:sp>
        <p:nvSpPr>
          <p:cNvPr id="13" name="TextBox 12"/>
          <p:cNvSpPr txBox="1"/>
          <p:nvPr/>
        </p:nvSpPr>
        <p:spPr>
          <a:xfrm>
            <a:off x="10332720" y="6492240"/>
            <a:ext cx="1399032" cy="274320"/>
          </a:xfrm>
          <a:prstGeom prst="rect">
            <a:avLst/>
          </a:prstGeom>
          <a:noFill/>
        </p:spPr>
        <p:txBody>
          <a:bodyPr wrap="square" lIns="45720" rIns="45720" anchor="t"/>
          <a:lstStyle/>
          <a:p>
            <a:pPr algn="r"/>
            <a:r>
              <a:rPr sz="1100" b="0" i="0">
                <a:solidFill>
                  <a:srgbClr val="5B6370"/>
                </a:solidFill>
                <a:latin typeface="Calibri"/>
              </a:rPr>
              <a:t>26 /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EB51F-C924-6353-01A6-8685FA3FC71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CE187F8-93DA-1978-BEE6-1DC1EA73F541}"/>
              </a:ext>
            </a:extLst>
          </p:cNvPr>
          <p:cNvSpPr/>
          <p:nvPr/>
        </p:nvSpPr>
        <p:spPr>
          <a:xfrm>
            <a:off x="0" y="0"/>
            <a:ext cx="12191695" cy="82296"/>
          </a:xfrm>
          <a:prstGeom prst="rect">
            <a:avLst/>
          </a:prstGeom>
          <a:solidFill>
            <a:srgbClr val="4F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a:extLst>
              <a:ext uri="{FF2B5EF4-FFF2-40B4-BE49-F238E27FC236}">
                <a16:creationId xmlns:a16="http://schemas.microsoft.com/office/drawing/2014/main" id="{55497F64-C0FF-D43E-4A1E-A5B6B8AD17D8}"/>
              </a:ext>
            </a:extLst>
          </p:cNvPr>
          <p:cNvCxnSpPr/>
          <p:nvPr/>
        </p:nvCxnSpPr>
        <p:spPr>
          <a:xfrm>
            <a:off x="457200" y="6446520"/>
            <a:ext cx="11274552" cy="0"/>
          </a:xfrm>
          <a:prstGeom prst="line">
            <a:avLst/>
          </a:prstGeom>
          <a:ln w="9525">
            <a:solidFill>
              <a:srgbClr val="D9DEE3"/>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D1F30B41-AD0C-2D51-D510-08A620C0400E}"/>
              </a:ext>
            </a:extLst>
          </p:cNvPr>
          <p:cNvSpPr txBox="1"/>
          <p:nvPr/>
        </p:nvSpPr>
        <p:spPr>
          <a:xfrm>
            <a:off x="457200" y="6492240"/>
            <a:ext cx="8229600" cy="274320"/>
          </a:xfrm>
          <a:prstGeom prst="rect">
            <a:avLst/>
          </a:prstGeom>
          <a:noFill/>
        </p:spPr>
        <p:txBody>
          <a:bodyPr wrap="square" lIns="45720" rIns="45720" anchor="t"/>
          <a:lstStyle/>
          <a:p>
            <a:pPr algn="l"/>
            <a:r>
              <a:rPr sz="1100" b="0" i="0">
                <a:solidFill>
                  <a:srgbClr val="5B6370"/>
                </a:solidFill>
                <a:latin typeface="Calibri"/>
              </a:rPr>
              <a:t>Trần Anh Khoa  ·  Báo cáo thực tập tốt nghiệp  ·  Website Printuz</a:t>
            </a:r>
          </a:p>
        </p:txBody>
      </p:sp>
      <p:sp>
        <p:nvSpPr>
          <p:cNvPr id="8" name="Rounded Rectangle 7">
            <a:extLst>
              <a:ext uri="{FF2B5EF4-FFF2-40B4-BE49-F238E27FC236}">
                <a16:creationId xmlns:a16="http://schemas.microsoft.com/office/drawing/2014/main" id="{E16AD4ED-1C3C-339E-DE79-225C3B18CE4B}"/>
              </a:ext>
            </a:extLst>
          </p:cNvPr>
          <p:cNvSpPr/>
          <p:nvPr/>
        </p:nvSpPr>
        <p:spPr>
          <a:xfrm>
            <a:off x="457200" y="1280160"/>
            <a:ext cx="11274551" cy="3931920"/>
          </a:xfrm>
          <a:prstGeom prst="roundRect">
            <a:avLst>
              <a:gd name="adj" fmla="val 6000"/>
            </a:avLst>
          </a:prstGeom>
          <a:solidFill>
            <a:srgbClr val="4F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7D2A8B47-92B7-9A5B-7AE0-0CFD4B2547B3}"/>
              </a:ext>
            </a:extLst>
          </p:cNvPr>
          <p:cNvSpPr txBox="1"/>
          <p:nvPr/>
        </p:nvSpPr>
        <p:spPr>
          <a:xfrm>
            <a:off x="1184247" y="2414065"/>
            <a:ext cx="9464089" cy="1664110"/>
          </a:xfrm>
          <a:prstGeom prst="rect">
            <a:avLst/>
          </a:prstGeom>
          <a:noFill/>
        </p:spPr>
        <p:txBody>
          <a:bodyPr wrap="square" lIns="45720" rIns="45720" anchor="t"/>
          <a:lstStyle/>
          <a:p>
            <a:pPr algn="ctr"/>
            <a:r>
              <a:rPr sz="4800" b="1" i="0" dirty="0">
                <a:solidFill>
                  <a:srgbClr val="FFFFFF"/>
                </a:solidFill>
                <a:latin typeface="Calibri"/>
              </a:rPr>
              <a:t>Em </a:t>
            </a:r>
            <a:r>
              <a:rPr sz="4800" b="1" i="0" dirty="0" err="1">
                <a:solidFill>
                  <a:srgbClr val="FFFFFF"/>
                </a:solidFill>
                <a:latin typeface="Calibri"/>
              </a:rPr>
              <a:t>xin</a:t>
            </a:r>
            <a:r>
              <a:rPr sz="4800" b="1" i="0" dirty="0">
                <a:solidFill>
                  <a:srgbClr val="FFFFFF"/>
                </a:solidFill>
                <a:latin typeface="Calibri"/>
              </a:rPr>
              <a:t> </a:t>
            </a:r>
            <a:r>
              <a:rPr sz="4800" b="1" i="0" dirty="0" err="1">
                <a:solidFill>
                  <a:srgbClr val="FFFFFF"/>
                </a:solidFill>
                <a:latin typeface="Calibri"/>
              </a:rPr>
              <a:t>lắng</a:t>
            </a:r>
            <a:r>
              <a:rPr sz="4800" b="1" i="0" dirty="0">
                <a:solidFill>
                  <a:srgbClr val="FFFFFF"/>
                </a:solidFill>
                <a:latin typeface="Calibri"/>
              </a:rPr>
              <a:t> </a:t>
            </a:r>
            <a:r>
              <a:rPr sz="4800" b="1" i="0" dirty="0" err="1">
                <a:solidFill>
                  <a:srgbClr val="FFFFFF"/>
                </a:solidFill>
                <a:latin typeface="Calibri"/>
              </a:rPr>
              <a:t>nghe</a:t>
            </a:r>
            <a:r>
              <a:rPr sz="4800" b="1" i="0" dirty="0">
                <a:solidFill>
                  <a:srgbClr val="FFFFFF"/>
                </a:solidFill>
                <a:latin typeface="Calibri"/>
              </a:rPr>
              <a:t> </a:t>
            </a:r>
            <a:r>
              <a:rPr sz="4800" b="1" i="0" dirty="0" err="1">
                <a:solidFill>
                  <a:srgbClr val="FFFFFF"/>
                </a:solidFill>
                <a:latin typeface="Calibri"/>
              </a:rPr>
              <a:t>câu</a:t>
            </a:r>
            <a:r>
              <a:rPr sz="4800" b="1" i="0" dirty="0">
                <a:solidFill>
                  <a:srgbClr val="FFFFFF"/>
                </a:solidFill>
                <a:latin typeface="Calibri"/>
              </a:rPr>
              <a:t> </a:t>
            </a:r>
            <a:r>
              <a:rPr sz="4800" b="1" i="0" dirty="0" err="1">
                <a:solidFill>
                  <a:srgbClr val="FFFFFF"/>
                </a:solidFill>
                <a:latin typeface="Calibri"/>
              </a:rPr>
              <a:t>hỏi</a:t>
            </a:r>
            <a:r>
              <a:rPr sz="4800" b="1" i="0" dirty="0">
                <a:solidFill>
                  <a:srgbClr val="FFFFFF"/>
                </a:solidFill>
                <a:latin typeface="Calibri"/>
              </a:rPr>
              <a:t> </a:t>
            </a:r>
            <a:r>
              <a:rPr sz="4800" b="1" i="0" dirty="0" err="1">
                <a:solidFill>
                  <a:srgbClr val="FFFFFF"/>
                </a:solidFill>
                <a:latin typeface="Calibri"/>
              </a:rPr>
              <a:t>và</a:t>
            </a:r>
            <a:r>
              <a:rPr sz="4800" b="1" i="0" dirty="0">
                <a:solidFill>
                  <a:srgbClr val="FFFFFF"/>
                </a:solidFill>
                <a:latin typeface="Calibri"/>
              </a:rPr>
              <a:t> </a:t>
            </a:r>
            <a:r>
              <a:rPr sz="4800" b="1" i="0" dirty="0" err="1">
                <a:solidFill>
                  <a:srgbClr val="FFFFFF"/>
                </a:solidFill>
                <a:latin typeface="Calibri"/>
              </a:rPr>
              <a:t>góp</a:t>
            </a:r>
            <a:r>
              <a:rPr sz="4800" b="1" i="0" dirty="0">
                <a:solidFill>
                  <a:srgbClr val="FFFFFF"/>
                </a:solidFill>
                <a:latin typeface="Calibri"/>
              </a:rPr>
              <a:t> ý </a:t>
            </a:r>
            <a:r>
              <a:rPr sz="4800" b="1" i="0" dirty="0" err="1">
                <a:solidFill>
                  <a:srgbClr val="FFFFFF"/>
                </a:solidFill>
                <a:latin typeface="Calibri"/>
              </a:rPr>
              <a:t>của</a:t>
            </a:r>
            <a:r>
              <a:rPr sz="4800" b="1" i="0" dirty="0">
                <a:solidFill>
                  <a:srgbClr val="FFFFFF"/>
                </a:solidFill>
                <a:latin typeface="Calibri"/>
              </a:rPr>
              <a:t> </a:t>
            </a:r>
            <a:r>
              <a:rPr sz="4800" b="1" i="0" dirty="0" err="1">
                <a:solidFill>
                  <a:srgbClr val="FFFFFF"/>
                </a:solidFill>
                <a:latin typeface="Calibri"/>
              </a:rPr>
              <a:t>quý</a:t>
            </a:r>
            <a:r>
              <a:rPr sz="4800" b="1" i="0" dirty="0">
                <a:solidFill>
                  <a:srgbClr val="FFFFFF"/>
                </a:solidFill>
                <a:latin typeface="Calibri"/>
              </a:rPr>
              <a:t> </a:t>
            </a:r>
            <a:r>
              <a:rPr sz="4800" b="1" i="0" dirty="0" err="1">
                <a:solidFill>
                  <a:srgbClr val="FFFFFF"/>
                </a:solidFill>
                <a:latin typeface="Calibri"/>
              </a:rPr>
              <a:t>thầy</a:t>
            </a:r>
            <a:r>
              <a:rPr sz="4800" b="1" i="0" dirty="0">
                <a:solidFill>
                  <a:srgbClr val="FFFFFF"/>
                </a:solidFill>
                <a:latin typeface="Calibri"/>
              </a:rPr>
              <a:t> </a:t>
            </a:r>
            <a:r>
              <a:rPr sz="4800" b="1" i="0" dirty="0" err="1">
                <a:solidFill>
                  <a:srgbClr val="FFFFFF"/>
                </a:solidFill>
                <a:latin typeface="Calibri"/>
              </a:rPr>
              <a:t>cô</a:t>
            </a:r>
            <a:r>
              <a:rPr sz="4800" b="1" i="0" dirty="0">
                <a:solidFill>
                  <a:srgbClr val="FFFFFF"/>
                </a:solidFill>
                <a:latin typeface="Calibri"/>
              </a:rPr>
              <a:t>.</a:t>
            </a:r>
          </a:p>
        </p:txBody>
      </p:sp>
    </p:spTree>
    <p:extLst>
      <p:ext uri="{BB962C8B-B14F-4D97-AF65-F5344CB8AC3E}">
        <p14:creationId xmlns:p14="http://schemas.microsoft.com/office/powerpoint/2010/main" val="39191328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8824</Words>
  <Application>Microsoft Office PowerPoint</Application>
  <PresentationFormat>Màn hình rộng</PresentationFormat>
  <Paragraphs>676</Paragraphs>
  <Slides>27</Slides>
  <Notes>27</Notes>
  <HiddenSlides>0</HiddenSlides>
  <MMClips>0</MMClips>
  <ScaleCrop>false</ScaleCrop>
  <HeadingPairs>
    <vt:vector size="6" baseType="variant">
      <vt:variant>
        <vt:lpstr>Phông được Dùng</vt:lpstr>
      </vt:variant>
      <vt:variant>
        <vt:i4>2</vt:i4>
      </vt:variant>
      <vt:variant>
        <vt:lpstr>Chủ đề</vt:lpstr>
      </vt:variant>
      <vt:variant>
        <vt:i4>1</vt:i4>
      </vt:variant>
      <vt:variant>
        <vt:lpstr>Tiêu đề Bản chiếu</vt:lpstr>
      </vt:variant>
      <vt:variant>
        <vt:i4>27</vt:i4>
      </vt:variant>
    </vt:vector>
  </HeadingPairs>
  <TitlesOfParts>
    <vt:vector size="30" baseType="lpstr">
      <vt:lpstr>Arial</vt:lpstr>
      <vt:lpstr>Calibri</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thực tập tốt nghiệp — Website Printuz</dc:title>
  <dc:subject/>
  <dc:creator>Trần Anh Khoa</dc:creator>
  <cp:keywords/>
  <dc:description>generated using python-pptx</dc:description>
  <cp:lastModifiedBy>kat lowk</cp:lastModifiedBy>
  <cp:revision>4</cp:revision>
  <dcterms:created xsi:type="dcterms:W3CDTF">2013-01-27T09:14:16Z</dcterms:created>
  <dcterms:modified xsi:type="dcterms:W3CDTF">2026-10-12T03:40:37Z</dcterms:modified>
  <cp:category/>
</cp:coreProperties>
</file>